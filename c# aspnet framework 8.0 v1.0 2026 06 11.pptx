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3"/>
  </p:notesMasterIdLst>
  <p:sldIdLst>
    <p:sldId id="256" r:id="rId2"/>
    <p:sldId id="265" r:id="rId3"/>
    <p:sldId id="257" r:id="rId4"/>
    <p:sldId id="258" r:id="rId5"/>
    <p:sldId id="266" r:id="rId6"/>
    <p:sldId id="259" r:id="rId7"/>
    <p:sldId id="260" r:id="rId8"/>
    <p:sldId id="261" r:id="rId9"/>
    <p:sldId id="262" r:id="rId10"/>
    <p:sldId id="263" r:id="rId11"/>
    <p:sldId id="264" r:id="rId12"/>
    <p:sldId id="268" r:id="rId13"/>
    <p:sldId id="269" r:id="rId14"/>
    <p:sldId id="270" r:id="rId15"/>
    <p:sldId id="275" r:id="rId16"/>
    <p:sldId id="267" r:id="rId17"/>
    <p:sldId id="290" r:id="rId18"/>
    <p:sldId id="271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300" r:id="rId29"/>
    <p:sldId id="303" r:id="rId30"/>
    <p:sldId id="301" r:id="rId31"/>
    <p:sldId id="302" r:id="rId32"/>
    <p:sldId id="304" r:id="rId33"/>
    <p:sldId id="305" r:id="rId34"/>
    <p:sldId id="306" r:id="rId35"/>
    <p:sldId id="307" r:id="rId36"/>
    <p:sldId id="272" r:id="rId37"/>
    <p:sldId id="273" r:id="rId38"/>
    <p:sldId id="274" r:id="rId39"/>
    <p:sldId id="308" r:id="rId40"/>
    <p:sldId id="276" r:id="rId41"/>
    <p:sldId id="279" r:id="rId42"/>
    <p:sldId id="277" r:id="rId43"/>
    <p:sldId id="278" r:id="rId44"/>
    <p:sldId id="280" r:id="rId45"/>
    <p:sldId id="281" r:id="rId46"/>
    <p:sldId id="282" r:id="rId47"/>
    <p:sldId id="283" r:id="rId48"/>
    <p:sldId id="284" r:id="rId49"/>
    <p:sldId id="285" r:id="rId50"/>
    <p:sldId id="287" r:id="rId51"/>
    <p:sldId id="288" r:id="rId52"/>
    <p:sldId id="289" r:id="rId53"/>
    <p:sldId id="286" r:id="rId54"/>
    <p:sldId id="309" r:id="rId55"/>
    <p:sldId id="310" r:id="rId56"/>
    <p:sldId id="311" r:id="rId57"/>
    <p:sldId id="312" r:id="rId58"/>
    <p:sldId id="313" r:id="rId59"/>
    <p:sldId id="314" r:id="rId60"/>
    <p:sldId id="319" r:id="rId61"/>
    <p:sldId id="320" r:id="rId62"/>
    <p:sldId id="321" r:id="rId63"/>
    <p:sldId id="322" r:id="rId64"/>
    <p:sldId id="323" r:id="rId65"/>
    <p:sldId id="315" r:id="rId66"/>
    <p:sldId id="316" r:id="rId67"/>
    <p:sldId id="317" r:id="rId68"/>
    <p:sldId id="318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2" autoAdjust="0"/>
    <p:restoredTop sz="88762" autoAdjust="0"/>
  </p:normalViewPr>
  <p:slideViewPr>
    <p:cSldViewPr snapToGrid="0">
      <p:cViewPr varScale="1">
        <p:scale>
          <a:sx n="73" d="100"/>
          <a:sy n="73" d="100"/>
        </p:scale>
        <p:origin x="9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https://learn.microsoft.com/es-es/aspnet/core/fundamentals/middleware/write?view=aspnetcore-8.0</a:t>
            </a:r>
          </a:p>
          <a:p>
            <a:r>
              <a:rPr lang="en-US" dirty="0"/>
              <a:t>https://medium.com/@ravipatel.it/a-complete-beginners-guide-to-asp-net-core-net-8-middleware-1e35c0eab444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https://learn.microsoft.com/es-es/aspnet/core/mvc/views/tag-helpers/intro?view=aspnetcore-8.0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E9CC1-C706-0F49-92D6-E571CC5EEA8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1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s-es/aspnet/core/mvc/views/tag-helpers/intro?view=aspnetcore-8.0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1645920"/>
          </a:xfrm>
          <a:prstGeom prst="rect">
            <a:avLst/>
          </a:prstGeom>
          <a:solidFill>
            <a:srgbClr val="1565C0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949440" y="457200"/>
            <a:ext cx="2194560" cy="914400"/>
          </a:xfrm>
          <a:prstGeom prst="rect">
            <a:avLst/>
          </a:prstGeom>
          <a:solidFill>
            <a:srgbClr val="42A5F5">
              <a:alpha val="6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Core 8.0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ASP.NET Core 8.0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3383280"/>
            <a:ext cx="2743200" cy="0"/>
          </a:xfrm>
          <a:prstGeom prst="line">
            <a:avLst/>
          </a:prstGeom>
          <a:noFill/>
          <a:ln w="254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Conceptos Avanzados de Arquitectura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Introduccion a ASP.NET Core 8.0</a:t>
            </a:r>
            <a:endParaRPr lang="en-US" sz="210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ASP.NET Core 8 es el framework open source y multiplataforma de Microsoft para construir aplicaciones web modernas, APIs y servicios en la nube con alto rendimiento.</a:t>
            </a:r>
            <a:endParaRPr lang="en-US" sz="105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14600" cy="310896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514600" cy="38404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58368" y="146304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es ASP.NET Core 8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658368" y="1920240"/>
            <a:ext cx="22951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 Web Moderno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Plataforma unificada para: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REST y gRPC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Servicios de alto rendimiento con endpoints minimos o controladores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Web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Razor Pages, Blazor Server y WebAssembly, MVC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Real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SignalR para comunicacion bidireccional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Contenedores Docker y orquestacion con Kubernetes</a:t>
            </a:r>
            <a:endParaRPr lang="en-US" sz="800"/>
          </a:p>
        </p:txBody>
      </p:sp>
      <p:sp>
        <p:nvSpPr>
          <p:cNvPr id="9" name="Shape 7"/>
          <p:cNvSpPr/>
          <p:nvPr/>
        </p:nvSpPr>
        <p:spPr>
          <a:xfrm>
            <a:off x="3227832" y="1463040"/>
            <a:ext cx="2514600" cy="310896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227832" y="1463040"/>
            <a:ext cx="2514600" cy="384048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337560" y="146304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Novedades en .NET 8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3337560" y="1920240"/>
            <a:ext cx="22951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>
                <a:solidFill>
                  <a:srgbClr val="7B1F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Lanzamiento: Nov 2023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Principales mejoras de la version 8: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AOT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Compilacion ahead-of-time para APIs con menor consumo de memoria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APIs mejoradas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Filtros, agrupacion de rutas y generacion de OpenAPI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Blazor Unificado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Server y WebAssembly en un solo modelo de proyecto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API Endpoints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Autenticacion basada en tokens lista para usar</a:t>
            </a:r>
            <a:endParaRPr lang="en-US" sz="800"/>
          </a:p>
        </p:txBody>
      </p:sp>
      <p:sp>
        <p:nvSpPr>
          <p:cNvPr id="13" name="Shape 11"/>
          <p:cNvSpPr/>
          <p:nvPr/>
        </p:nvSpPr>
        <p:spPr>
          <a:xfrm>
            <a:off x="5907024" y="1463040"/>
            <a:ext cx="2514600" cy="310896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907024" y="1463040"/>
            <a:ext cx="2514600" cy="38404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016752" y="146304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Clave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6016752" y="1920240"/>
            <a:ext cx="22951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Rendimiento Superior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Beneficios principales del framework: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Multiplataforma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Windows, Linux y macOS con un mismo codigo fuente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Comunidad activa, repositorio publico en GitHub, licencia MIT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Rendimiento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Kestrel entre los servidores web mas rapidos en benchmarks TechEmpower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.NET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NuGet, Entity Framework Core, Azure integrado nativamente</a:t>
            </a:r>
            <a:endParaRPr lang="en-US" sz="80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Core 8.0 — Introduccion a ASP.NET Core 8</a:t>
            </a:r>
            <a:endParaRPr lang="en-US" sz="8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una Web App en .NET Core 8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Una aplicacion ASP.NET Core se construye sobre tres pilares: el Host, los Servicios (DI) y el Pipeline de middleware.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14600" cy="310896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514600" cy="38404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58368" y="146304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y Builder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920240"/>
            <a:ext cx="22951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WebApplication.CreateBuilder()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Configura el host que gestiona: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Configuracion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appsettings.json, variables de entorno, secretos de usuario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Proveedores de logging (Console, Debug, EventSource)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Development, Staging, Production detectado automaticamente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Kestrel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Servidor web de alto rendimiento integrado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27832" y="1463040"/>
            <a:ext cx="2514600" cy="310896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227832" y="1463040"/>
            <a:ext cx="2514600" cy="384048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337560" y="146304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(DI)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920240"/>
            <a:ext cx="22951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7B1F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builder.Services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Componentes registrados en el contenedor IoC: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propios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Logica de negocio, repositorios, clientes HTTP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del framework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Controllers, Razor Pages, SignalR, gRPC, DbContext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 Options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IOptions&lt;T&gt; vincula secciones de appsettings a clases C# tipadas fuertemente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de vida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Transient, Scoped y Singleton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907024" y="1463040"/>
            <a:ext cx="2514600" cy="310896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907024" y="1463040"/>
            <a:ext cx="2514600" cy="38404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016752" y="146304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(Middleware)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16752" y="1920240"/>
            <a:ext cx="22951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 / Run / Map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Cadena de procesamiento de cada solicitud HTTP: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predefinido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Auth, CORS, HTTPS, Rate Limiter, Static Files, Caching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personalizado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Clases propias con InvokeAsync y extension methods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y Endpoints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MapControllers, Minimal APIs, MapGet/Post/Put/Delete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critico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 ejecutan en orden de registro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Core 8.0 — Arquitectura de una Web App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Inyeccion de Dependencias (DI)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 de Diseno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 objeto recibe sus dependencias desde el exterior en lugar de crearlas internamente. En .NET Core 8, el contenedor IoC gestiona el ciclo de vida de los servicios.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657600" cy="45720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58368" y="2075688"/>
            <a:ext cx="3438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Injection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Mas comun. Dependencias requeridas via constructor.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3657600" cy="4572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58368" y="2606040"/>
            <a:ext cx="3438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Injection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Dependencias pasadas como parametros del metodo.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118104"/>
            <a:ext cx="3657600" cy="4572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58368" y="3136392"/>
            <a:ext cx="3438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Injection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Opcionales, asignadas mediante propiedades publicas.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de Vida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90448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b="1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Transient  </a:t>
            </a:r>
            <a:r>
              <a:rPr lang="en-US" sz="9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Nueva instancia cada vez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b="1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Scoped     </a:t>
            </a:r>
            <a:r>
              <a:rPr lang="en-US" sz="9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Una por solicitud HTTP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b="1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Singleton  </a:t>
            </a:r>
            <a:r>
              <a:rPr lang="en-US" sz="9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Una unica instancia global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0" y="1005840"/>
            <a:ext cx="4023360" cy="361188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4572000" y="1005840"/>
            <a:ext cx="4023360" cy="292608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709160" y="10058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09160" y="1353312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Definir la interfaz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</a:t>
            </a: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IEmailService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 </a:t>
            </a: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SendAsync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(string to, string body);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Implementar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SmtpEmailService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IEmailService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... }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Registrar en el contenedor IoC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builder.Services</a:t>
            </a: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.AddScoped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IEmailService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SmtpEmailService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4. Inyectar via constructor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OrderController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readonly </a:t>
            </a: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IEmailService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_email;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</a:t>
            </a: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OrderController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IEmailService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e)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=&gt; _email = e;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Core 8.0 — Inyeccion de Dependencias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 de Configuracion en ASP.NET Core 8</a:t>
            </a:r>
            <a:endParaRPr lang="en-US" sz="210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sistema de configuracion de .NET Core 8 es flexible y extensible. Permite cargar valores desde multiples proveedores con un orden de precedencia definido.</a:t>
            </a:r>
            <a:endParaRPr lang="en-US" sz="105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14600" cy="310896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514600" cy="38404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58368" y="146304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658368" y="1920240"/>
            <a:ext cx="22951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Fuentes de Configuracion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Proveedores disponibles en .NET 8: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appsettings.json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Archivo principal de configuracion por entorno (Development, Production)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Entorno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Ideales para contenedores y despliegues en la nube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Secretos de Usuario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dotnet user-secrets para datos sensibles en desarrollo local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 de Comandos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Argumentos CLI con maxima precedencia</a:t>
            </a:r>
            <a:endParaRPr lang="en-US" sz="800"/>
          </a:p>
        </p:txBody>
      </p:sp>
      <p:sp>
        <p:nvSpPr>
          <p:cNvPr id="9" name="Shape 7"/>
          <p:cNvSpPr/>
          <p:nvPr/>
        </p:nvSpPr>
        <p:spPr>
          <a:xfrm>
            <a:off x="3227832" y="1463040"/>
            <a:ext cx="2514600" cy="310896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227832" y="1463040"/>
            <a:ext cx="2514600" cy="384048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337560" y="146304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 Options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3337560" y="1920240"/>
            <a:ext cx="22951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>
                <a:solidFill>
                  <a:srgbClr val="7B1F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IOptions&lt;T&gt;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Vincula secciones de configuracion a clases C# tipadas: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IOptions&lt;T&gt;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Singleton, se lee una vez al inicio. No detecta cambios en tiempo de ejecucion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IOptionsSnapshot&lt;T&gt;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Scoped, se recalcula en cada solicitud HTTP. Ideal para configuracion dinamica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IOptionsMonitor&lt;T&gt;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Singleton con notificacion de cambios via OnChange(). Reacciona en tiempo real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ValidateDataAnnotations() y ValidateOnStart() para fallar rapido</a:t>
            </a:r>
            <a:endParaRPr lang="en-US" sz="800"/>
          </a:p>
        </p:txBody>
      </p:sp>
      <p:sp>
        <p:nvSpPr>
          <p:cNvPr id="13" name="Shape 11"/>
          <p:cNvSpPr/>
          <p:nvPr/>
        </p:nvSpPr>
        <p:spPr>
          <a:xfrm>
            <a:off x="5907024" y="1463040"/>
            <a:ext cx="2514600" cy="310896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907024" y="1463040"/>
            <a:ext cx="2514600" cy="38404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016752" y="146304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Precedencia y Buenas Practicas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6016752" y="1920240"/>
            <a:ext cx="22951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Orden de Precedencia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ultimo proveedor registrado gana: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appsettings.json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Base de configuracion por defecto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appsettings.{Env}.json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Sobreescribe valores segun el entorno activo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Secretos de usuario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Solo en Development, no se sube al repositorio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Variables de entorno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Prioridad alta, ideal para produccion y CI/CD</a:t>
            </a:r>
            <a:endParaRPr lang="en-US" sz="80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Core 8.0 — Patron de Configuracion</a:t>
            </a:r>
            <a:endParaRPr lang="en-US" sz="8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en ASP.NET Core 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Pipeline de Solicitudes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3990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Cada middleware es un componente que se ejecuta en orden durante el procesamiento de una solicitud HTTP. Puede procesar, modificar o cortocircuitar el pipeline.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508760" cy="548640"/>
          </a:xfrm>
          <a:prstGeom prst="rect">
            <a:avLst/>
          </a:prstGeom>
          <a:solidFill>
            <a:srgbClr val="1565C0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075688" y="214884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0" y="2148840"/>
            <a:ext cx="1508760" cy="548640"/>
          </a:xfrm>
          <a:prstGeom prst="rect">
            <a:avLst/>
          </a:prstGeom>
          <a:solidFill>
            <a:srgbClr val="1976D2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2377440" y="21488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04488" y="214884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0" y="2148840"/>
            <a:ext cx="1508760" cy="548640"/>
          </a:xfrm>
          <a:prstGeom prst="rect">
            <a:avLst/>
          </a:prstGeom>
          <a:solidFill>
            <a:srgbClr val="1E88E5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206240" y="21488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733288" y="214884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148840"/>
            <a:ext cx="1508760" cy="548640"/>
          </a:xfrm>
          <a:prstGeom prst="rect">
            <a:avLst/>
          </a:prstGeom>
          <a:solidFill>
            <a:srgbClr val="42A5F5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035040" y="21488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1920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  --&gt;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00800" y="27432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161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&lt;--  Response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8640" y="3063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Use, Run y Map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429000"/>
            <a:ext cx="2560320" cy="11430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548640" y="3429000"/>
            <a:ext cx="2560320" cy="457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58368" y="352044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" y="3776472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Ejecuta logica y llama a next() para pasar al siguiente middleware. Permite procesar antes y despues.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46120" y="3429000"/>
            <a:ext cx="2560320" cy="11430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3246120" y="3429000"/>
            <a:ext cx="2560320" cy="4572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3355848" y="352044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app.Run()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55848" y="3776472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Middleware terminal. No llama a next(), cortocircuita el pipeline y genera la respuesta final.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0" y="3429000"/>
            <a:ext cx="2560320" cy="11430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5943600" y="3429000"/>
            <a:ext cx="2560320" cy="457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6053328" y="352044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app.Map()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53328" y="3776472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Bifurca el pipeline segun la ruta. Crea una rama independiente para un path especifico.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Core 8.0 — Middleware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Predefinido y Personalizado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Predefinidas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3657600" cy="310896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40080" y="135331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UseAuthentication()</a:t>
            </a:r>
            <a:r>
              <a:rPr lang="en-US" sz="8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Autenticacion de usuarios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3657600" cy="310896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40080" y="17007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UseAuthorization()</a:t>
            </a:r>
            <a:r>
              <a:rPr lang="en-US" sz="8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Control de acceso y permisos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2048256"/>
            <a:ext cx="3657600" cy="310896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40080" y="204825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UseStaticFiles()</a:t>
            </a:r>
            <a:r>
              <a:rPr lang="en-US" sz="8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Servir archivos estaticos (CSS, JS, imgs)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2395728"/>
            <a:ext cx="3657600" cy="310896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40080" y="239572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UseCors()</a:t>
            </a:r>
            <a:r>
              <a:rPr lang="en-US" sz="8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Politicas de Cross-Origin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3657600" cy="310896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40080" y="27432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UseExceptionHandler()</a:t>
            </a:r>
            <a:r>
              <a:rPr lang="en-US" sz="8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Manejo global de excepciones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3090672"/>
            <a:ext cx="3657600" cy="310896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40080" y="30906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UseHttpsRedirection()</a:t>
            </a:r>
            <a:r>
              <a:rPr lang="en-US" sz="8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Redireccion HTTP a HTTPS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3438144"/>
            <a:ext cx="3657600" cy="310896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40080" y="343814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UseRateLimiter()</a:t>
            </a:r>
            <a:r>
              <a:rPr lang="en-US" sz="8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Limitacion de solicitudes (nuevo en .NET 8)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8640" y="3785616"/>
            <a:ext cx="3657600" cy="310896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640080" y="378561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UseResponseCaching()</a:t>
            </a:r>
            <a:r>
              <a:rPr lang="en-US" sz="8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Cache de respuestas HTTP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48640" y="42428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1565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orden de registro importa: cada middleware se ejecuta en el orden en que se agrega al pipeline.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0" y="1005840"/>
            <a:ext cx="4023360" cy="361188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4572000" y="1005840"/>
            <a:ext cx="4023360" cy="292608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4709160" y="10058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Middleware Personalizado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09160" y="1353312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Delegado anonimo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</a:t>
            </a: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(async (context, next) =&gt;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logger.</a:t>
            </a: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LogInfo</a:t>
            </a:r>
            <a:r>
              <a:rPr lang="en-US" sz="8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("Antes");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</a:t>
            </a: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next()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logger.</a:t>
            </a: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LogInfo</a:t>
            </a:r>
            <a:r>
              <a:rPr lang="en-US" sz="8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("Despues");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Clase middleware + Extension Method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TimingMiddleware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readonly </a:t>
            </a:r>
            <a:r>
              <a:rPr lang="en-US" sz="8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RequestDelegate 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_next;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</a:t>
            </a: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TimingMiddleware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(RequestDelegate n)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=&gt; _next = n;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async Task </a:t>
            </a: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InvokeAsync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(HttpContext ctx)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sw = </a:t>
            </a:r>
            <a:r>
              <a:rPr lang="en-US" sz="8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Stopwatch.</a:t>
            </a: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StartNew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</a:t>
            </a: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_next(ctx)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ctx.Response.Headers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["X-Time"] = sw.ElapsedMs;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Extension method para registrar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</a:t>
            </a:r>
            <a:r>
              <a:rPr lang="en-US" sz="8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IApplicationBuilder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UseTiming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(this IApplicationBuilder app)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=&gt; app.</a:t>
            </a: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UseMiddleware</a:t>
            </a: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&lt;TimingMiddleware&gt;();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Core 8.0 — Middleware Personalizado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Practico — Program.cs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754880" cy="36576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754880" cy="292608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 — Configuracion completa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353312"/>
            <a:ext cx="44805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 = WebApplication.</a:t>
            </a: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CreateBuilder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(args);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Registro de servicios (DI)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builder.Services.</a:t>
            </a: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AddControllers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builder.Services.</a:t>
            </a: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AddEndpointsApiExplorer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builder.Services.</a:t>
            </a: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AddSwaggerGen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builder.Services.</a:t>
            </a: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AddScoped</a:t>
            </a: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&lt;IEmailService, SmtpService&gt;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builder.</a:t>
            </a: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Pipeline de middleware (orden importa!)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</a:t>
            </a: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UseExceptionHandler</a:t>
            </a:r>
            <a:r>
              <a:rPr lang="en-US" sz="8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("/error");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</a:t>
            </a: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UseHttpsRedirection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</a:t>
            </a: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UseCors</a:t>
            </a:r>
            <a:r>
              <a:rPr lang="en-US" sz="8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("AllowFrontend");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</a:t>
            </a: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UseAuthentication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</a:t>
            </a: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UseAuthorization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</a:t>
            </a: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UseRateLimiter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</a:t>
            </a: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UseTiming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middleware personalizado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</a:t>
            </a: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MapControllers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</a:t>
            </a: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del Pipeline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0" y="13716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orden en que se registran los middlewares define como fluye la solicitud. La secuencia recomendada sigue un patron de capas de seguridad.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0" y="2139696"/>
            <a:ext cx="292608" cy="292608"/>
          </a:xfrm>
          <a:prstGeom prst="ellipse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486400" y="2139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70448" y="21031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Excepciones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70448" y="22860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Captura errores de todo el pipeline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0" y="2615184"/>
            <a:ext cx="292608" cy="292608"/>
          </a:xfrm>
          <a:prstGeom prst="ellipse">
            <a:avLst/>
          </a:prstGeom>
          <a:solidFill>
            <a:srgbClr val="FB8C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486400" y="2615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70448" y="2578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CORS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70448" y="27614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Seguridad de transporte y origenes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0" y="3090672"/>
            <a:ext cx="292608" cy="292608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486400" y="3090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70448" y="30540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Authz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70448" y="32369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Identidad del usuario y permisos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0" y="3566160"/>
            <a:ext cx="292608" cy="292608"/>
          </a:xfrm>
          <a:prstGeom prst="ellipse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486400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70448" y="35295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870448" y="37124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Proteccion contra abuso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0" y="4041648"/>
            <a:ext cx="292608" cy="29260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5486400" y="4041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70448" y="4005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870448" y="4187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Tu logica de negocio (timing, logs)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86400" y="4517136"/>
            <a:ext cx="292608" cy="292608"/>
          </a:xfrm>
          <a:prstGeom prst="ellipse">
            <a:avLst/>
          </a:prstGeom>
          <a:solidFill>
            <a:srgbClr val="00838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5486400" y="4517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70448" y="44805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870448" y="46634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Controladores y Minimal APIs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Core 8.0 — Ejemplo Practico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Bifurcacion Condicional del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8404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94360" y="10058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app.UseWhen()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Ejecuta middleware condicionalmente pero la solicitud vuelve al pipeline principal. Ideal para agregar logica extra solo en ciertos escenarios sin romper el flujo.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3931920" cy="141732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66928" y="2148840"/>
            <a:ext cx="37124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Logging extra solo para API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</a:t>
            </a: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UseWhen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ctx =&gt; ctx.Request.Path</a:t>
            </a: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.StartsWithSegments</a:t>
            </a:r>
            <a:r>
              <a:rPr lang="en-US" sz="8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("/api")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appBuilder =&gt;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appBuilder.</a:t>
            </a: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UseMiddleware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ApiLogging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&gt;();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vuelve al pipeline principal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38404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892040" y="10058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app.MapWhen()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48132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Bifurca el pipeline en una rama separada segun una condicion. La solicitud NO regresa al pipeline principal. Crea un sub-pipeline aislado.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3931920" cy="141732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864608" y="2148840"/>
            <a:ext cx="37124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Pipeline separado para WebSocket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</a:t>
            </a: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MapWhen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ctx =&gt; ctx.WebSockets</a:t>
            </a: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.IsWebSocketRequest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appBuilder =&gt;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appBuilder.</a:t>
            </a: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UseMiddleware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WsHandler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&gt;();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NO vuelve al pipeline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3611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Clave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959352"/>
            <a:ext cx="3931920" cy="73152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54864" cy="7315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21792" y="399592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UseWhen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Rama condicional </a:t>
            </a:r>
            <a:r>
              <a:rPr lang="en-US" sz="9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 se reincorpora</a:t>
            </a:r>
            <a:r>
              <a:rPr lang="en-US" sz="90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al pipeline principal. Usa para logica adicional (logging, headers, validacion).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959352"/>
            <a:ext cx="3931920" cy="73152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754880" y="3959352"/>
            <a:ext cx="54864" cy="7315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919472" y="399592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MapWhen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Rama condicional </a:t>
            </a:r>
            <a:r>
              <a:rPr lang="en-US" sz="9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completamente aislada</a:t>
            </a:r>
            <a:r>
              <a:rPr lang="en-US" sz="90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 Usa para protocolos diferentes (WebSocket, gRPC) o sub-apps.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Core 8.0 — Bifurcacion Condicional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Creacion de Middleware con Static Class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 Completo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patron recomendado en .NET Core 8 separa el middleware en tres partes: la clase middleware, el extension method estatico para el registro, y la llamada en Program.cs.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657600" cy="54864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658368" y="2231136"/>
            <a:ext cx="292608" cy="292608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58368" y="2231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78992" y="21396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Middleware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78992" y="23408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Recibe RequestDelegate en el constructor e implementa InvokeAsync con la logica.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3657600" cy="54864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658368" y="2871216"/>
            <a:ext cx="292608" cy="292608"/>
          </a:xfrm>
          <a:prstGeom prst="ellipse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58368" y="2871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78992" y="277977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Class + Extension Method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78992" y="29809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Encapsula el registro con UseMiddleware&lt;T&gt; en un metodo de extension reutilizable.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3657600" cy="54864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658368" y="3511296"/>
            <a:ext cx="292608" cy="29260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58368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992" y="341985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en Program.cs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78992" y="36210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 invoca como app.UseRequestLogging() de forma limpia y expresiva.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48640" y="4023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Ventajas: </a:t>
            </a:r>
            <a:r>
              <a:rPr lang="en-US" sz="90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Separacion de responsabilidades, testeable, reutilizable entre proyectos, IntelliSense al escribir app.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1005840"/>
            <a:ext cx="4114800" cy="374904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4572000" y="1005840"/>
            <a:ext cx="4114800" cy="292608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4709160" y="1005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RequestLoggingMiddleware.cs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81728" y="1353312"/>
            <a:ext cx="3895344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Clase Middleware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RequestLoggingMiddleware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readonly </a:t>
            </a:r>
            <a:r>
              <a:rPr lang="en-US" sz="8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RequestDelegate 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_next;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readonly </a:t>
            </a:r>
            <a:r>
              <a:rPr lang="en-US" sz="8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ILogger 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_logger;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</a:t>
            </a: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RequestLoggingMiddleware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RequestDelegate next,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ILogger&lt;</a:t>
            </a: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RequestLoggingMiddleware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log)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_next = next; _logger = log; }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async </a:t>
            </a:r>
            <a:r>
              <a:rPr lang="en-US" sz="8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</a:t>
            </a: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InvokeAsync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(HttpContext ctx)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_logger.</a:t>
            </a: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LogInformation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"{Method} {Path}"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ctx.Request.Method,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ctx.Request.Path);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</a:t>
            </a: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_next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(ctx);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Static class con Extension Method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class </a:t>
            </a: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LoggingExtensions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</a:t>
            </a:r>
            <a:r>
              <a:rPr lang="en-US" sz="8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IApplicationBuilder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UseRequestLogging</a:t>
            </a:r>
            <a:r>
              <a:rPr lang="en-US" sz="8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(this </a:t>
            </a:r>
            <a:r>
              <a:rPr lang="en-US" sz="8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IApplicationBuilder 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app)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=&gt; app.</a:t>
            </a: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UseMiddleware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RequestLoggingMiddleware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&gt;();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Uso en Program.cs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</a:t>
            </a: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UseRequestLogging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Core 8.0 — Middleware con Static Class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1645920"/>
          </a:xfrm>
          <a:prstGeom prst="rect">
            <a:avLst/>
          </a:prstGeom>
          <a:solidFill>
            <a:srgbClr val="1565C0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949440" y="457200"/>
            <a:ext cx="2194560" cy="914400"/>
          </a:xfrm>
          <a:prstGeom prst="rect">
            <a:avLst/>
          </a:prstGeom>
          <a:solidFill>
            <a:srgbClr val="42A5F5">
              <a:alpha val="6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2286000" cy="0"/>
          </a:xfrm>
          <a:prstGeom prst="line">
            <a:avLst/>
          </a:prstGeom>
          <a:noFill/>
          <a:ln w="254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840480" cy="868680"/>
          </a:xfrm>
          <a:prstGeom prst="rect">
            <a:avLst/>
          </a:prstGeom>
          <a:solidFill>
            <a:srgbClr val="1565C0">
              <a:alpha val="30000"/>
            </a:srgbClr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841248" y="1627632"/>
            <a:ext cx="347472" cy="347472"/>
          </a:xfrm>
          <a:prstGeom prst="ellipse">
            <a:avLst/>
          </a:prstGeom>
          <a:solidFill>
            <a:srgbClr val="42A5F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41248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98448" y="153619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Web App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98448" y="1810512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>
                <a:solidFill>
                  <a:srgbClr val="B3D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Host, Builder, Servicios </a:t>
            </a:r>
            <a:r>
              <a:rPr lang="en-US" sz="850" dirty="0">
                <a:solidFill>
                  <a:srgbClr val="B3D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 </a:t>
            </a:r>
            <a:r>
              <a:rPr lang="en-US" sz="850">
                <a:solidFill>
                  <a:srgbClr val="B3D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Pipeline: los tres pilares </a:t>
            </a:r>
            <a:r>
              <a:rPr lang="en-US" sz="850" dirty="0">
                <a:solidFill>
                  <a:srgbClr val="B3D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 </a:t>
            </a:r>
            <a:r>
              <a:rPr lang="en-US" sz="850">
                <a:solidFill>
                  <a:srgbClr val="B3D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toda aplicacion ASP</a:t>
            </a:r>
            <a:r>
              <a:rPr lang="en-US" sz="850" dirty="0">
                <a:solidFill>
                  <a:srgbClr val="B3D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</a:t>
            </a:r>
            <a:r>
              <a:rPr lang="en-US" sz="850">
                <a:solidFill>
                  <a:srgbClr val="B3D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Core </a:t>
            </a:r>
            <a:r>
              <a:rPr lang="en-US" sz="850" dirty="0">
                <a:solidFill>
                  <a:srgbClr val="B3D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937760" y="1463040"/>
            <a:ext cx="3840480" cy="868680"/>
          </a:xfrm>
          <a:prstGeom prst="rect">
            <a:avLst/>
          </a:prstGeom>
          <a:solidFill>
            <a:srgbClr val="1565C0">
              <a:alpha val="30000"/>
            </a:srgbClr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5047488" y="1627632"/>
            <a:ext cx="347472" cy="347472"/>
          </a:xfrm>
          <a:prstGeom prst="ellipse">
            <a:avLst/>
          </a:prstGeom>
          <a:solidFill>
            <a:srgbClr val="42A5F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047488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04688" y="153619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Inyeccion de Dependencias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04688" y="1810512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>
                <a:solidFill>
                  <a:srgbClr val="B3D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Patron IoC con </a:t>
            </a:r>
            <a:r>
              <a:rPr lang="en-US" sz="850" dirty="0">
                <a:solidFill>
                  <a:srgbClr val="B3D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tres </a:t>
            </a:r>
            <a:r>
              <a:rPr lang="en-US" sz="850">
                <a:solidFill>
                  <a:srgbClr val="B3D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tipos de inyeccion y ciclos </a:t>
            </a:r>
            <a:r>
              <a:rPr lang="en-US" sz="850" dirty="0">
                <a:solidFill>
                  <a:srgbClr val="B3D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 </a:t>
            </a:r>
            <a:r>
              <a:rPr lang="en-US" sz="850">
                <a:solidFill>
                  <a:srgbClr val="B3D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vida gestionados por el contenedor</a:t>
            </a:r>
            <a:r>
              <a:rPr lang="en-US" sz="850" dirty="0">
                <a:solidFill>
                  <a:srgbClr val="B3D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1520" y="2441448"/>
            <a:ext cx="3840480" cy="868680"/>
          </a:xfrm>
          <a:prstGeom prst="rect">
            <a:avLst/>
          </a:prstGeom>
          <a:solidFill>
            <a:srgbClr val="1565C0">
              <a:alpha val="30000"/>
            </a:srgbClr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841248" y="2606040"/>
            <a:ext cx="347472" cy="347472"/>
          </a:xfrm>
          <a:prstGeom prst="ellipse">
            <a:avLst/>
          </a:prstGeom>
          <a:solidFill>
            <a:srgbClr val="42A5F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841248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98448" y="251460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98448" y="278892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>
                <a:solidFill>
                  <a:srgbClr val="B3D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Cadena de componentes HTTP en orden. Use</a:t>
            </a:r>
            <a:r>
              <a:rPr lang="en-US" sz="850" dirty="0">
                <a:solidFill>
                  <a:srgbClr val="B3D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 </a:t>
            </a:r>
            <a:r>
              <a:rPr lang="en-US" sz="850">
                <a:solidFill>
                  <a:srgbClr val="B3D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Run </a:t>
            </a:r>
            <a:r>
              <a:rPr lang="en-US" sz="850" dirty="0">
                <a:solidFill>
                  <a:srgbClr val="B3D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 </a:t>
            </a:r>
            <a:r>
              <a:rPr lang="en-US" sz="850">
                <a:solidFill>
                  <a:srgbClr val="B3D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Map controlan el flujo del pipeline</a:t>
            </a:r>
            <a:r>
              <a:rPr lang="en-US" sz="850" dirty="0">
                <a:solidFill>
                  <a:srgbClr val="B3D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937760" y="2441448"/>
            <a:ext cx="3840480" cy="868680"/>
          </a:xfrm>
          <a:prstGeom prst="rect">
            <a:avLst/>
          </a:prstGeom>
          <a:solidFill>
            <a:srgbClr val="1565C0">
              <a:alpha val="30000"/>
            </a:srgbClr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5047488" y="2606040"/>
            <a:ext cx="347472" cy="347472"/>
          </a:xfrm>
          <a:prstGeom prst="ellipse">
            <a:avLst/>
          </a:prstGeom>
          <a:solidFill>
            <a:srgbClr val="42A5F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047488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04688" y="251460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Personalizado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04688" y="278892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>
                <a:solidFill>
                  <a:srgbClr val="B3D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Clase con InvokeAsync + Static Class Extension Method</a:t>
            </a:r>
            <a:r>
              <a:rPr lang="en-US" sz="850" dirty="0">
                <a:solidFill>
                  <a:srgbClr val="B3D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 </a:t>
            </a:r>
            <a:r>
              <a:rPr lang="en-US" sz="850">
                <a:solidFill>
                  <a:srgbClr val="B3D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Delegados anonimos para logica simple</a:t>
            </a:r>
            <a:r>
              <a:rPr lang="en-US" sz="850" dirty="0">
                <a:solidFill>
                  <a:srgbClr val="B3D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1520" y="3419856"/>
            <a:ext cx="3840480" cy="868680"/>
          </a:xfrm>
          <a:prstGeom prst="rect">
            <a:avLst/>
          </a:prstGeom>
          <a:solidFill>
            <a:srgbClr val="1565C0">
              <a:alpha val="30000"/>
            </a:srgbClr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841248" y="3584448"/>
            <a:ext cx="347472" cy="347472"/>
          </a:xfrm>
          <a:prstGeom prst="ellipse">
            <a:avLst/>
          </a:prstGeom>
          <a:solidFill>
            <a:srgbClr val="42A5F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841248" y="3584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98448" y="349300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Practico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98448" y="3767328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>
                <a:solidFill>
                  <a:srgbClr val="B3D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Program.cs completo con DI, pipeline por capas de seguridad</a:t>
            </a:r>
            <a:r>
              <a:rPr lang="en-US" sz="850" dirty="0">
                <a:solidFill>
                  <a:srgbClr val="B3D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 y </a:t>
            </a:r>
            <a:r>
              <a:rPr lang="en-US" sz="850">
                <a:solidFill>
                  <a:srgbClr val="B3D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bifurcacion </a:t>
            </a:r>
            <a:r>
              <a:rPr lang="en-US" sz="850" dirty="0">
                <a:solidFill>
                  <a:srgbClr val="B3D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condicional.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937760" y="3419856"/>
            <a:ext cx="3840480" cy="868680"/>
          </a:xfrm>
          <a:prstGeom prst="rect">
            <a:avLst/>
          </a:prstGeom>
          <a:solidFill>
            <a:srgbClr val="1565C0">
              <a:alpha val="30000"/>
            </a:srgbClr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5047488" y="3584448"/>
            <a:ext cx="347472" cy="347472"/>
          </a:xfrm>
          <a:prstGeom prst="ellipse">
            <a:avLst/>
          </a:prstGeom>
          <a:solidFill>
            <a:srgbClr val="42A5F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5047488" y="3584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04688" y="349300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 Options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</a:t>
            </a: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04688" y="3767328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>
                <a:solidFill>
                  <a:srgbClr val="B3D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IOptions&lt;T&gt; vincula configuracion tipada</a:t>
            </a:r>
            <a:r>
              <a:rPr lang="en-US" sz="850" dirty="0">
                <a:solidFill>
                  <a:srgbClr val="B3D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 </a:t>
            </a:r>
            <a:r>
              <a:rPr lang="en-US" sz="850">
                <a:solidFill>
                  <a:srgbClr val="B3D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Servicios propios </a:t>
            </a:r>
            <a:r>
              <a:rPr lang="en-US" sz="850" dirty="0">
                <a:solidFill>
                  <a:srgbClr val="B3D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 </a:t>
            </a:r>
            <a:r>
              <a:rPr lang="en-US" sz="850">
                <a:solidFill>
                  <a:srgbClr val="B3D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del framework en el contenedor</a:t>
            </a:r>
            <a:r>
              <a:rPr lang="en-US" sz="850" dirty="0">
                <a:solidFill>
                  <a:srgbClr val="B3D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0" y="4572000"/>
            <a:ext cx="9144000" cy="73152"/>
          </a:xfrm>
          <a:prstGeom prst="rect">
            <a:avLst/>
          </a:prstGeom>
          <a:solidFill>
            <a:srgbClr val="42A5F5">
              <a:alpha val="4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ASP.NET Core 8.0 — Conceptos Avanzados de Arquitectura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1645920"/>
          </a:xfrm>
          <a:prstGeom prst="rect">
            <a:avLst/>
          </a:prstGeom>
          <a:solidFill>
            <a:srgbClr val="1565C0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949440" y="457200"/>
            <a:ext cx="2194560" cy="914400"/>
          </a:xfrm>
          <a:prstGeom prst="rect">
            <a:avLst/>
          </a:prstGeom>
          <a:solidFill>
            <a:srgbClr val="42A5F5">
              <a:alpha val="6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en ASP.NET Core 8</a:t>
            </a:r>
            <a:endParaRPr lang="en-US" sz="460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- View - Controller</a:t>
            </a:r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731520" y="3383280"/>
            <a:ext cx="2743200" cy="0"/>
          </a:xfrm>
          <a:prstGeom prst="line">
            <a:avLst/>
          </a:prstGeom>
          <a:noFill/>
          <a:ln w="254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Patron de arquitectura para aplicaciones web</a:t>
            </a:r>
            <a:endParaRPr lang="en-US"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MVC en ASP.NET Core 8</a:t>
            </a:r>
            <a:endParaRPr lang="en-US" sz="210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MVC separa la aplicacion en tres componentes que colaboran para procesar solicitudes HTTP y generar respuestas.</a:t>
            </a:r>
            <a:endParaRPr lang="en-US" sz="105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14600" cy="310896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514600" cy="38404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58368" y="146304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658368" y="1920240"/>
            <a:ext cx="22951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 y Logica de Negocio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Representa el estado de la aplicacion: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Clases C# mapeadas a tablas con EF Core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Datos especificos para cada vista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Annotations y FluentValidation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Logica de negocio inyectada via DI</a:t>
            </a:r>
            <a:endParaRPr lang="en-US" sz="800"/>
          </a:p>
        </p:txBody>
      </p:sp>
      <p:sp>
        <p:nvSpPr>
          <p:cNvPr id="9" name="Shape 7"/>
          <p:cNvSpPr/>
          <p:nvPr/>
        </p:nvSpPr>
        <p:spPr>
          <a:xfrm>
            <a:off x="3227832" y="1463040"/>
            <a:ext cx="2514600" cy="310896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227832" y="1463040"/>
            <a:ext cx="2514600" cy="384048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337560" y="146304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3337560" y="1920240"/>
            <a:ext cx="22951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>
                <a:solidFill>
                  <a:srgbClr val="7B1F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Presentacion al Usuario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Genera la respuesta HTML o JSON: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 Views (.cshtml)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HTML + C# con sintaxis @, layouts y secciones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Helpers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asp-for, asp-action, asp-controller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Views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Fragmentos de UI reutilizables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Components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Mini-controladores para renderizado complejo</a:t>
            </a:r>
            <a:endParaRPr lang="en-US" sz="800"/>
          </a:p>
        </p:txBody>
      </p:sp>
      <p:sp>
        <p:nvSpPr>
          <p:cNvPr id="13" name="Shape 11"/>
          <p:cNvSpPr/>
          <p:nvPr/>
        </p:nvSpPr>
        <p:spPr>
          <a:xfrm>
            <a:off x="5907024" y="1463040"/>
            <a:ext cx="2514600" cy="310896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907024" y="1463040"/>
            <a:ext cx="2514600" cy="38404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016752" y="146304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6016752" y="1920240"/>
            <a:ext cx="22951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Coordinador del Flujo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Recibe solicitudes y orquesta la respuesta: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Metodos que manejan GET, POST, PUT, DELETE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[Route], [HttpGet], [HttpPost]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ActionResults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View(), Json(), RedirectToAction(), Ok()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[Authorize] y filtros personalizados</a:t>
            </a:r>
            <a:endParaRPr lang="en-US" sz="80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Core 8.0 — Arquitectura MVC</a:t>
            </a:r>
            <a:endParaRPr lang="en-US" sz="8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y Actions</a:t>
            </a:r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Controladores MVC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 Controller hereda de Controller o ControllerBase. Cada metodo publico es una Action que responde a una ruta HTTP especifica.</a:t>
            </a:r>
            <a:endParaRPr lang="en-US" sz="105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657600" cy="45720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58368" y="2075688"/>
            <a:ext cx="3438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por Atributos</a:t>
            </a:r>
            <a:endParaRPr lang="en-US" sz="1000"/>
          </a:p>
          <a:p>
            <a:pPr marL="0" indent="0">
              <a:buNone/>
            </a:pPr>
            <a:r>
              <a:rPr lang="en-US" sz="90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[Route], [HttpGet], [HttpPost] definen las rutas de cada Action.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3657600" cy="4572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58368" y="2606040"/>
            <a:ext cx="3438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Binding</a:t>
            </a:r>
            <a:endParaRPr lang="en-US" sz="1000"/>
          </a:p>
          <a:p>
            <a:pPr marL="0" indent="0">
              <a:buNone/>
            </a:pPr>
            <a:r>
              <a:rPr lang="en-US" sz="90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Los parametros se enlazan automaticamente desde query, body o route.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548640" y="3118104"/>
            <a:ext cx="3657600" cy="4572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58368" y="3136392"/>
            <a:ext cx="3438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ActionResults</a:t>
            </a:r>
            <a:endParaRPr lang="en-US" sz="1000"/>
          </a:p>
          <a:p>
            <a:pPr marL="0" indent="0">
              <a:buNone/>
            </a:pPr>
            <a:r>
              <a:rPr lang="en-US" sz="90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View(), Json(), RedirectToAction(), NotFound(), Ok() y mas.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54864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de Accion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548640" y="390448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b="1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[Authorize]  </a:t>
            </a:r>
            <a:r>
              <a:rPr lang="en-US" sz="9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Control de acceso</a:t>
            </a:r>
            <a:endParaRPr lang="en-US" sz="950"/>
          </a:p>
          <a:p>
            <a:pPr marL="0" indent="0">
              <a:lnSpc>
                <a:spcPct val="150000"/>
              </a:lnSpc>
              <a:buNone/>
            </a:pPr>
            <a:r>
              <a:rPr lang="en-US" sz="950" b="1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[ValidateAntiForgeryToken]  </a:t>
            </a:r>
            <a:r>
              <a:rPr lang="en-US" sz="9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Seguridad CSRF</a:t>
            </a:r>
            <a:endParaRPr lang="en-US" sz="950"/>
          </a:p>
          <a:p>
            <a:pPr marL="0" indent="0">
              <a:lnSpc>
                <a:spcPct val="150000"/>
              </a:lnSpc>
              <a:buNone/>
            </a:pPr>
            <a:r>
              <a:rPr lang="en-US" sz="950" b="1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ExceptionFilter  </a:t>
            </a:r>
            <a:r>
              <a:rPr lang="en-US" sz="9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Manejo global de errores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4572000" y="1005840"/>
            <a:ext cx="4023360" cy="361188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4572000" y="1005840"/>
            <a:ext cx="4023360" cy="292608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709160" y="10058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ProductController.cs</a:t>
            </a:r>
            <a:endParaRPr lang="en-US" sz="800"/>
          </a:p>
        </p:txBody>
      </p:sp>
      <p:sp>
        <p:nvSpPr>
          <p:cNvPr id="17" name="Text 15"/>
          <p:cNvSpPr/>
          <p:nvPr/>
        </p:nvSpPr>
        <p:spPr>
          <a:xfrm>
            <a:off x="4709160" y="1353312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Controller basico con Actions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ProductController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Controller {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[HttpGet]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IActionResult Index()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=&gt; View(_db.Products.ToList());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[HttpGet(“{id}”)]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IActionResult Details(int id)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p = _db.Products.Find(id);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(p == null) return NotFound();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View(p);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[HttpPost]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IActionResult Create(Product p) {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_db.Products.Add(p);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_db.SaveChanges();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RedirectToAction("Index");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Core 8.0 — Controllers y Actions</a:t>
            </a:r>
            <a:endParaRPr lang="en-US" sz="8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ActionResult en MVC</a:t>
            </a:r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Retornos del Metodo Controller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Cada Action de un Controller retorna un IActionResult. ASP.NET Core ofrece multiples variantes para renderizar vistas, redirigir, devolver datos o generar errores HTTP.</a:t>
            </a:r>
            <a:endParaRPr lang="en-US" sz="105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657600" cy="45720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58368" y="2075688"/>
            <a:ext cx="3438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Renderizar Vistas</a:t>
            </a:r>
            <a:endParaRPr lang="en-US" sz="1000"/>
          </a:p>
          <a:p>
            <a:pPr marL="0" indent="0">
              <a:buNone/>
            </a:pPr>
            <a:r>
              <a:rPr lang="en-US" sz="90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View() renderiza la vista por defecto. View(model) pasa datos. View(“nombre”, model) especifica la vista.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3657600" cy="4572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58368" y="2606040"/>
            <a:ext cx="3438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Redireccion</a:t>
            </a:r>
            <a:endParaRPr lang="en-US" sz="1000"/>
          </a:p>
          <a:p>
            <a:pPr marL="0" indent="0">
              <a:buNone/>
            </a:pPr>
            <a:r>
              <a:rPr lang="en-US" sz="90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RedirectToAction() redirige a otra Action. Redirect() a una URL. RedirectToRoute() a una ruta nombrada.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548640" y="3118104"/>
            <a:ext cx="3657600" cy="4572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58368" y="3136392"/>
            <a:ext cx="3438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y Estado HTTP</a:t>
            </a:r>
            <a:endParaRPr lang="en-US" sz="1000"/>
          </a:p>
          <a:p>
            <a:pPr marL="0" indent="0">
              <a:buNone/>
            </a:pPr>
            <a:r>
              <a:rPr lang="en-US" sz="90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NotFound() retorna 404. BadRequest() retorna 400. StatusCode(n) permite cualquier codigo HTTP.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54864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Variantes Principales de ActionResult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548640" y="390448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b="1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Json(object)  </a:t>
            </a:r>
            <a:r>
              <a:rPr lang="en-US" sz="9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Serializa un objeto a JSON para APIs</a:t>
            </a:r>
            <a:endParaRPr lang="en-US" sz="950"/>
          </a:p>
          <a:p>
            <a:pPr marL="0" indent="0">
              <a:lnSpc>
                <a:spcPct val="150000"/>
              </a:lnSpc>
              <a:buNone/>
            </a:pPr>
            <a:r>
              <a:rPr lang="en-US" sz="950" b="1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Content(“texto”)  </a:t>
            </a:r>
            <a:r>
              <a:rPr lang="en-US" sz="9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Retorna texto plano como respuesta</a:t>
            </a:r>
            <a:endParaRPr lang="en-US" sz="950"/>
          </a:p>
          <a:p>
            <a:pPr marL="0" indent="0">
              <a:lnSpc>
                <a:spcPct val="150000"/>
              </a:lnSpc>
              <a:buNone/>
            </a:pPr>
            <a:r>
              <a:rPr lang="en-US" sz="950" b="1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File(bytes, type)  </a:t>
            </a:r>
            <a:r>
              <a:rPr lang="en-US" sz="9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Descarga de archivos con tipo MIME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4572000" y="1005840"/>
            <a:ext cx="4023360" cy="361188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4572000" y="1005840"/>
            <a:ext cx="4023360" cy="292608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709160" y="10058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HomeController.cs</a:t>
            </a:r>
            <a:endParaRPr lang="en-US" sz="800"/>
          </a:p>
        </p:txBody>
      </p:sp>
      <p:sp>
        <p:nvSpPr>
          <p:cNvPr id="17" name="Text 15"/>
          <p:cNvSpPr/>
          <p:nvPr/>
        </p:nvSpPr>
        <p:spPr>
          <a:xfrm>
            <a:off x="4709160" y="1353312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Vista por defecto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IActionResult 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Index()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=&gt; </a:t>
            </a:r>
            <a:r>
              <a:rPr lang="en-US" sz="85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Vista con modelo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IActionResult 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Details(int id)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=&gt; </a:t>
            </a:r>
            <a:r>
              <a:rPr lang="en-US" sz="85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(_db.Products.Find(id));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Vista especifica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IActionResult 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Custom()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=&gt; </a:t>
            </a:r>
            <a:r>
              <a:rPr lang="en-US" sz="85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(“MiVista”, model);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Redireccion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IActionResult 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Save()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=&gt; </a:t>
            </a:r>
            <a:r>
              <a:rPr lang="en-US" sz="85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RedirectToAction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(“Index”);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Error 404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IActionResult 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Get(int id)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=&gt; _db.Find(id) is null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? </a:t>
            </a:r>
            <a:r>
              <a:rPr lang="en-US" sz="85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NotFound()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en-US" sz="85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JSON para API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IActionResult 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Data()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=&gt; </a:t>
            </a:r>
            <a:r>
              <a:rPr lang="en-US" sz="85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ok = true });</a:t>
            </a:r>
            <a:endParaRPr lang="en-US" sz="85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Core 8.0 — Tipos de ActionResult</a:t>
            </a:r>
            <a:endParaRPr lang="en-US" sz="8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HTTP en el Patron MVC</a:t>
            </a:r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de una Solicitud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548640" y="13990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Una solicitud HTTP atraviesa el pipeline de middleware, llega al Router que selecciona el Controller, este consulta el Model y devuelve una View al cliente.</a:t>
            </a:r>
            <a:endParaRPr lang="en-US" sz="105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508760" cy="548640"/>
          </a:xfrm>
          <a:prstGeom prst="rect">
            <a:avLst/>
          </a:prstGeom>
          <a:solidFill>
            <a:srgbClr val="1565C0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2075688" y="214884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2377440" y="2148840"/>
            <a:ext cx="1508760" cy="548640"/>
          </a:xfrm>
          <a:prstGeom prst="rect">
            <a:avLst/>
          </a:prstGeom>
          <a:solidFill>
            <a:srgbClr val="1976D2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2377440" y="21488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3904488" y="214884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4206240" y="2148840"/>
            <a:ext cx="1508760" cy="548640"/>
          </a:xfrm>
          <a:prstGeom prst="rect">
            <a:avLst/>
          </a:prstGeom>
          <a:solidFill>
            <a:srgbClr val="1E88E5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206240" y="21488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5733288" y="214884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6035040" y="2148840"/>
            <a:ext cx="1508760" cy="548640"/>
          </a:xfrm>
          <a:prstGeom prst="rect">
            <a:avLst/>
          </a:prstGeom>
          <a:solidFill>
            <a:srgbClr val="42A5F5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035040" y="21488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502920" y="1920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  --&gt;</a:t>
            </a:r>
            <a:endParaRPr lang="en-US" sz="850"/>
          </a:p>
        </p:txBody>
      </p:sp>
      <p:sp>
        <p:nvSpPr>
          <p:cNvPr id="18" name="Text 16"/>
          <p:cNvSpPr/>
          <p:nvPr/>
        </p:nvSpPr>
        <p:spPr>
          <a:xfrm>
            <a:off x="6400800" y="27432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&lt;--  Response</a:t>
            </a:r>
            <a:endParaRPr lang="en-US" sz="850"/>
          </a:p>
        </p:txBody>
      </p:sp>
      <p:sp>
        <p:nvSpPr>
          <p:cNvPr id="19" name="Text 17"/>
          <p:cNvSpPr/>
          <p:nvPr/>
        </p:nvSpPr>
        <p:spPr>
          <a:xfrm>
            <a:off x="548640" y="3063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de Cada Fase</a:t>
            </a:r>
            <a:endParaRPr lang="en-US" sz="1400"/>
          </a:p>
        </p:txBody>
      </p:sp>
      <p:sp>
        <p:nvSpPr>
          <p:cNvPr id="20" name="Shape 18"/>
          <p:cNvSpPr/>
          <p:nvPr/>
        </p:nvSpPr>
        <p:spPr>
          <a:xfrm>
            <a:off x="548640" y="3429000"/>
            <a:ext cx="2560320" cy="11430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548640" y="3429000"/>
            <a:ext cx="2560320" cy="457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58368" y="352044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Routing + Controller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658368" y="3776472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Router mapea la URL al Controller y Action correctos. El Controller recibe la solicitud y coordina la respuesta.</a:t>
            </a:r>
            <a:endParaRPr lang="en-US" sz="850"/>
          </a:p>
        </p:txBody>
      </p:sp>
      <p:sp>
        <p:nvSpPr>
          <p:cNvPr id="24" name="Shape 22"/>
          <p:cNvSpPr/>
          <p:nvPr/>
        </p:nvSpPr>
        <p:spPr>
          <a:xfrm>
            <a:off x="3246120" y="3429000"/>
            <a:ext cx="2560320" cy="11430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3246120" y="3429000"/>
            <a:ext cx="2560320" cy="4572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3355848" y="352044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(Datos)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3355848" y="3776472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Controller invoca servicios y repositorios para obtener o modificar datos. El Model encapsula la logica de negocio.</a:t>
            </a:r>
            <a:endParaRPr lang="en-US" sz="850"/>
          </a:p>
        </p:txBody>
      </p:sp>
      <p:sp>
        <p:nvSpPr>
          <p:cNvPr id="28" name="Shape 26"/>
          <p:cNvSpPr/>
          <p:nvPr/>
        </p:nvSpPr>
        <p:spPr>
          <a:xfrm>
            <a:off x="5943600" y="3429000"/>
            <a:ext cx="2560320" cy="11430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5943600" y="3429000"/>
            <a:ext cx="2560320" cy="457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6053328" y="352044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 (Respuesta)</a:t>
            </a:r>
            <a:endParaRPr lang="en-US" sz="1100"/>
          </a:p>
        </p:txBody>
      </p:sp>
      <p:sp>
        <p:nvSpPr>
          <p:cNvPr id="31" name="Text 29"/>
          <p:cNvSpPr/>
          <p:nvPr/>
        </p:nvSpPr>
        <p:spPr>
          <a:xfrm>
            <a:off x="6053328" y="3776472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Controller pasa el Model a la View. Razor genera el HTML final que se envia como respuesta al navegador.</a:t>
            </a:r>
            <a:endParaRPr lang="en-US" sz="85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Core 8.0 — Flujo HTTP en MVC</a:t>
            </a:r>
            <a:endParaRPr lang="en-US" sz="8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1645920"/>
          </a:xfrm>
          <a:prstGeom prst="rect">
            <a:avLst/>
          </a:prstGeom>
          <a:solidFill>
            <a:srgbClr val="1565C0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949440" y="457200"/>
            <a:ext cx="2194560" cy="914400"/>
          </a:xfrm>
          <a:prstGeom prst="rect">
            <a:avLst/>
          </a:prstGeom>
          <a:solidFill>
            <a:srgbClr val="42A5F5">
              <a:alpha val="6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del MVC</a:t>
            </a:r>
            <a:endParaRPr lang="en-US" sz="460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Razor Views y Tag Helpers</a:t>
            </a:r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731520" y="3383280"/>
            <a:ext cx="2743200" cy="0"/>
          </a:xfrm>
          <a:prstGeom prst="line">
            <a:avLst/>
          </a:prstGeom>
          <a:noFill/>
          <a:ln w="254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Generación de interfaz de usuario en ASP.NET Core 8</a:t>
            </a:r>
            <a:endParaRPr lang="en-US"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 Views y Tag Helpers</a:t>
            </a:r>
            <a:endParaRPr lang="en-US" sz="210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Las vistas Razor combinan HTML con C# para generar contenido dinamico. Los Tag Helpers simplifican la generacion de formularios y enlaces.</a:t>
            </a:r>
            <a:endParaRPr lang="en-US" sz="105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14600" cy="310896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514600" cy="38404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58368" y="146304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 Views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658368" y="1920240"/>
            <a:ext cx="22951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Sintaxis Razor (.cshtml)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Motor de vistas integrado en MVC: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Expresiones @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@Model.Name, @DateTime.Now para insertar valores C#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_Layout.cshtml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Plantilla maestra con @RenderBody() y @RenderSection()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_ViewStart y _ViewImports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Configuracion global de layout y directivas @using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 Sections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@section Scripts { } para inyectar contenido en el layout</a:t>
            </a:r>
            <a:endParaRPr lang="en-US" sz="800"/>
          </a:p>
        </p:txBody>
      </p:sp>
      <p:sp>
        <p:nvSpPr>
          <p:cNvPr id="9" name="Shape 7"/>
          <p:cNvSpPr/>
          <p:nvPr/>
        </p:nvSpPr>
        <p:spPr>
          <a:xfrm>
            <a:off x="3227832" y="1463040"/>
            <a:ext cx="2514600" cy="310896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227832" y="1463040"/>
            <a:ext cx="2514600" cy="384048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337560" y="146304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Helpers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3337560" y="1920240"/>
            <a:ext cx="22951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>
                <a:solidFill>
                  <a:srgbClr val="7B1F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Componentes del Servidor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Generan HTML desde atributos asp-*: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asp-action, asp-controller, asp-route-id en &lt;form&gt;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asp-for vincula propiedades del Model a &lt;input&gt;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asp-validation-for muestra errores del ModelState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asp-page, asp-area para navegacion entre paginas</a:t>
            </a:r>
            <a:endParaRPr lang="en-US" sz="800"/>
          </a:p>
        </p:txBody>
      </p:sp>
      <p:sp>
        <p:nvSpPr>
          <p:cNvPr id="13" name="Shape 11"/>
          <p:cNvSpPr/>
          <p:nvPr/>
        </p:nvSpPr>
        <p:spPr>
          <a:xfrm>
            <a:off x="5907024" y="1463040"/>
            <a:ext cx="2514600" cy="310896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907024" y="1463040"/>
            <a:ext cx="2514600" cy="38404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016752" y="146304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y Components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6016752" y="1920240"/>
            <a:ext cx="22951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Reutilizacion de UI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Componentes para vistas modulares: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Views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&lt;partial name="_Header" /&gt; para fragmentos reutilizables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Components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Clase + vista con logica independiente (menu, sidebar)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@await Component.Invoke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Invocacion desde cualquier vista Razor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Inyeccion en Vistas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@inject IService svc para usar servicios en la vista</a:t>
            </a:r>
            <a:endParaRPr lang="en-US" sz="80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Core 8.0 — Razor Views y Tag Helpers</a:t>
            </a:r>
            <a:endParaRPr lang="en-US" sz="8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Razor en ASP.NET Core 8</a:t>
            </a:r>
            <a:endParaRPr lang="es-ES" sz="240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ES" sz="105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Razor combina HTML con C# mediante el caracter @. Los archivos .cshtml permiten generar contenido dinamico del lado del servidor de forma concisa y legible.</a:t>
            </a:r>
            <a:endParaRPr lang="es-ES" sz="105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Clave</a:t>
            </a:r>
            <a:endParaRPr lang="es-ES" sz="1200"/>
          </a:p>
        </p:txBody>
      </p:sp>
      <p:sp>
        <p:nvSpPr>
          <p:cNvPr id="6" name="Shape 6"/>
          <p:cNvSpPr/>
          <p:nvPr/>
        </p:nvSpPr>
        <p:spPr>
          <a:xfrm>
            <a:off x="548640" y="1920240"/>
            <a:ext cx="3840480" cy="37000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7"/>
          <p:cNvSpPr/>
          <p:nvPr/>
        </p:nvSpPr>
        <p:spPr>
          <a:xfrm>
            <a:off x="658368" y="1938528"/>
            <a:ext cx="3621024" cy="333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Expresion Implicita</a:t>
            </a:r>
            <a:endParaRPr lang="es-ES" sz="1000"/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@variable se evalua y renderiza como texto HTML-encoded.</a:t>
            </a:r>
            <a:endParaRPr lang="es-ES" sz="900"/>
          </a:p>
        </p:txBody>
      </p:sp>
      <p:sp>
        <p:nvSpPr>
          <p:cNvPr id="8" name="Shape 8"/>
          <p:cNvSpPr/>
          <p:nvPr/>
        </p:nvSpPr>
        <p:spPr>
          <a:xfrm>
            <a:off x="548640" y="2340240"/>
            <a:ext cx="3840480" cy="3700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9"/>
          <p:cNvSpPr/>
          <p:nvPr/>
        </p:nvSpPr>
        <p:spPr>
          <a:xfrm>
            <a:off x="658368" y="2358528"/>
            <a:ext cx="3621024" cy="333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Expresion Explicita</a:t>
            </a:r>
            <a:endParaRPr lang="es-ES" sz="1000"/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@( ) para expresiones complejas o con espacios.</a:t>
            </a:r>
            <a:endParaRPr lang="es-ES" sz="900"/>
          </a:p>
        </p:txBody>
      </p:sp>
      <p:sp>
        <p:nvSpPr>
          <p:cNvPr id="10" name="Shape 10"/>
          <p:cNvSpPr/>
          <p:nvPr/>
        </p:nvSpPr>
        <p:spPr>
          <a:xfrm>
            <a:off x="548640" y="2760240"/>
            <a:ext cx="3840480" cy="3700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11"/>
          <p:cNvSpPr/>
          <p:nvPr/>
        </p:nvSpPr>
        <p:spPr>
          <a:xfrm>
            <a:off x="658368" y="2778528"/>
            <a:ext cx="3621024" cy="333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Bloques de Codigo</a:t>
            </a:r>
            <a:endParaRPr lang="es-ES" sz="1000"/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@{ } para multiples sentencias C# sin salida directa.</a:t>
            </a:r>
            <a:endParaRPr lang="es-ES" sz="900"/>
          </a:p>
        </p:txBody>
      </p:sp>
      <p:sp>
        <p:nvSpPr>
          <p:cNvPr id="12" name="Shape 12"/>
          <p:cNvSpPr/>
          <p:nvPr/>
        </p:nvSpPr>
        <p:spPr>
          <a:xfrm>
            <a:off x="548640" y="3180240"/>
            <a:ext cx="3840480" cy="3700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3"/>
          <p:cNvSpPr/>
          <p:nvPr/>
        </p:nvSpPr>
        <p:spPr>
          <a:xfrm>
            <a:off x="658368" y="3198528"/>
            <a:ext cx="3621024" cy="333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Estructuras de Control</a:t>
            </a:r>
            <a:endParaRPr lang="es-ES" sz="1000"/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@if, @for, @foreach, @switch directamente en la vista.</a:t>
            </a:r>
            <a:endParaRPr lang="es-ES" sz="900"/>
          </a:p>
        </p:txBody>
      </p:sp>
      <p:sp>
        <p:nvSpPr>
          <p:cNvPr id="14" name="Shape 14"/>
          <p:cNvSpPr/>
          <p:nvPr/>
        </p:nvSpPr>
        <p:spPr>
          <a:xfrm>
            <a:off x="548640" y="3600240"/>
            <a:ext cx="3840480" cy="3700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5"/>
          <p:cNvSpPr/>
          <p:nvPr/>
        </p:nvSpPr>
        <p:spPr>
          <a:xfrm>
            <a:off x="658368" y="3618528"/>
            <a:ext cx="3621024" cy="333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HTML Encoding Automatico</a:t>
            </a:r>
            <a:endParaRPr lang="es-ES" sz="1000"/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Razor codifica la salida por defecto. @Html.Raw() para HTML sin codificar.</a:t>
            </a:r>
            <a:endParaRPr lang="es-ES" sz="900"/>
          </a:p>
        </p:txBody>
      </p:sp>
      <p:sp>
        <p:nvSpPr>
          <p:cNvPr id="50" name="Shape 50"/>
          <p:cNvSpPr/>
          <p:nvPr/>
        </p:nvSpPr>
        <p:spPr>
          <a:xfrm>
            <a:off x="4572000" y="914400"/>
            <a:ext cx="4023360" cy="384048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1" name="Shape 51"/>
          <p:cNvSpPr/>
          <p:nvPr/>
        </p:nvSpPr>
        <p:spPr>
          <a:xfrm>
            <a:off x="4572000" y="914400"/>
            <a:ext cx="4023360" cy="292608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2" name="Text 52"/>
          <p:cNvSpPr/>
          <p:nvPr/>
        </p:nvSpPr>
        <p:spPr>
          <a:xfrm>
            <a:off x="4709160" y="9144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Index.cshtml</a:t>
            </a:r>
            <a:endParaRPr lang="en-US" sz="800"/>
          </a:p>
        </p:txBody>
      </p:sp>
      <p:sp>
        <p:nvSpPr>
          <p:cNvPr id="53" name="Text 53"/>
          <p:cNvSpPr/>
          <p:nvPr/>
        </p:nvSpPr>
        <p:spPr>
          <a:xfrm>
            <a:off x="4709160" y="1261872"/>
            <a:ext cx="3749040" cy="3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@* Expresion implicita *@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&lt;h1&gt;</a:t>
            </a: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@Model.Titulo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&lt;/h1&gt;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&lt;p&gt;Fecha: </a:t>
            </a: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@DateTime.Now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&lt;/p&gt;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@* Expresion explicita *@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&lt;p&gt;</a:t>
            </a: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@(Model.Precio * 1.21m)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con IVA&lt;/p&gt;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@* Bloque de codigo *@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@{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    var 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saludo = 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"Hola Mundo"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ViewData[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"Title"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] = saludo;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}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@* Estructura de control *@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@foreach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(</a:t>
            </a: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var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item </a:t>
            </a: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in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Model.Items)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{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&lt;li&gt;</a:t>
            </a: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@item.Nombre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- </a:t>
            </a: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@item.Precio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&lt;/li&gt;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}</a:t>
            </a:r>
            <a:endParaRPr lang="en-US" sz="800"/>
          </a:p>
        </p:txBody>
      </p:sp>
      <p:sp>
        <p:nvSpPr>
          <p:cNvPr id="60" name="Shape 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Text 6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Core 8.0 — Vistas del MVC: Sintaxis Razor</a:t>
            </a:r>
            <a:endParaRPr lang="es-ES" sz="85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Expresiones "@" en Razor</a:t>
            </a:r>
            <a:endParaRPr lang="es-ES" sz="240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ES" sz="105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simbolo @ es el caracter de transicion entre HTML y C#. Razor ofrece multiples formas de insertar logica y datos del servidor directamente en el marcado HTML.</a:t>
            </a:r>
            <a:endParaRPr lang="es-ES" sz="105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Expresiones</a:t>
            </a:r>
            <a:endParaRPr lang="es-ES" sz="1200"/>
          </a:p>
        </p:txBody>
      </p:sp>
      <p:sp>
        <p:nvSpPr>
          <p:cNvPr id="6" name="Shape 6"/>
          <p:cNvSpPr/>
          <p:nvPr/>
        </p:nvSpPr>
        <p:spPr>
          <a:xfrm>
            <a:off x="548640" y="1920240"/>
            <a:ext cx="3840480" cy="37000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7"/>
          <p:cNvSpPr/>
          <p:nvPr/>
        </p:nvSpPr>
        <p:spPr>
          <a:xfrm>
            <a:off x="658368" y="1938528"/>
            <a:ext cx="3621024" cy="333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@Model.Propiedad</a:t>
            </a:r>
            <a:endParaRPr lang="es-ES" sz="1000"/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Accede a propiedades del modelo fuertemente tipado de la vista.</a:t>
            </a:r>
            <a:endParaRPr lang="es-ES" sz="900"/>
          </a:p>
        </p:txBody>
      </p:sp>
      <p:sp>
        <p:nvSpPr>
          <p:cNvPr id="8" name="Shape 8"/>
          <p:cNvSpPr/>
          <p:nvPr/>
        </p:nvSpPr>
        <p:spPr>
          <a:xfrm>
            <a:off x="548640" y="2340240"/>
            <a:ext cx="3840480" cy="3700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9"/>
          <p:cNvSpPr/>
          <p:nvPr/>
        </p:nvSpPr>
        <p:spPr>
          <a:xfrm>
            <a:off x="658368" y="2358528"/>
            <a:ext cx="3621024" cy="333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@ViewBag / @ViewData</a:t>
            </a:r>
            <a:endParaRPr lang="es-ES" sz="1000"/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Diccionarios dinamicos para pasar datos entre Controller y Vista.</a:t>
            </a:r>
            <a:endParaRPr lang="es-ES" sz="900"/>
          </a:p>
        </p:txBody>
      </p:sp>
      <p:sp>
        <p:nvSpPr>
          <p:cNvPr id="10" name="Shape 10"/>
          <p:cNvSpPr/>
          <p:nvPr/>
        </p:nvSpPr>
        <p:spPr>
          <a:xfrm>
            <a:off x="548640" y="2760240"/>
            <a:ext cx="3840480" cy="3700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11"/>
          <p:cNvSpPr/>
          <p:nvPr/>
        </p:nvSpPr>
        <p:spPr>
          <a:xfrm>
            <a:off x="658368" y="2778528"/>
            <a:ext cx="3621024" cy="333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@Html.DisplayFor()</a:t>
            </a:r>
            <a:endParaRPr lang="es-ES" sz="1000"/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Helpers HTML que generan marcado segun Data Annotations del modelo.</a:t>
            </a:r>
            <a:endParaRPr lang="es-ES" sz="900"/>
          </a:p>
        </p:txBody>
      </p:sp>
      <p:sp>
        <p:nvSpPr>
          <p:cNvPr id="12" name="Shape 12"/>
          <p:cNvSpPr/>
          <p:nvPr/>
        </p:nvSpPr>
        <p:spPr>
          <a:xfrm>
            <a:off x="548640" y="3180240"/>
            <a:ext cx="3840480" cy="3700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3"/>
          <p:cNvSpPr/>
          <p:nvPr/>
        </p:nvSpPr>
        <p:spPr>
          <a:xfrm>
            <a:off x="658368" y="3198528"/>
            <a:ext cx="3621024" cy="333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@Url.Action()</a:t>
            </a:r>
            <a:endParaRPr lang="es-ES" sz="1000"/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Genera URLs para acciones de controladores en la aplicacion.</a:t>
            </a:r>
            <a:endParaRPr lang="es-ES" sz="900"/>
          </a:p>
        </p:txBody>
      </p:sp>
      <p:sp>
        <p:nvSpPr>
          <p:cNvPr id="14" name="Shape 14"/>
          <p:cNvSpPr/>
          <p:nvPr/>
        </p:nvSpPr>
        <p:spPr>
          <a:xfrm>
            <a:off x="548640" y="3600240"/>
            <a:ext cx="3840480" cy="3700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5"/>
          <p:cNvSpPr/>
          <p:nvPr/>
        </p:nvSpPr>
        <p:spPr>
          <a:xfrm>
            <a:off x="658368" y="3618528"/>
            <a:ext cx="3621024" cy="333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@await Html.PartialAsync()</a:t>
            </a:r>
            <a:endParaRPr lang="es-ES" sz="1000"/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Renderiza vistas parciales de forma asincrona dentro de otra vista.</a:t>
            </a:r>
            <a:endParaRPr lang="es-ES" sz="900"/>
          </a:p>
        </p:txBody>
      </p:sp>
      <p:sp>
        <p:nvSpPr>
          <p:cNvPr id="50" name="Shape 50"/>
          <p:cNvSpPr/>
          <p:nvPr/>
        </p:nvSpPr>
        <p:spPr>
          <a:xfrm>
            <a:off x="4572000" y="914400"/>
            <a:ext cx="4023360" cy="384048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1" name="Shape 51"/>
          <p:cNvSpPr/>
          <p:nvPr/>
        </p:nvSpPr>
        <p:spPr>
          <a:xfrm>
            <a:off x="4572000" y="914400"/>
            <a:ext cx="4023360" cy="292608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2" name="Text 52"/>
          <p:cNvSpPr/>
          <p:nvPr/>
        </p:nvSpPr>
        <p:spPr>
          <a:xfrm>
            <a:off x="4709160" y="9144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Productos.cshtml</a:t>
            </a:r>
            <a:endParaRPr lang="en-US" sz="800"/>
          </a:p>
        </p:txBody>
      </p:sp>
      <p:sp>
        <p:nvSpPr>
          <p:cNvPr id="53" name="Text 53"/>
          <p:cNvSpPr/>
          <p:nvPr/>
        </p:nvSpPr>
        <p:spPr>
          <a:xfrm>
            <a:off x="4709160" y="1261872"/>
            <a:ext cx="3749040" cy="3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@model </a:t>
            </a:r>
            <a:r>
              <a:rPr lang="en-US" sz="800">
                <a:solidFill>
                  <a:srgbClr val="60A5FA"/>
                </a:solidFill>
                <a:latin typeface="Consolas" pitchFamily="34" charset="0"/>
              </a:rPr>
              <a:t>List&lt;Producto&gt;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@* Acceso al modelo tipado *@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&lt;h2&gt;Total: </a:t>
            </a: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@Model.Count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productos&lt;/h2&gt;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@* ViewBag dinamico *@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&lt;h3&gt;</a:t>
            </a: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@ViewBag.Categoria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&lt;/h3&gt;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@* Condicional con operador ternario *@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&lt;span class="</a:t>
            </a: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@(Model.Count &gt; 0 ? 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    "text-success" : "text-danger"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)"&gt;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@(Model.Count &gt; 0 ? 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        "Disponible" : "Agotado"</a:t>
            </a: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)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&lt;/span&gt;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@* URL helper *@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&lt;a href="</a:t>
            </a: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@Url.Action(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    "Details", "Producto",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    new { id = 1 })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"&gt;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Ver detalle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&lt;/a&gt;</a:t>
            </a:r>
            <a:endParaRPr lang="en-US" sz="800"/>
          </a:p>
        </p:txBody>
      </p:sp>
      <p:sp>
        <p:nvSpPr>
          <p:cNvPr id="60" name="Shape 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Text 6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Core 8.0 — Vistas del MVC: Expresiones @</a:t>
            </a:r>
            <a:endParaRPr lang="es-ES" sz="85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_Layout.cshtml en ASP.NET Core 8</a:t>
            </a:r>
            <a:endParaRPr lang="es-ES" sz="240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ES" sz="105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archivo _Layout.cshtml define la estructura maestra que envuelve todas las vistas. Permite definir un esqueleto HTML comun con areas de contenido intercambiable.</a:t>
            </a:r>
            <a:endParaRPr lang="es-ES" sz="105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del Layout</a:t>
            </a:r>
            <a:endParaRPr lang="es-ES" sz="1200"/>
          </a:p>
        </p:txBody>
      </p:sp>
      <p:sp>
        <p:nvSpPr>
          <p:cNvPr id="6" name="Shape 6"/>
          <p:cNvSpPr/>
          <p:nvPr/>
        </p:nvSpPr>
        <p:spPr>
          <a:xfrm>
            <a:off x="548640" y="1920240"/>
            <a:ext cx="3840480" cy="420624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7"/>
          <p:cNvSpPr/>
          <p:nvPr/>
        </p:nvSpPr>
        <p:spPr>
          <a:xfrm>
            <a:off x="658368" y="1938528"/>
            <a:ext cx="3621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@RenderBody()</a:t>
            </a:r>
            <a:endParaRPr lang="es-ES" sz="1000"/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Inserta el contenido de la vista hija en el punto indicado del layout.</a:t>
            </a:r>
            <a:endParaRPr lang="es-ES" sz="900"/>
          </a:p>
        </p:txBody>
      </p:sp>
      <p:sp>
        <p:nvSpPr>
          <p:cNvPr id="8" name="Shape 8"/>
          <p:cNvSpPr/>
          <p:nvPr/>
        </p:nvSpPr>
        <p:spPr>
          <a:xfrm>
            <a:off x="548640" y="2413552"/>
            <a:ext cx="3840480" cy="420624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9"/>
          <p:cNvSpPr/>
          <p:nvPr/>
        </p:nvSpPr>
        <p:spPr>
          <a:xfrm>
            <a:off x="658368" y="2431840"/>
            <a:ext cx="3621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@RenderSection()</a:t>
            </a:r>
            <a:endParaRPr lang="es-ES" sz="1000"/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Define areas opcionales u obligatorias donde las vistas inyectan contenido.</a:t>
            </a:r>
            <a:endParaRPr lang="es-ES" sz="900"/>
          </a:p>
        </p:txBody>
      </p:sp>
      <p:sp>
        <p:nvSpPr>
          <p:cNvPr id="10" name="Shape 10"/>
          <p:cNvSpPr/>
          <p:nvPr/>
        </p:nvSpPr>
        <p:spPr>
          <a:xfrm>
            <a:off x="548640" y="2906864"/>
            <a:ext cx="3840480" cy="420624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11"/>
          <p:cNvSpPr/>
          <p:nvPr/>
        </p:nvSpPr>
        <p:spPr>
          <a:xfrm>
            <a:off x="658368" y="2925152"/>
            <a:ext cx="3621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Layouts Anidados</a:t>
            </a:r>
            <a:endParaRPr lang="es-ES" sz="1000"/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Una vista puede usar un layout que a su vez hereda de otro layout padre.</a:t>
            </a:r>
            <a:endParaRPr lang="es-ES" sz="900"/>
          </a:p>
        </p:txBody>
      </p:sp>
      <p:sp>
        <p:nvSpPr>
          <p:cNvPr id="12" name="Shape 12"/>
          <p:cNvSpPr/>
          <p:nvPr/>
        </p:nvSpPr>
        <p:spPr>
          <a:xfrm>
            <a:off x="548640" y="3400176"/>
            <a:ext cx="3840480" cy="420624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3"/>
          <p:cNvSpPr/>
          <p:nvPr/>
        </p:nvSpPr>
        <p:spPr>
          <a:xfrm>
            <a:off x="658368" y="3418464"/>
            <a:ext cx="3621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@ViewData["Title"]</a:t>
            </a:r>
            <a:endParaRPr lang="es-ES" sz="1000"/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Las vistas hijas pasan datos al layout mediante ViewData o ViewBag.</a:t>
            </a:r>
            <a:endParaRPr lang="es-ES" sz="900"/>
          </a:p>
        </p:txBody>
      </p:sp>
      <p:sp>
        <p:nvSpPr>
          <p:cNvPr id="50" name="Shape 50"/>
          <p:cNvSpPr/>
          <p:nvPr/>
        </p:nvSpPr>
        <p:spPr>
          <a:xfrm>
            <a:off x="4572000" y="914400"/>
            <a:ext cx="4023360" cy="384048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1" name="Shape 51"/>
          <p:cNvSpPr/>
          <p:nvPr/>
        </p:nvSpPr>
        <p:spPr>
          <a:xfrm>
            <a:off x="4572000" y="914400"/>
            <a:ext cx="4023360" cy="292608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2" name="Text 52"/>
          <p:cNvSpPr/>
          <p:nvPr/>
        </p:nvSpPr>
        <p:spPr>
          <a:xfrm>
            <a:off x="4709160" y="9144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_Layout.cshtml</a:t>
            </a:r>
            <a:endParaRPr lang="en-US" sz="800"/>
          </a:p>
        </p:txBody>
      </p:sp>
      <p:sp>
        <p:nvSpPr>
          <p:cNvPr id="53" name="Text 53"/>
          <p:cNvSpPr/>
          <p:nvPr/>
        </p:nvSpPr>
        <p:spPr>
          <a:xfrm>
            <a:off x="4709160" y="1261872"/>
            <a:ext cx="3749040" cy="3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&lt;!DOCTYPE html&gt;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&lt;html&gt;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&lt;head&gt;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&lt;title&gt;</a:t>
            </a: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@ViewData[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"Title"</a:t>
            </a: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]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- Mi App&lt;/title&gt;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800">
                <a:solidFill>
                  <a:srgbClr val="60A5FA"/>
                </a:solidFill>
                <a:latin typeface="Consolas" pitchFamily="34" charset="0"/>
              </a:rPr>
              <a:t>&lt;link rel="stylesheet"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0A5FA"/>
                </a:solidFill>
                <a:latin typeface="Consolas" pitchFamily="34" charset="0"/>
              </a:rPr>
              <a:t>          href="~/css/site.css" /&gt;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&lt;/head&gt;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&lt;body&gt;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&lt;nav&gt;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    </a:t>
            </a: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@await Html.PartialAsync(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            "_NavMenu")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&lt;/nav&gt;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&lt;main&gt;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    </a:t>
            </a:r>
            <a:r>
              <a:rPr lang="en-US" sz="800">
                <a:solidFill>
                  <a:srgbClr val="FB923C"/>
                </a:solidFill>
                <a:latin typeface="Consolas" pitchFamily="34" charset="0"/>
              </a:rPr>
              <a:t>@RenderBody()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&lt;/main&gt;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&lt;footer&gt;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    </a:t>
            </a: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@RenderSection(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            "Scripts",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            required: </a:t>
            </a:r>
            <a:r>
              <a:rPr lang="en-US" sz="800">
                <a:solidFill>
                  <a:srgbClr val="60A5FA"/>
                </a:solidFill>
                <a:latin typeface="Consolas" pitchFamily="34" charset="0"/>
              </a:rPr>
              <a:t>false</a:t>
            </a: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)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&lt;/footer&gt;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&lt;/body&gt;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&lt;/html&gt;</a:t>
            </a:r>
            <a:endParaRPr lang="en-US" sz="800"/>
          </a:p>
        </p:txBody>
      </p:sp>
      <p:sp>
        <p:nvSpPr>
          <p:cNvPr id="60" name="Shape 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Text 6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Core 8.0 — Vistas del MVC: _Layout.cshtml</a:t>
            </a:r>
            <a:endParaRPr lang="es-ES" sz="85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_ViewStart y _ViewImports</a:t>
            </a:r>
            <a:endParaRPr lang="es-ES" sz="240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ES" sz="105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Estos dos archivos especiales configuran globalmente todas las vistas de una carpeta y sus subcarpetas, evitando repetir codigo comun en cada vista individual.</a:t>
            </a:r>
            <a:endParaRPr lang="es-ES" sz="105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de Configuracion Global</a:t>
            </a:r>
            <a:endParaRPr lang="es-ES" sz="1200"/>
          </a:p>
        </p:txBody>
      </p:sp>
      <p:sp>
        <p:nvSpPr>
          <p:cNvPr id="6" name="Shape 6"/>
          <p:cNvSpPr/>
          <p:nvPr/>
        </p:nvSpPr>
        <p:spPr>
          <a:xfrm>
            <a:off x="548640" y="1920240"/>
            <a:ext cx="3840480" cy="420624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7"/>
          <p:cNvSpPr/>
          <p:nvPr/>
        </p:nvSpPr>
        <p:spPr>
          <a:xfrm>
            <a:off x="658368" y="1938528"/>
            <a:ext cx="3621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_ViewStart.cshtml</a:t>
            </a:r>
            <a:endParaRPr lang="es-ES" sz="1000"/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Se ejecuta antes de cada vista. Define el Layout por defecto para todas las vistas de la carpeta.</a:t>
            </a:r>
            <a:endParaRPr lang="es-ES" sz="900"/>
          </a:p>
        </p:txBody>
      </p:sp>
      <p:sp>
        <p:nvSpPr>
          <p:cNvPr id="8" name="Shape 8"/>
          <p:cNvSpPr/>
          <p:nvPr/>
        </p:nvSpPr>
        <p:spPr>
          <a:xfrm>
            <a:off x="548640" y="2413552"/>
            <a:ext cx="3840480" cy="420624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9"/>
          <p:cNvSpPr/>
          <p:nvPr/>
        </p:nvSpPr>
        <p:spPr>
          <a:xfrm>
            <a:off x="658368" y="2431840"/>
            <a:ext cx="3621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_ViewImports.cshtml</a:t>
            </a:r>
            <a:endParaRPr lang="es-ES" sz="1000"/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Importa namespaces, Tag Helpers y directivas @model compartidas entre vistas.</a:t>
            </a:r>
            <a:endParaRPr lang="es-ES" sz="900"/>
          </a:p>
        </p:txBody>
      </p:sp>
      <p:sp>
        <p:nvSpPr>
          <p:cNvPr id="10" name="Shape 10"/>
          <p:cNvSpPr/>
          <p:nvPr/>
        </p:nvSpPr>
        <p:spPr>
          <a:xfrm>
            <a:off x="548640" y="2906864"/>
            <a:ext cx="3840480" cy="420624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11"/>
          <p:cNvSpPr/>
          <p:nvPr/>
        </p:nvSpPr>
        <p:spPr>
          <a:xfrm>
            <a:off x="658368" y="2925152"/>
            <a:ext cx="3621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Jerarquia de Carpetas</a:t>
            </a:r>
            <a:endParaRPr lang="es-ES" sz="1000"/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Multiples archivos _ViewStart/_ViewImports en subcarpetas se ejecutan en cascada (raiz primero).</a:t>
            </a:r>
            <a:endParaRPr lang="es-ES" sz="900"/>
          </a:p>
        </p:txBody>
      </p:sp>
      <p:sp>
        <p:nvSpPr>
          <p:cNvPr id="12" name="Shape 12"/>
          <p:cNvSpPr/>
          <p:nvPr/>
        </p:nvSpPr>
        <p:spPr>
          <a:xfrm>
            <a:off x="548640" y="3400176"/>
            <a:ext cx="3840480" cy="420624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3"/>
          <p:cNvSpPr/>
          <p:nvPr/>
        </p:nvSpPr>
        <p:spPr>
          <a:xfrm>
            <a:off x="658368" y="3418464"/>
            <a:ext cx="3621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Ambito Selectivo</a:t>
            </a:r>
            <a:endParaRPr lang="es-ES" sz="1000"/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Colocar en /Views/Admin/ aplica solo a vistas de Admin; en /Views/ aplica a todas.</a:t>
            </a:r>
            <a:endParaRPr lang="es-ES" sz="900"/>
          </a:p>
        </p:txBody>
      </p:sp>
      <p:sp>
        <p:nvSpPr>
          <p:cNvPr id="50" name="Shape 50"/>
          <p:cNvSpPr/>
          <p:nvPr/>
        </p:nvSpPr>
        <p:spPr>
          <a:xfrm>
            <a:off x="4572000" y="914400"/>
            <a:ext cx="4023360" cy="384048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1" name="Shape 51"/>
          <p:cNvSpPr/>
          <p:nvPr/>
        </p:nvSpPr>
        <p:spPr>
          <a:xfrm>
            <a:off x="4572000" y="914400"/>
            <a:ext cx="4023360" cy="292608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2" name="Text 52"/>
          <p:cNvSpPr/>
          <p:nvPr/>
        </p:nvSpPr>
        <p:spPr>
          <a:xfrm>
            <a:off x="4709160" y="9144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_ViewStart.cshtml + _ViewImports.cshtml</a:t>
            </a:r>
            <a:endParaRPr lang="en-US" sz="800"/>
          </a:p>
        </p:txBody>
      </p:sp>
      <p:sp>
        <p:nvSpPr>
          <p:cNvPr id="53" name="Text 53"/>
          <p:cNvSpPr/>
          <p:nvPr/>
        </p:nvSpPr>
        <p:spPr>
          <a:xfrm>
            <a:off x="4709160" y="1261872"/>
            <a:ext cx="3749040" cy="3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_ViewStart.cshtml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Se ejecuta antes de cada vista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@{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Layout = 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"_Layout"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}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Tambien se puede condicionar: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@{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if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(ViewContext.RouteData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    .Values[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"controller"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]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    .ToString() == 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"Admin"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)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{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    Layout = 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"_AdminLayout"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}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}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─────────────────────────────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_ViewImports.cshtml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@using </a:t>
            </a:r>
            <a:r>
              <a:rPr lang="en-US" sz="800">
                <a:solidFill>
                  <a:srgbClr val="60A5FA"/>
                </a:solidFill>
                <a:latin typeface="Consolas" pitchFamily="34" charset="0"/>
              </a:rPr>
              <a:t>MiApp.Models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@using </a:t>
            </a:r>
            <a:r>
              <a:rPr lang="en-US" sz="800">
                <a:solidFill>
                  <a:srgbClr val="60A5FA"/>
                </a:solidFill>
                <a:latin typeface="Consolas" pitchFamily="34" charset="0"/>
              </a:rPr>
              <a:t>MiApp.ViewModels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@addTagHelper </a:t>
            </a:r>
            <a:r>
              <a:rPr lang="en-US" sz="800">
                <a:solidFill>
                  <a:srgbClr val="60A5FA"/>
                </a:solidFill>
                <a:latin typeface="Consolas" pitchFamily="34" charset="0"/>
              </a:rPr>
              <a:t>*, Microsoft.AspNetCore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800">
                <a:solidFill>
                  <a:srgbClr val="60A5FA"/>
                </a:solidFill>
                <a:latin typeface="Consolas" pitchFamily="34" charset="0"/>
              </a:rPr>
              <a:t>.Mvc.TagHelpers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@addTagHelper </a:t>
            </a:r>
            <a:r>
              <a:rPr lang="en-US" sz="800">
                <a:solidFill>
                  <a:srgbClr val="60A5FA"/>
                </a:solidFill>
                <a:latin typeface="Consolas" pitchFamily="34" charset="0"/>
              </a:rPr>
              <a:t>*, MiApp.TagHelpers</a:t>
            </a:r>
            <a:endParaRPr lang="en-US" sz="800"/>
          </a:p>
        </p:txBody>
      </p:sp>
      <p:sp>
        <p:nvSpPr>
          <p:cNvPr id="60" name="Shape 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Text 6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Core 8.0 — Vistas del MVC: _ViewStart y _ViewImports</a:t>
            </a:r>
            <a:endParaRPr lang="es-ES" sz="85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 Sections</a:t>
            </a:r>
            <a:endParaRPr lang="es-ES" sz="240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ES" sz="105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Las secciones permiten que las vistas hijas inyecten contenido en areas especificas del layout. Son ideales para scripts, estilos o bloques que varian por pagina.</a:t>
            </a:r>
            <a:endParaRPr lang="es-ES" sz="105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@section</a:t>
            </a:r>
            <a:endParaRPr lang="es-ES" sz="1200"/>
          </a:p>
        </p:txBody>
      </p:sp>
      <p:sp>
        <p:nvSpPr>
          <p:cNvPr id="6" name="Shape 6"/>
          <p:cNvSpPr/>
          <p:nvPr/>
        </p:nvSpPr>
        <p:spPr>
          <a:xfrm>
            <a:off x="548640" y="1920240"/>
            <a:ext cx="3840480" cy="420624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7"/>
          <p:cNvSpPr/>
          <p:nvPr/>
        </p:nvSpPr>
        <p:spPr>
          <a:xfrm>
            <a:off x="658368" y="1938528"/>
            <a:ext cx="3621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@section Scripts { }</a:t>
            </a:r>
            <a:endParaRPr lang="es-ES" sz="1000"/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Define un bloque nombrado en la vista hija que se renderiza en el layout.</a:t>
            </a:r>
            <a:endParaRPr lang="es-ES" sz="900"/>
          </a:p>
        </p:txBody>
      </p:sp>
      <p:sp>
        <p:nvSpPr>
          <p:cNvPr id="8" name="Shape 8"/>
          <p:cNvSpPr/>
          <p:nvPr/>
        </p:nvSpPr>
        <p:spPr>
          <a:xfrm>
            <a:off x="548640" y="2413552"/>
            <a:ext cx="3840480" cy="420624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9"/>
          <p:cNvSpPr/>
          <p:nvPr/>
        </p:nvSpPr>
        <p:spPr>
          <a:xfrm>
            <a:off x="658368" y="2431840"/>
            <a:ext cx="3621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@RenderSection()</a:t>
            </a:r>
            <a:endParaRPr lang="es-ES" sz="1000"/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El layout indica donde se renderiza cada seccion nombrada.</a:t>
            </a:r>
            <a:endParaRPr lang="es-ES" sz="900"/>
          </a:p>
        </p:txBody>
      </p:sp>
      <p:sp>
        <p:nvSpPr>
          <p:cNvPr id="10" name="Shape 10"/>
          <p:cNvSpPr/>
          <p:nvPr/>
        </p:nvSpPr>
        <p:spPr>
          <a:xfrm>
            <a:off x="548640" y="2906864"/>
            <a:ext cx="3840480" cy="420624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11"/>
          <p:cNvSpPr/>
          <p:nvPr/>
        </p:nvSpPr>
        <p:spPr>
          <a:xfrm>
            <a:off x="658368" y="2925152"/>
            <a:ext cx="3621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required: true/false</a:t>
            </a:r>
            <a:endParaRPr lang="es-ES" sz="1000"/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Controla si la seccion es obligatoria u opcional en las vistas hijas.</a:t>
            </a:r>
            <a:endParaRPr lang="es-ES" sz="900"/>
          </a:p>
        </p:txBody>
      </p:sp>
      <p:sp>
        <p:nvSpPr>
          <p:cNvPr id="12" name="Shape 12"/>
          <p:cNvSpPr/>
          <p:nvPr/>
        </p:nvSpPr>
        <p:spPr>
          <a:xfrm>
            <a:off x="548640" y="3400176"/>
            <a:ext cx="3840480" cy="420624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3"/>
          <p:cNvSpPr/>
          <p:nvPr/>
        </p:nvSpPr>
        <p:spPr>
          <a:xfrm>
            <a:off x="658368" y="3418464"/>
            <a:ext cx="3621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@await RenderSectionAsync()</a:t>
            </a:r>
            <a:endParaRPr lang="es-ES" sz="1000"/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Version asincrona para secciones con contenido async.</a:t>
            </a:r>
            <a:endParaRPr lang="es-ES" sz="900"/>
          </a:p>
        </p:txBody>
      </p:sp>
      <p:sp>
        <p:nvSpPr>
          <p:cNvPr id="50" name="Shape 50"/>
          <p:cNvSpPr/>
          <p:nvPr/>
        </p:nvSpPr>
        <p:spPr>
          <a:xfrm>
            <a:off x="4572000" y="914400"/>
            <a:ext cx="4023360" cy="384048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1" name="Shape 51"/>
          <p:cNvSpPr/>
          <p:nvPr/>
        </p:nvSpPr>
        <p:spPr>
          <a:xfrm>
            <a:off x="4572000" y="914400"/>
            <a:ext cx="4023360" cy="292608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2" name="Text 52"/>
          <p:cNvSpPr/>
          <p:nvPr/>
        </p:nvSpPr>
        <p:spPr>
          <a:xfrm>
            <a:off x="4709160" y="9144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Vista + Layout (Sections)</a:t>
            </a:r>
            <a:endParaRPr lang="en-US" sz="800"/>
          </a:p>
        </p:txBody>
      </p:sp>
      <p:sp>
        <p:nvSpPr>
          <p:cNvPr id="53" name="Text 53"/>
          <p:cNvSpPr/>
          <p:nvPr/>
        </p:nvSpPr>
        <p:spPr>
          <a:xfrm>
            <a:off x="4709160" y="1261872"/>
            <a:ext cx="3749040" cy="3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En la vista hija (Details.cshtml)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@model </a:t>
            </a:r>
            <a:r>
              <a:rPr lang="en-US" sz="800">
                <a:solidFill>
                  <a:srgbClr val="60A5FA"/>
                </a:solidFill>
                <a:latin typeface="Consolas" pitchFamily="34" charset="0"/>
              </a:rPr>
              <a:t>Producto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&lt;h1&gt;</a:t>
            </a: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@Model.Nombre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&lt;/h1&gt;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&lt;p&gt;Precio: </a:t>
            </a: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@Model.Precio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&lt;/p&gt;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@section </a:t>
            </a: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Styles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{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0A5FA"/>
                </a:solidFill>
                <a:latin typeface="Consolas" pitchFamily="34" charset="0"/>
              </a:rPr>
              <a:t>    &lt;link rel="stylesheet"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0A5FA"/>
                </a:solidFill>
                <a:latin typeface="Consolas" pitchFamily="34" charset="0"/>
              </a:rPr>
              <a:t>          href="~/css/producto.css"/&gt;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}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@section </a:t>
            </a: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Scripts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{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&lt;script&gt;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    </a:t>
            </a: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console.log(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            "Producto cargado");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&lt;/script&gt;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}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─────────────────────────────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En _Layout.cshtml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&lt;head&gt;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@RenderSection(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"Styles"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, 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        required: </a:t>
            </a:r>
            <a:r>
              <a:rPr lang="en-US" sz="800">
                <a:solidFill>
                  <a:srgbClr val="60A5FA"/>
                </a:solidFill>
                <a:latin typeface="Consolas" pitchFamily="34" charset="0"/>
              </a:rPr>
              <a:t>false</a:t>
            </a: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)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&lt;/head&gt;</a:t>
            </a:r>
            <a:endParaRPr lang="en-US" sz="800"/>
          </a:p>
        </p:txBody>
      </p:sp>
      <p:sp>
        <p:nvSpPr>
          <p:cNvPr id="60" name="Shape 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Text 6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Core 8.0 — Vistas del MVC: Razor Sections</a:t>
            </a:r>
            <a:endParaRPr lang="es-ES" sz="85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Helpers en ASP.NET Core 8</a:t>
            </a:r>
          </a:p>
        </p:txBody>
      </p:sp>
      <p:sp>
        <p:nvSpPr>
          <p:cNvPr id="4" name="T2"/>
          <p:cNvSpPr/>
          <p:nvPr/>
        </p:nvSpPr>
        <p:spPr>
          <a:xfrm>
            <a:off x="548640" y="9144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ES" sz="105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Los Tag Helpers son componentes del servidor que participan en la generacion de HTML. Transforman elementos HTML estandar en elementos dinamicos procesados por el servidor.</a:t>
            </a:r>
          </a:p>
        </p:txBody>
      </p:sp>
      <p:sp>
        <p:nvSpPr>
          <p:cNvPr id="5" name="T3"/>
          <p:cNvSpPr/>
          <p:nvPr/>
        </p:nvSpPr>
        <p:spPr>
          <a:xfrm>
            <a:off x="54864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>
                <a:solidFill>
                  <a:srgbClr val="1565C0"/>
                </a:solidFill>
                <a:latin typeface="Calibri" pitchFamily="34" charset="0"/>
              </a:rPr>
              <a:t>Caracteristicas Principales</a:t>
            </a:r>
          </a:p>
        </p:txBody>
      </p:sp>
      <p:sp>
        <p:nvSpPr>
          <p:cNvPr id="6" name="S6"/>
          <p:cNvSpPr/>
          <p:nvPr/>
        </p:nvSpPr>
        <p:spPr>
          <a:xfrm>
            <a:off x="548640" y="1920240"/>
            <a:ext cx="3840480" cy="45720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7"/>
          <p:cNvSpPr/>
          <p:nvPr/>
        </p:nvSpPr>
        <p:spPr>
          <a:xfrm>
            <a:off x="658368" y="193852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Atributos asp-*</a:t>
            </a:r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Atributos especiales que el servidor procesa antes de enviar el HTML al cliente.</a:t>
            </a:r>
          </a:p>
        </p:txBody>
      </p:sp>
      <p:sp>
        <p:nvSpPr>
          <p:cNvPr id="8" name="S8"/>
          <p:cNvSpPr/>
          <p:nvPr/>
        </p:nvSpPr>
        <p:spPr>
          <a:xfrm>
            <a:off x="548640" y="2457440"/>
            <a:ext cx="3840480" cy="4572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9"/>
          <p:cNvSpPr/>
          <p:nvPr/>
        </p:nvSpPr>
        <p:spPr>
          <a:xfrm>
            <a:off x="658368" y="247572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HTML Legible</a:t>
            </a:r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A diferencia de @Html.*, los Tag Helpers mantienen sintaxis HTML nativa y limpia.</a:t>
            </a:r>
          </a:p>
        </p:txBody>
      </p:sp>
      <p:sp>
        <p:nvSpPr>
          <p:cNvPr id="10" name="S10"/>
          <p:cNvSpPr/>
          <p:nvPr/>
        </p:nvSpPr>
        <p:spPr>
          <a:xfrm>
            <a:off x="548640" y="2994640"/>
            <a:ext cx="3840480" cy="4572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11"/>
          <p:cNvSpPr/>
          <p:nvPr/>
        </p:nvSpPr>
        <p:spPr>
          <a:xfrm>
            <a:off x="658368" y="301292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IntelliSense Completo</a:t>
            </a:r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Visual Studio y VS Code ofrecen autocompletado para todos los atributos asp-*.</a:t>
            </a:r>
          </a:p>
        </p:txBody>
      </p:sp>
      <p:sp>
        <p:nvSpPr>
          <p:cNvPr id="12" name="S12"/>
          <p:cNvSpPr/>
          <p:nvPr/>
        </p:nvSpPr>
        <p:spPr>
          <a:xfrm>
            <a:off x="548640" y="3531840"/>
            <a:ext cx="3840480" cy="4572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13"/>
          <p:cNvSpPr/>
          <p:nvPr/>
        </p:nvSpPr>
        <p:spPr>
          <a:xfrm>
            <a:off x="658368" y="355012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@addTagHelper</a:t>
            </a:r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Se registran en _ViewImports.cshtml con la directiva @addTagHelper *, Microsoft.AspNetCore.Mvc.TagHelpers.</a:t>
            </a:r>
          </a:p>
        </p:txBody>
      </p:sp>
      <p:sp>
        <p:nvSpPr>
          <p:cNvPr id="50" name="S50"/>
          <p:cNvSpPr/>
          <p:nvPr/>
        </p:nvSpPr>
        <p:spPr>
          <a:xfrm>
            <a:off x="4572000" y="914400"/>
            <a:ext cx="4023360" cy="384048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1" name="S51"/>
          <p:cNvSpPr/>
          <p:nvPr/>
        </p:nvSpPr>
        <p:spPr>
          <a:xfrm>
            <a:off x="4572000" y="914400"/>
            <a:ext cx="4023360" cy="292608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2" name="T52"/>
          <p:cNvSpPr/>
          <p:nvPr/>
        </p:nvSpPr>
        <p:spPr>
          <a:xfrm>
            <a:off x="4709160" y="9144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_ViewImports.cshtml + Vista</a:t>
            </a:r>
          </a:p>
        </p:txBody>
      </p:sp>
      <p:sp>
        <p:nvSpPr>
          <p:cNvPr id="53" name="T53"/>
          <p:cNvSpPr/>
          <p:nvPr/>
        </p:nvSpPr>
        <p:spPr>
          <a:xfrm>
            <a:off x="4709160" y="1261872"/>
            <a:ext cx="3749040" cy="3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Registro en _ViewImports.cshtml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@addTagHelper 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*,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0A5FA"/>
                </a:solidFill>
                <a:latin typeface="Consolas" pitchFamily="34" charset="0"/>
              </a:rPr>
              <a:t>  Microsoft.AspNetCore.Mvc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0A5FA"/>
                </a:solidFill>
                <a:latin typeface="Consolas" pitchFamily="34" charset="0"/>
              </a:rPr>
              <a:t>  .TagHelpers</a:t>
            </a:r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HTML tradicional (sin Tag Helpers)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@Html.ActionLink(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  "Inicio", "Index", "Home")</a:t>
            </a:r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Equivalente con Tag Helper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&lt;a </a:t>
            </a: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asp-controller=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"Home"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</a:t>
            </a: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asp-action=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"Index"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&gt;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Inicio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&lt;/a&gt;</a:t>
            </a:r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Resultado HTML generado: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FB923C"/>
                </a:solidFill>
                <a:latin typeface="Consolas" pitchFamily="34" charset="0"/>
              </a:rPr>
              <a:t>&lt;a href="/Home/Index"&gt;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FB923C"/>
                </a:solidFill>
                <a:latin typeface="Consolas" pitchFamily="34" charset="0"/>
              </a:rPr>
              <a:t>    Inicio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FB923C"/>
                </a:solidFill>
                <a:latin typeface="Consolas" pitchFamily="34" charset="0"/>
              </a:rPr>
              <a:t>&lt;/a&gt;</a:t>
            </a:r>
          </a:p>
        </p:txBody>
      </p:sp>
      <p:sp>
        <p:nvSpPr>
          <p:cNvPr id="60" name="S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T6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</a:rPr>
              <a:t>.NET Core 8.0 — Vistas del MVC: Tag Helpers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Helpers de Formularios</a:t>
            </a:r>
          </a:p>
        </p:txBody>
      </p:sp>
      <p:sp>
        <p:nvSpPr>
          <p:cNvPr id="4" name="T2"/>
          <p:cNvSpPr/>
          <p:nvPr/>
        </p:nvSpPr>
        <p:spPr>
          <a:xfrm>
            <a:off x="548640" y="9144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ES" sz="105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Form Tag Helper genera formularios HTML con atributos de accion, metodo y proteccion anti-falsificacion automatica. Simplifica la creacion de formularios POST seguros.</a:t>
            </a:r>
          </a:p>
        </p:txBody>
      </p:sp>
      <p:sp>
        <p:nvSpPr>
          <p:cNvPr id="5" name="T3"/>
          <p:cNvSpPr/>
          <p:nvPr/>
        </p:nvSpPr>
        <p:spPr>
          <a:xfrm>
            <a:off x="54864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>
                <a:solidFill>
                  <a:srgbClr val="1565C0"/>
                </a:solidFill>
                <a:latin typeface="Calibri" pitchFamily="34" charset="0"/>
              </a:rPr>
              <a:t>Atributos del Form Tag Helper</a:t>
            </a:r>
          </a:p>
        </p:txBody>
      </p:sp>
      <p:sp>
        <p:nvSpPr>
          <p:cNvPr id="6" name="S6"/>
          <p:cNvSpPr/>
          <p:nvPr/>
        </p:nvSpPr>
        <p:spPr>
          <a:xfrm>
            <a:off x="548640" y="1920240"/>
            <a:ext cx="3840480" cy="45720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7"/>
          <p:cNvSpPr/>
          <p:nvPr/>
        </p:nvSpPr>
        <p:spPr>
          <a:xfrm>
            <a:off x="658368" y="193852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asp-action</a:t>
            </a:r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Define la accion del controlador destino del formulario.</a:t>
            </a:r>
          </a:p>
        </p:txBody>
      </p:sp>
      <p:sp>
        <p:nvSpPr>
          <p:cNvPr id="8" name="S8"/>
          <p:cNvSpPr/>
          <p:nvPr/>
        </p:nvSpPr>
        <p:spPr>
          <a:xfrm>
            <a:off x="548640" y="2457440"/>
            <a:ext cx="3840480" cy="4572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9"/>
          <p:cNvSpPr/>
          <p:nvPr/>
        </p:nvSpPr>
        <p:spPr>
          <a:xfrm>
            <a:off x="658368" y="247572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asp-controller</a:t>
            </a:r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Especifica el controlador que procesara el envio del formulario.</a:t>
            </a:r>
          </a:p>
        </p:txBody>
      </p:sp>
      <p:sp>
        <p:nvSpPr>
          <p:cNvPr id="10" name="S10"/>
          <p:cNvSpPr/>
          <p:nvPr/>
        </p:nvSpPr>
        <p:spPr>
          <a:xfrm>
            <a:off x="548640" y="2994640"/>
            <a:ext cx="3840480" cy="4572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11"/>
          <p:cNvSpPr/>
          <p:nvPr/>
        </p:nvSpPr>
        <p:spPr>
          <a:xfrm>
            <a:off x="658368" y="301292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asp-route-*</a:t>
            </a:r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Agrega parametros de ruta al action URL del formulario.</a:t>
            </a:r>
          </a:p>
        </p:txBody>
      </p:sp>
      <p:sp>
        <p:nvSpPr>
          <p:cNvPr id="12" name="S12"/>
          <p:cNvSpPr/>
          <p:nvPr/>
        </p:nvSpPr>
        <p:spPr>
          <a:xfrm>
            <a:off x="548640" y="3531840"/>
            <a:ext cx="3840480" cy="4572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13"/>
          <p:cNvSpPr/>
          <p:nvPr/>
        </p:nvSpPr>
        <p:spPr>
          <a:xfrm>
            <a:off x="658368" y="355012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Anti-Forgery Token</a:t>
            </a:r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Genera automaticamente un campo oculto __RequestVerificationToken para proteccion CSRF.</a:t>
            </a:r>
          </a:p>
        </p:txBody>
      </p:sp>
      <p:sp>
        <p:nvSpPr>
          <p:cNvPr id="50" name="S50"/>
          <p:cNvSpPr/>
          <p:nvPr/>
        </p:nvSpPr>
        <p:spPr>
          <a:xfrm>
            <a:off x="4572000" y="914400"/>
            <a:ext cx="4023360" cy="384048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1" name="S51"/>
          <p:cNvSpPr/>
          <p:nvPr/>
        </p:nvSpPr>
        <p:spPr>
          <a:xfrm>
            <a:off x="4572000" y="914400"/>
            <a:ext cx="4023360" cy="292608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2" name="T52"/>
          <p:cNvSpPr/>
          <p:nvPr/>
        </p:nvSpPr>
        <p:spPr>
          <a:xfrm>
            <a:off x="4709160" y="9144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Create.cshtml</a:t>
            </a:r>
          </a:p>
        </p:txBody>
      </p:sp>
      <p:sp>
        <p:nvSpPr>
          <p:cNvPr id="53" name="T53"/>
          <p:cNvSpPr/>
          <p:nvPr/>
        </p:nvSpPr>
        <p:spPr>
          <a:xfrm>
            <a:off x="4709160" y="1261872"/>
            <a:ext cx="3749040" cy="3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@model </a:t>
            </a:r>
            <a:r>
              <a:rPr lang="en-US" sz="800">
                <a:solidFill>
                  <a:srgbClr val="60A5FA"/>
                </a:solidFill>
                <a:latin typeface="Consolas" pitchFamily="34" charset="0"/>
              </a:rPr>
              <a:t>ProductoViewModel</a:t>
            </a:r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Formulario basico con Tag Helpers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&lt;form </a:t>
            </a: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asp-action=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"Create"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  </a:t>
            </a: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asp-controller=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"Productos"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  method=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"post"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&gt;</a:t>
            </a:r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&lt;div class=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"form-group"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&gt;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&lt;label </a:t>
            </a: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asp-for=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"Nombre"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/&gt;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&lt;input </a:t>
            </a: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asp-for=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"Nombre"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       class=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"form-control"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/&gt;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&lt;span </a:t>
            </a: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asp-validation-for=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          "Nombre"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/&gt;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&lt;/div&gt;</a:t>
            </a:r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&lt;button type=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"submit"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&gt;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Guardar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&lt;/button&gt;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&lt;/form&gt;</a:t>
            </a:r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Genera: &lt;input name=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"__RequestVerificationToken"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type="hidden" value="..."/&gt;</a:t>
            </a:r>
          </a:p>
        </p:txBody>
      </p:sp>
      <p:sp>
        <p:nvSpPr>
          <p:cNvPr id="60" name="S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T6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</a:rPr>
              <a:t>.NET Core 8.0 — Vistas del MVC: Form Tag Helper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Helpers de Input y Label</a:t>
            </a:r>
          </a:p>
        </p:txBody>
      </p:sp>
      <p:sp>
        <p:nvSpPr>
          <p:cNvPr id="4" name="T2"/>
          <p:cNvSpPr/>
          <p:nvPr/>
        </p:nvSpPr>
        <p:spPr>
          <a:xfrm>
            <a:off x="548640" y="9144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ES" sz="105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Input Tag Helper genera automaticamente el atributo type, name y value segun el tipo de propiedad del modelo. El Label Tag Helper genera etiquetas asociadas al campo.</a:t>
            </a:r>
          </a:p>
        </p:txBody>
      </p:sp>
      <p:sp>
        <p:nvSpPr>
          <p:cNvPr id="5" name="T3"/>
          <p:cNvSpPr/>
          <p:nvPr/>
        </p:nvSpPr>
        <p:spPr>
          <a:xfrm>
            <a:off x="54864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>
                <a:solidFill>
                  <a:srgbClr val="1565C0"/>
                </a:solidFill>
                <a:latin typeface="Calibri" pitchFamily="34" charset="0"/>
              </a:rPr>
              <a:t>Mapeo Automatico de Tipos</a:t>
            </a:r>
          </a:p>
        </p:txBody>
      </p:sp>
      <p:sp>
        <p:nvSpPr>
          <p:cNvPr id="6" name="S6"/>
          <p:cNvSpPr/>
          <p:nvPr/>
        </p:nvSpPr>
        <p:spPr>
          <a:xfrm>
            <a:off x="548640" y="1920240"/>
            <a:ext cx="3840480" cy="45720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7"/>
          <p:cNvSpPr/>
          <p:nvPr/>
        </p:nvSpPr>
        <p:spPr>
          <a:xfrm>
            <a:off x="658368" y="193852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string -&gt; text</a:t>
            </a:r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Propiedades string generan &lt;input type="text"&gt; por defecto.</a:t>
            </a:r>
          </a:p>
        </p:txBody>
      </p:sp>
      <p:sp>
        <p:nvSpPr>
          <p:cNvPr id="8" name="S8"/>
          <p:cNvSpPr/>
          <p:nvPr/>
        </p:nvSpPr>
        <p:spPr>
          <a:xfrm>
            <a:off x="548640" y="2457440"/>
            <a:ext cx="3840480" cy="4572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9"/>
          <p:cNvSpPr/>
          <p:nvPr/>
        </p:nvSpPr>
        <p:spPr>
          <a:xfrm>
            <a:off x="658368" y="247572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bool -&gt; checkbox</a:t>
            </a:r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Propiedades bool generan &lt;input type="checkbox"&gt; automaticamente.</a:t>
            </a:r>
          </a:p>
        </p:txBody>
      </p:sp>
      <p:sp>
        <p:nvSpPr>
          <p:cNvPr id="10" name="S10"/>
          <p:cNvSpPr/>
          <p:nvPr/>
        </p:nvSpPr>
        <p:spPr>
          <a:xfrm>
            <a:off x="548640" y="2994640"/>
            <a:ext cx="3840480" cy="4572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11"/>
          <p:cNvSpPr/>
          <p:nvPr/>
        </p:nvSpPr>
        <p:spPr>
          <a:xfrm>
            <a:off x="658368" y="301292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[DataType(Date)]</a:t>
            </a:r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Data Annotations controlan el tipo: Date, Email, Password, Phone, Url.</a:t>
            </a:r>
          </a:p>
        </p:txBody>
      </p:sp>
      <p:sp>
        <p:nvSpPr>
          <p:cNvPr id="12" name="S12"/>
          <p:cNvSpPr/>
          <p:nvPr/>
        </p:nvSpPr>
        <p:spPr>
          <a:xfrm>
            <a:off x="548640" y="3531840"/>
            <a:ext cx="3840480" cy="4572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13"/>
          <p:cNvSpPr/>
          <p:nvPr/>
        </p:nvSpPr>
        <p:spPr>
          <a:xfrm>
            <a:off x="658368" y="355012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[Display(Name)]</a:t>
            </a:r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El Label Tag Helper usa [Display(Name)] para generar el texto visible.</a:t>
            </a:r>
          </a:p>
        </p:txBody>
      </p:sp>
      <p:sp>
        <p:nvSpPr>
          <p:cNvPr id="50" name="S50"/>
          <p:cNvSpPr/>
          <p:nvPr/>
        </p:nvSpPr>
        <p:spPr>
          <a:xfrm>
            <a:off x="4572000" y="914400"/>
            <a:ext cx="4023360" cy="384048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1" name="S51"/>
          <p:cNvSpPr/>
          <p:nvPr/>
        </p:nvSpPr>
        <p:spPr>
          <a:xfrm>
            <a:off x="4572000" y="914400"/>
            <a:ext cx="4023360" cy="292608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2" name="T52"/>
          <p:cNvSpPr/>
          <p:nvPr/>
        </p:nvSpPr>
        <p:spPr>
          <a:xfrm>
            <a:off x="4709160" y="9144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Modelo + Vista</a:t>
            </a:r>
          </a:p>
        </p:txBody>
      </p:sp>
      <p:sp>
        <p:nvSpPr>
          <p:cNvPr id="53" name="T53"/>
          <p:cNvSpPr/>
          <p:nvPr/>
        </p:nvSpPr>
        <p:spPr>
          <a:xfrm>
            <a:off x="4709160" y="1261872"/>
            <a:ext cx="3749040" cy="3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Modelo con Data Annotations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public class </a:t>
            </a:r>
            <a:r>
              <a:rPr lang="en-US" sz="800">
                <a:solidFill>
                  <a:srgbClr val="60A5FA"/>
                </a:solidFill>
                <a:latin typeface="Consolas" pitchFamily="34" charset="0"/>
              </a:rPr>
              <a:t>Producto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{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  [Display(Name = 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"Nombre del Producto"</a:t>
            </a: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)]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  [Required]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public string 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Nombre { get; set; }</a:t>
            </a:r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  [DataType(DataType.Currency)]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public decimal 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Precio { get; set; }</a:t>
            </a:r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  [DataType(DataType.Date)]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public DateTime 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FechaAlta { get; set; }</a:t>
            </a:r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public bool 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Activo { get; set; }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}</a:t>
            </a:r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Vista con Tag Helpers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&lt;label </a:t>
            </a: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asp-for=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"Nombre"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/&gt;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Genera: Nombre del Producto</a:t>
            </a:r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&lt;input </a:t>
            </a: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asp-for=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"FechaAlta"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/&gt;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Genera: &lt;input type="date"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  name="FechaAlta" /&gt;</a:t>
            </a:r>
          </a:p>
        </p:txBody>
      </p:sp>
      <p:sp>
        <p:nvSpPr>
          <p:cNvPr id="60" name="S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T6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</a:rPr>
              <a:t>.NET Core 8.0 — Vistas del MVC: Input y Label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Helpers de Select y Textarea</a:t>
            </a:r>
          </a:p>
        </p:txBody>
      </p:sp>
      <p:sp>
        <p:nvSpPr>
          <p:cNvPr id="4" name="T2"/>
          <p:cNvSpPr/>
          <p:nvPr/>
        </p:nvSpPr>
        <p:spPr>
          <a:xfrm>
            <a:off x="548640" y="9144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ES" sz="105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Select Tag Helper genera listas desplegables vinculadas al modelo. El Textarea Tag Helper genera areas de texto multilinea con binding automatico al modelo.</a:t>
            </a:r>
          </a:p>
        </p:txBody>
      </p:sp>
      <p:sp>
        <p:nvSpPr>
          <p:cNvPr id="5" name="T3"/>
          <p:cNvSpPr/>
          <p:nvPr/>
        </p:nvSpPr>
        <p:spPr>
          <a:xfrm>
            <a:off x="54864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>
                <a:solidFill>
                  <a:srgbClr val="1565C0"/>
                </a:solidFill>
                <a:latin typeface="Calibri" pitchFamily="34" charset="0"/>
              </a:rPr>
              <a:t>Componentes de Seleccion</a:t>
            </a:r>
          </a:p>
        </p:txBody>
      </p:sp>
      <p:sp>
        <p:nvSpPr>
          <p:cNvPr id="6" name="S6"/>
          <p:cNvSpPr/>
          <p:nvPr/>
        </p:nvSpPr>
        <p:spPr>
          <a:xfrm>
            <a:off x="548640" y="1920240"/>
            <a:ext cx="3840480" cy="45720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7"/>
          <p:cNvSpPr/>
          <p:nvPr/>
        </p:nvSpPr>
        <p:spPr>
          <a:xfrm>
            <a:off x="658368" y="193852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asp-for + asp-items</a:t>
            </a:r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asp-for vincula al modelo; asp-items provee las opciones desde un SelectList o enum.</a:t>
            </a:r>
          </a:p>
        </p:txBody>
      </p:sp>
      <p:sp>
        <p:nvSpPr>
          <p:cNvPr id="8" name="S8"/>
          <p:cNvSpPr/>
          <p:nvPr/>
        </p:nvSpPr>
        <p:spPr>
          <a:xfrm>
            <a:off x="548640" y="2457440"/>
            <a:ext cx="3840480" cy="4572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9"/>
          <p:cNvSpPr/>
          <p:nvPr/>
        </p:nvSpPr>
        <p:spPr>
          <a:xfrm>
            <a:off x="658368" y="247572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SelectList desde Controller</a:t>
            </a:r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ViewBag.Categorias = new SelectList(lista, "Id", "Nombre");</a:t>
            </a:r>
          </a:p>
        </p:txBody>
      </p:sp>
      <p:sp>
        <p:nvSpPr>
          <p:cNvPr id="10" name="S10"/>
          <p:cNvSpPr/>
          <p:nvPr/>
        </p:nvSpPr>
        <p:spPr>
          <a:xfrm>
            <a:off x="548640" y="2994640"/>
            <a:ext cx="3840480" cy="4572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11"/>
          <p:cNvSpPr/>
          <p:nvPr/>
        </p:nvSpPr>
        <p:spPr>
          <a:xfrm>
            <a:off x="658368" y="301292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Enum como opciones</a:t>
            </a:r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asp-items="Html.GetEnumSelectList&lt;T&gt;()" genera opciones desde un enum C#.</a:t>
            </a:r>
          </a:p>
        </p:txBody>
      </p:sp>
      <p:sp>
        <p:nvSpPr>
          <p:cNvPr id="12" name="S12"/>
          <p:cNvSpPr/>
          <p:nvPr/>
        </p:nvSpPr>
        <p:spPr>
          <a:xfrm>
            <a:off x="548640" y="3531840"/>
            <a:ext cx="3840480" cy="4572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13"/>
          <p:cNvSpPr/>
          <p:nvPr/>
        </p:nvSpPr>
        <p:spPr>
          <a:xfrm>
            <a:off x="658368" y="355012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Textarea Tag Helper</a:t>
            </a:r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&lt;textarea asp-for="Descripcion"&gt; genera un area de texto vinculada al modelo.</a:t>
            </a:r>
          </a:p>
        </p:txBody>
      </p:sp>
      <p:sp>
        <p:nvSpPr>
          <p:cNvPr id="50" name="S50"/>
          <p:cNvSpPr/>
          <p:nvPr/>
        </p:nvSpPr>
        <p:spPr>
          <a:xfrm>
            <a:off x="4572000" y="914400"/>
            <a:ext cx="4023360" cy="384048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1" name="S51"/>
          <p:cNvSpPr/>
          <p:nvPr/>
        </p:nvSpPr>
        <p:spPr>
          <a:xfrm>
            <a:off x="4572000" y="914400"/>
            <a:ext cx="4023360" cy="292608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2" name="T52"/>
          <p:cNvSpPr/>
          <p:nvPr/>
        </p:nvSpPr>
        <p:spPr>
          <a:xfrm>
            <a:off x="4709160" y="9144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Select + Textarea</a:t>
            </a:r>
          </a:p>
        </p:txBody>
      </p:sp>
      <p:sp>
        <p:nvSpPr>
          <p:cNvPr id="53" name="T53"/>
          <p:cNvSpPr/>
          <p:nvPr/>
        </p:nvSpPr>
        <p:spPr>
          <a:xfrm>
            <a:off x="4709160" y="1261872"/>
            <a:ext cx="3749040" cy="3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Controller: preparar SelectList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ViewBag.Categorias = </a:t>
            </a: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new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  SelectList(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categorias,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  "Id", "Nombre"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);</a:t>
            </a:r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Vista: Select con SelectList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&lt;select </a:t>
            </a: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asp-for=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"CategoriaId"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    </a:t>
            </a: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asp-items=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      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"ViewBag.Categorias"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&gt;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&lt;option value=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""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&gt;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-- Seleccione --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&lt;/option&gt;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&lt;/select&gt;</a:t>
            </a:r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Select desde Enum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&lt;select </a:t>
            </a: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asp-for=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"Estado"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asp-items=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"Html.GetEnumSelectList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      &lt;EstadoPedido&gt;()"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&gt;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&lt;/select&gt;</a:t>
            </a:r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Textarea vinculado al modelo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&lt;textarea </a:t>
            </a: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asp-for=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"Descripcion"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rows=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"5"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class=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"form-control"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&lt;/textarea&gt;</a:t>
            </a:r>
          </a:p>
        </p:txBody>
      </p:sp>
      <p:sp>
        <p:nvSpPr>
          <p:cNvPr id="60" name="S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T6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</a:rPr>
              <a:t>.NET Core 8.0 — Vistas del MVC: Select y Textarea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Helpers de Validacion</a:t>
            </a:r>
          </a:p>
        </p:txBody>
      </p:sp>
      <p:sp>
        <p:nvSpPr>
          <p:cNvPr id="4" name="T2"/>
          <p:cNvSpPr/>
          <p:nvPr/>
        </p:nvSpPr>
        <p:spPr>
          <a:xfrm>
            <a:off x="548640" y="9144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ES" sz="105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Los Tag Helpers de validacion muestran mensajes de error del servidor y habilitan validacion del lado del cliente con jQuery Validation Unobtrusive automaticamente.</a:t>
            </a:r>
          </a:p>
        </p:txBody>
      </p:sp>
      <p:sp>
        <p:nvSpPr>
          <p:cNvPr id="5" name="T3"/>
          <p:cNvSpPr/>
          <p:nvPr/>
        </p:nvSpPr>
        <p:spPr>
          <a:xfrm>
            <a:off x="54864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>
                <a:solidFill>
                  <a:srgbClr val="1565C0"/>
                </a:solidFill>
                <a:latin typeface="Calibri" pitchFamily="34" charset="0"/>
              </a:rPr>
              <a:t>Componentes de Validacion</a:t>
            </a:r>
          </a:p>
        </p:txBody>
      </p:sp>
      <p:sp>
        <p:nvSpPr>
          <p:cNvPr id="6" name="S6"/>
          <p:cNvSpPr/>
          <p:nvPr/>
        </p:nvSpPr>
        <p:spPr>
          <a:xfrm>
            <a:off x="548640" y="1920240"/>
            <a:ext cx="3840480" cy="45720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7"/>
          <p:cNvSpPr/>
          <p:nvPr/>
        </p:nvSpPr>
        <p:spPr>
          <a:xfrm>
            <a:off x="658368" y="193852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asp-validation-for</a:t>
            </a:r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Muestra el mensaje de error asociado a una propiedad especifica del modelo.</a:t>
            </a:r>
          </a:p>
        </p:txBody>
      </p:sp>
      <p:sp>
        <p:nvSpPr>
          <p:cNvPr id="8" name="S8"/>
          <p:cNvSpPr/>
          <p:nvPr/>
        </p:nvSpPr>
        <p:spPr>
          <a:xfrm>
            <a:off x="548640" y="2457440"/>
            <a:ext cx="3840480" cy="4572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9"/>
          <p:cNvSpPr/>
          <p:nvPr/>
        </p:nvSpPr>
        <p:spPr>
          <a:xfrm>
            <a:off x="658368" y="247572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asp-validation-summary</a:t>
            </a:r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Muestra un resumen de todos los errores: All, ModelOnly o None.</a:t>
            </a:r>
          </a:p>
        </p:txBody>
      </p:sp>
      <p:sp>
        <p:nvSpPr>
          <p:cNvPr id="10" name="S10"/>
          <p:cNvSpPr/>
          <p:nvPr/>
        </p:nvSpPr>
        <p:spPr>
          <a:xfrm>
            <a:off x="548640" y="2994640"/>
            <a:ext cx="3840480" cy="4572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11"/>
          <p:cNvSpPr/>
          <p:nvPr/>
        </p:nvSpPr>
        <p:spPr>
          <a:xfrm>
            <a:off x="658368" y="301292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 dirty="0">
                <a:solidFill>
                  <a:srgbClr val="0D47A1"/>
                </a:solidFill>
                <a:latin typeface="Calibri" pitchFamily="34" charset="0"/>
              </a:rPr>
              <a:t>jQuery </a:t>
            </a:r>
            <a:r>
              <a:rPr lang="es-ES" sz="1000" b="1" dirty="0" err="1">
                <a:solidFill>
                  <a:srgbClr val="0D47A1"/>
                </a:solidFill>
                <a:latin typeface="Calibri" pitchFamily="34" charset="0"/>
              </a:rPr>
              <a:t>Unobtrusive</a:t>
            </a:r>
            <a:endParaRPr lang="es-ES" sz="1000" b="1" dirty="0">
              <a:solidFill>
                <a:srgbClr val="0D47A1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es-ES" sz="900" dirty="0">
                <a:solidFill>
                  <a:srgbClr val="616161"/>
                </a:solidFill>
                <a:latin typeface="Calibri Light" pitchFamily="34" charset="0"/>
              </a:rPr>
              <a:t>Genera atributos data-val-* que habilitan </a:t>
            </a:r>
            <a:r>
              <a:rPr lang="es-ES" sz="900" dirty="0" err="1">
                <a:solidFill>
                  <a:srgbClr val="616161"/>
                </a:solidFill>
                <a:latin typeface="Calibri Light" pitchFamily="34" charset="0"/>
              </a:rPr>
              <a:t>validacion</a:t>
            </a:r>
            <a:r>
              <a:rPr lang="es-ES" sz="900" dirty="0">
                <a:solidFill>
                  <a:srgbClr val="616161"/>
                </a:solidFill>
                <a:latin typeface="Calibri Light" pitchFamily="34" charset="0"/>
              </a:rPr>
              <a:t> del lado del cliente sin escribir JS.</a:t>
            </a:r>
          </a:p>
        </p:txBody>
      </p:sp>
      <p:sp>
        <p:nvSpPr>
          <p:cNvPr id="12" name="S12"/>
          <p:cNvSpPr/>
          <p:nvPr/>
        </p:nvSpPr>
        <p:spPr>
          <a:xfrm>
            <a:off x="548640" y="3531840"/>
            <a:ext cx="3840480" cy="4572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13"/>
          <p:cNvSpPr/>
          <p:nvPr/>
        </p:nvSpPr>
        <p:spPr>
          <a:xfrm>
            <a:off x="658368" y="355012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Mensajes Personalizados</a:t>
            </a:r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[Required(ErrorMessage="...")] define mensajes de error personalizados.</a:t>
            </a:r>
          </a:p>
        </p:txBody>
      </p:sp>
      <p:sp>
        <p:nvSpPr>
          <p:cNvPr id="50" name="S50"/>
          <p:cNvSpPr/>
          <p:nvPr/>
        </p:nvSpPr>
        <p:spPr>
          <a:xfrm>
            <a:off x="4572000" y="914400"/>
            <a:ext cx="4023360" cy="384048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1" name="S51"/>
          <p:cNvSpPr/>
          <p:nvPr/>
        </p:nvSpPr>
        <p:spPr>
          <a:xfrm>
            <a:off x="4572000" y="914400"/>
            <a:ext cx="4023360" cy="292608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2" name="T52"/>
          <p:cNvSpPr/>
          <p:nvPr/>
        </p:nvSpPr>
        <p:spPr>
          <a:xfrm>
            <a:off x="4709160" y="9144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Validacion completa</a:t>
            </a:r>
          </a:p>
        </p:txBody>
      </p:sp>
      <p:sp>
        <p:nvSpPr>
          <p:cNvPr id="53" name="T53"/>
          <p:cNvSpPr/>
          <p:nvPr/>
        </p:nvSpPr>
        <p:spPr>
          <a:xfrm>
            <a:off x="4709160" y="1261872"/>
            <a:ext cx="3749040" cy="3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Modelo con validacion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[Required(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  ErrorMessage = "Nombre requerido"</a:t>
            </a: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)]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[StringLength(100)]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public string 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Nombre { get; set; }</a:t>
            </a:r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[Range(0.01, 99999,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  ErrorMessage = "Precio invalido"</a:t>
            </a: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)]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public decimal 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Precio { get; set; }</a:t>
            </a:r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Vista con validacion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&lt;div </a:t>
            </a: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asp-validation-summary=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    "ModelOnly"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&gt;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&lt;/div&gt;</a:t>
            </a:r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&lt;input </a:t>
            </a: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asp-for=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"Nombre"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/&gt;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&lt;span </a:t>
            </a: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asp-validation-for=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    "Nombre"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    class="text-danger"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/&gt;</a:t>
            </a:r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Scripts de validacion cliente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@section </a:t>
            </a: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Scripts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{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  @{await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    Html.RenderPartialAsync(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      "_ValidationScriptsPartial"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);}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}</a:t>
            </a:r>
          </a:p>
        </p:txBody>
      </p:sp>
      <p:sp>
        <p:nvSpPr>
          <p:cNvPr id="60" name="S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T6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</a:rPr>
              <a:t>.NET Core 8.0 — Vistas del MVC: Validacion Tag Helpers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Unobtrusive Validation</a:t>
            </a:r>
          </a:p>
        </p:txBody>
      </p:sp>
      <p:sp>
        <p:nvSpPr>
          <p:cNvPr id="4" name="T2"/>
          <p:cNvSpPr/>
          <p:nvPr/>
        </p:nvSpPr>
        <p:spPr>
          <a:xfrm>
            <a:off x="548640" y="9144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ES" sz="105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jQuery Unobtrusive traduce las Data Annotations de C# en atributos data-val-* del HTML, habilitando validacion del lado del cliente sin escribir JavaScript manualmente.</a:t>
            </a:r>
          </a:p>
        </p:txBody>
      </p:sp>
      <p:sp>
        <p:nvSpPr>
          <p:cNvPr id="5" name="T3"/>
          <p:cNvSpPr/>
          <p:nvPr/>
        </p:nvSpPr>
        <p:spPr>
          <a:xfrm>
            <a:off x="54864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>
                <a:solidFill>
                  <a:srgbClr val="1565C0"/>
                </a:solidFill>
                <a:latin typeface="Calibri" pitchFamily="34" charset="0"/>
              </a:rPr>
              <a:t>Como Funciona</a:t>
            </a:r>
          </a:p>
        </p:txBody>
      </p:sp>
      <p:sp>
        <p:nvSpPr>
          <p:cNvPr id="6" name="S6"/>
          <p:cNvSpPr/>
          <p:nvPr/>
        </p:nvSpPr>
        <p:spPr>
          <a:xfrm>
            <a:off x="548640" y="1920240"/>
            <a:ext cx="3840480" cy="45720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7"/>
          <p:cNvSpPr/>
          <p:nvPr/>
        </p:nvSpPr>
        <p:spPr>
          <a:xfrm>
            <a:off x="658368" y="193852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Atributos data-val-*</a:t>
            </a:r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Cada Data Annotation genera atributos data-val en el HTML que jQuery Validate lee automaticamente.</a:t>
            </a:r>
          </a:p>
        </p:txBody>
      </p:sp>
      <p:sp>
        <p:nvSpPr>
          <p:cNvPr id="8" name="S8"/>
          <p:cNvSpPr/>
          <p:nvPr/>
        </p:nvSpPr>
        <p:spPr>
          <a:xfrm>
            <a:off x="548640" y="2457440"/>
            <a:ext cx="3840480" cy="4572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9"/>
          <p:cNvSpPr/>
          <p:nvPr/>
        </p:nvSpPr>
        <p:spPr>
          <a:xfrm>
            <a:off x="658368" y="247572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Sin JavaScript Manual</a:t>
            </a:r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No se necesita escribir JS de validacion. Las librerias leen los atributos data-val y aplican las reglas.</a:t>
            </a:r>
          </a:p>
        </p:txBody>
      </p:sp>
      <p:sp>
        <p:nvSpPr>
          <p:cNvPr id="10" name="S10"/>
          <p:cNvSpPr/>
          <p:nvPr/>
        </p:nvSpPr>
        <p:spPr>
          <a:xfrm>
            <a:off x="548640" y="2994640"/>
            <a:ext cx="3840480" cy="4572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11"/>
          <p:cNvSpPr/>
          <p:nvPr/>
        </p:nvSpPr>
        <p:spPr>
          <a:xfrm>
            <a:off x="658368" y="301292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_ValidationScriptsPartial</a:t>
            </a:r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Vista parcial que incluye jquery.validate.min.js y jquery.validate.unobtrusive.min.js.</a:t>
            </a:r>
          </a:p>
        </p:txBody>
      </p:sp>
      <p:sp>
        <p:nvSpPr>
          <p:cNvPr id="12" name="S12"/>
          <p:cNvSpPr/>
          <p:nvPr/>
        </p:nvSpPr>
        <p:spPr>
          <a:xfrm>
            <a:off x="548640" y="3531840"/>
            <a:ext cx="3840480" cy="4572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13"/>
          <p:cNvSpPr/>
          <p:nvPr/>
        </p:nvSpPr>
        <p:spPr>
          <a:xfrm>
            <a:off x="658368" y="355012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Validacion Dual (Cliente + Servidor)</a:t>
            </a:r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Las mismas reglas se ejecutan en el navegador y en el servidor. Nunca confiar solo en el cliente.</a:t>
            </a:r>
          </a:p>
        </p:txBody>
      </p:sp>
      <p:sp>
        <p:nvSpPr>
          <p:cNvPr id="50" name="S50"/>
          <p:cNvSpPr/>
          <p:nvPr/>
        </p:nvSpPr>
        <p:spPr>
          <a:xfrm>
            <a:off x="4572000" y="914400"/>
            <a:ext cx="4023360" cy="384048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1" name="S51"/>
          <p:cNvSpPr/>
          <p:nvPr/>
        </p:nvSpPr>
        <p:spPr>
          <a:xfrm>
            <a:off x="4572000" y="914400"/>
            <a:ext cx="4023360" cy="292608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2" name="T52"/>
          <p:cNvSpPr/>
          <p:nvPr/>
        </p:nvSpPr>
        <p:spPr>
          <a:xfrm>
            <a:off x="4709160" y="9144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Modelo + Vista + HTML generado</a:t>
            </a:r>
          </a:p>
        </p:txBody>
      </p:sp>
      <p:sp>
        <p:nvSpPr>
          <p:cNvPr id="53" name="T53"/>
          <p:cNvSpPr/>
          <p:nvPr/>
        </p:nvSpPr>
        <p:spPr>
          <a:xfrm>
            <a:off x="4709160" y="1261872"/>
            <a:ext cx="3749040" cy="3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1. Modelo con Data Annotations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[Required(ErrorMessage = 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"Requerido"</a:t>
            </a: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)]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[StringLength(50)]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public string 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Nombre { get; set; }</a:t>
            </a:r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2. Vista con Tag Helper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&lt;input </a:t>
            </a: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asp-for=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"Nombre"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/&gt;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&lt;span </a:t>
            </a: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asp-validation-for=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"Nombre"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/&gt;</a:t>
            </a:r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3. HTML generado automaticamente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FB923C"/>
                </a:solidFill>
                <a:latin typeface="Consolas" pitchFamily="34" charset="0"/>
              </a:rPr>
              <a:t>&lt;input name="Nombre"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FB923C"/>
                </a:solidFill>
                <a:latin typeface="Consolas" pitchFamily="34" charset="0"/>
              </a:rPr>
              <a:t>  data-val="true"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FB923C"/>
                </a:solidFill>
                <a:latin typeface="Consolas" pitchFamily="34" charset="0"/>
              </a:rPr>
              <a:t>  data-val-required="Requerido"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FB923C"/>
                </a:solidFill>
                <a:latin typeface="Consolas" pitchFamily="34" charset="0"/>
              </a:rPr>
              <a:t>  data-val-length="max 50"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FB923C"/>
                </a:solidFill>
                <a:latin typeface="Consolas" pitchFamily="34" charset="0"/>
              </a:rPr>
              <a:t>  data-val-length-max="50" /&gt;</a:t>
            </a:r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4. Incluir scripts en la vista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@section</a:t>
            </a: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 Scripts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{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&lt;partial name=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"_ValidationScripts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    Partial"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/&gt;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}</a:t>
            </a:r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Carga: jquery.validate.min.js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+ jquery.validate.unobtrusive.js</a:t>
            </a:r>
          </a:p>
        </p:txBody>
      </p:sp>
      <p:sp>
        <p:nvSpPr>
          <p:cNvPr id="60" name="S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T6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</a:rPr>
              <a:t>.NET Core 8.0 — Vistas del MVC: jQuery Unobtrusive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Helpers de Enlaces y Recursos</a:t>
            </a:r>
          </a:p>
        </p:txBody>
      </p:sp>
      <p:sp>
        <p:nvSpPr>
          <p:cNvPr id="4" name="T2"/>
          <p:cNvSpPr/>
          <p:nvPr/>
        </p:nvSpPr>
        <p:spPr>
          <a:xfrm>
            <a:off x="548640" y="9144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ES" sz="105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ASP.NET Core ofrece Tag Helpers para enlaces de navegacion, imagenes con cache-busting, estilos condicionales por entorno y scripts con fallback de CDN.</a:t>
            </a:r>
          </a:p>
        </p:txBody>
      </p:sp>
      <p:sp>
        <p:nvSpPr>
          <p:cNvPr id="5" name="T3"/>
          <p:cNvSpPr/>
          <p:nvPr/>
        </p:nvSpPr>
        <p:spPr>
          <a:xfrm>
            <a:off x="54864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>
                <a:solidFill>
                  <a:srgbClr val="1565C0"/>
                </a:solidFill>
                <a:latin typeface="Calibri" pitchFamily="34" charset="0"/>
              </a:rPr>
              <a:t>Tag Helpers de Infraestructura</a:t>
            </a:r>
          </a:p>
        </p:txBody>
      </p:sp>
      <p:sp>
        <p:nvSpPr>
          <p:cNvPr id="6" name="S6"/>
          <p:cNvSpPr/>
          <p:nvPr/>
        </p:nvSpPr>
        <p:spPr>
          <a:xfrm>
            <a:off x="548640" y="1920240"/>
            <a:ext cx="3840480" cy="45720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7"/>
          <p:cNvSpPr/>
          <p:nvPr/>
        </p:nvSpPr>
        <p:spPr>
          <a:xfrm>
            <a:off x="658368" y="193852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Anchor Tag Helper</a:t>
            </a:r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&lt;a asp-action asp-controller asp-route-id&gt; genera URLs tipadas al controlador.</a:t>
            </a:r>
          </a:p>
        </p:txBody>
      </p:sp>
      <p:sp>
        <p:nvSpPr>
          <p:cNvPr id="8" name="S8"/>
          <p:cNvSpPr/>
          <p:nvPr/>
        </p:nvSpPr>
        <p:spPr>
          <a:xfrm>
            <a:off x="548640" y="2457440"/>
            <a:ext cx="3840480" cy="4572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9"/>
          <p:cNvSpPr/>
          <p:nvPr/>
        </p:nvSpPr>
        <p:spPr>
          <a:xfrm>
            <a:off x="658368" y="247572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Image Tag Helper</a:t>
            </a:r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&lt;img asp-append-version&gt; agrega un hash al src para invalidar cache del navegador.</a:t>
            </a:r>
          </a:p>
        </p:txBody>
      </p:sp>
      <p:sp>
        <p:nvSpPr>
          <p:cNvPr id="10" name="S10"/>
          <p:cNvSpPr/>
          <p:nvPr/>
        </p:nvSpPr>
        <p:spPr>
          <a:xfrm>
            <a:off x="548640" y="2994640"/>
            <a:ext cx="3840480" cy="4572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11"/>
          <p:cNvSpPr/>
          <p:nvPr/>
        </p:nvSpPr>
        <p:spPr>
          <a:xfrm>
            <a:off x="658368" y="301292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Environment Tag Helper</a:t>
            </a:r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&lt;environment include="Development"&gt; renderiza contenido solo en ciertos entornos.</a:t>
            </a:r>
          </a:p>
        </p:txBody>
      </p:sp>
      <p:sp>
        <p:nvSpPr>
          <p:cNvPr id="12" name="S12"/>
          <p:cNvSpPr/>
          <p:nvPr/>
        </p:nvSpPr>
        <p:spPr>
          <a:xfrm>
            <a:off x="548640" y="3531840"/>
            <a:ext cx="3840480" cy="4572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13"/>
          <p:cNvSpPr/>
          <p:nvPr/>
        </p:nvSpPr>
        <p:spPr>
          <a:xfrm>
            <a:off x="658368" y="355012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Link/Script Fallback</a:t>
            </a:r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asp-fallback-href permite cargar un recurso local si el CDN no responde.</a:t>
            </a:r>
          </a:p>
        </p:txBody>
      </p:sp>
      <p:sp>
        <p:nvSpPr>
          <p:cNvPr id="50" name="S50"/>
          <p:cNvSpPr/>
          <p:nvPr/>
        </p:nvSpPr>
        <p:spPr>
          <a:xfrm>
            <a:off x="4572000" y="914400"/>
            <a:ext cx="4023360" cy="384048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1" name="S51"/>
          <p:cNvSpPr/>
          <p:nvPr/>
        </p:nvSpPr>
        <p:spPr>
          <a:xfrm>
            <a:off x="4572000" y="914400"/>
            <a:ext cx="4023360" cy="292608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2" name="T52"/>
          <p:cNvSpPr/>
          <p:nvPr/>
        </p:nvSpPr>
        <p:spPr>
          <a:xfrm>
            <a:off x="4709160" y="9144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Ejemplos variados</a:t>
            </a:r>
          </a:p>
        </p:txBody>
      </p:sp>
      <p:sp>
        <p:nvSpPr>
          <p:cNvPr id="53" name="T53"/>
          <p:cNvSpPr/>
          <p:nvPr/>
        </p:nvSpPr>
        <p:spPr>
          <a:xfrm>
            <a:off x="4709160" y="1261872"/>
            <a:ext cx="3749040" cy="3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Anchor Tag Helper con parametros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&lt;a </a:t>
            </a: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asp-controller=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"Productos"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</a:t>
            </a: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asp-action=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"Details"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</a:t>
            </a: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asp-route-id=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"@item.Id"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&gt;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Ver detalle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&lt;/a&gt;</a:t>
            </a:r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Image con cache-busting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&lt;img src=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"~/images/logo.png"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 </a:t>
            </a: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asp-append-version=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"true"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/&gt;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Genera: src="/images/logo.png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  ?v=abc123hash"</a:t>
            </a:r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Contenido por entorno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&lt;environment </a:t>
            </a: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include=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    "Development"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&gt;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&lt;link href=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"~/css/site.css"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    rel=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"stylesheet"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/&gt;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&lt;/environment&gt;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&lt;environment </a:t>
            </a: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exclude=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    "Development"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&gt;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&lt;link href=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"~/css/site.min.css"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    rel=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"stylesheet"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/&gt;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&lt;/environment&gt;</a:t>
            </a:r>
          </a:p>
        </p:txBody>
      </p:sp>
      <p:sp>
        <p:nvSpPr>
          <p:cNvPr id="60" name="S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T6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</a:rPr>
              <a:t>.NET Core 8.0 — Vistas del MVC: Enlaces y Recursos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FCD9A6F-92E2-4263-D930-BD9BBE5E3002}"/>
              </a:ext>
            </a:extLst>
          </p:cNvPr>
          <p:cNvSpPr txBox="1"/>
          <p:nvPr/>
        </p:nvSpPr>
        <p:spPr>
          <a:xfrm>
            <a:off x="548640" y="4224672"/>
            <a:ext cx="3840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hlinkClick r:id="rId3"/>
              </a:rPr>
              <a:t>https://learn.microsoft.com/es-es/aspnet/core/mvc/views/tag-helpers/intro?view=aspnetcore-8.0</a:t>
            </a:r>
            <a:r>
              <a:rPr lang="es-ES" sz="1200" dirty="0"/>
              <a:t>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Helpers Personalizados</a:t>
            </a:r>
          </a:p>
        </p:txBody>
      </p:sp>
      <p:sp>
        <p:nvSpPr>
          <p:cNvPr id="4" name="T2"/>
          <p:cNvSpPr/>
          <p:nvPr/>
        </p:nvSpPr>
        <p:spPr>
          <a:xfrm>
            <a:off x="548640" y="9144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ES" sz="105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 pueden crear Tag Helpers propios heredando de TagHelper. Permiten encapsular logica de generacion HTML reutilizable con atributos personalizados.</a:t>
            </a:r>
          </a:p>
        </p:txBody>
      </p:sp>
      <p:sp>
        <p:nvSpPr>
          <p:cNvPr id="5" name="T3"/>
          <p:cNvSpPr/>
          <p:nvPr/>
        </p:nvSpPr>
        <p:spPr>
          <a:xfrm>
            <a:off x="54864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>
                <a:solidFill>
                  <a:srgbClr val="1565C0"/>
                </a:solidFill>
                <a:latin typeface="Calibri" pitchFamily="34" charset="0"/>
              </a:rPr>
              <a:t>Creacion Paso a Paso</a:t>
            </a:r>
          </a:p>
        </p:txBody>
      </p:sp>
      <p:sp>
        <p:nvSpPr>
          <p:cNvPr id="6" name="S6"/>
          <p:cNvSpPr/>
          <p:nvPr/>
        </p:nvSpPr>
        <p:spPr>
          <a:xfrm>
            <a:off x="548640" y="1920240"/>
            <a:ext cx="3840480" cy="45720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7"/>
          <p:cNvSpPr/>
          <p:nvPr/>
        </p:nvSpPr>
        <p:spPr>
          <a:xfrm>
            <a:off x="658368" y="193852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Heredar de TagHelper</a:t>
            </a:r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La clase hereda de TagHelper y sobreescribe Process() o ProcessAsync().</a:t>
            </a:r>
          </a:p>
        </p:txBody>
      </p:sp>
      <p:sp>
        <p:nvSpPr>
          <p:cNvPr id="8" name="S8"/>
          <p:cNvSpPr/>
          <p:nvPr/>
        </p:nvSpPr>
        <p:spPr>
          <a:xfrm>
            <a:off x="548640" y="2457440"/>
            <a:ext cx="3840480" cy="4572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9"/>
          <p:cNvSpPr/>
          <p:nvPr/>
        </p:nvSpPr>
        <p:spPr>
          <a:xfrm>
            <a:off x="658368" y="247572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[HtmlTargetElement]</a:t>
            </a:r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Atributo que define el nombre del tag HTML o los atributos que activan el Tag Helper.</a:t>
            </a:r>
          </a:p>
        </p:txBody>
      </p:sp>
      <p:sp>
        <p:nvSpPr>
          <p:cNvPr id="10" name="S10"/>
          <p:cNvSpPr/>
          <p:nvPr/>
        </p:nvSpPr>
        <p:spPr>
          <a:xfrm>
            <a:off x="548640" y="2994640"/>
            <a:ext cx="3840480" cy="4572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11"/>
          <p:cNvSpPr/>
          <p:nvPr/>
        </p:nvSpPr>
        <p:spPr>
          <a:xfrm>
            <a:off x="658368" y="301292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TagHelperOutput</a:t>
            </a:r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Permite modificar el tag name, atributos, contenido y estructura del HTML generado.</a:t>
            </a:r>
          </a:p>
        </p:txBody>
      </p:sp>
      <p:sp>
        <p:nvSpPr>
          <p:cNvPr id="12" name="S12"/>
          <p:cNvSpPr/>
          <p:nvPr/>
        </p:nvSpPr>
        <p:spPr>
          <a:xfrm>
            <a:off x="548640" y="3531840"/>
            <a:ext cx="3840480" cy="4572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13"/>
          <p:cNvSpPr/>
          <p:nvPr/>
        </p:nvSpPr>
        <p:spPr>
          <a:xfrm>
            <a:off x="658368" y="355012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>
                <a:solidFill>
                  <a:srgbClr val="0D47A1"/>
                </a:solidFill>
                <a:latin typeface="Calibri" pitchFamily="34" charset="0"/>
              </a:rPr>
              <a:t>Registro con @addTagHelper</a:t>
            </a:r>
          </a:p>
          <a:p>
            <a:pPr marL="0" indent="0">
              <a:buNone/>
            </a:pPr>
            <a:r>
              <a:rPr lang="es-ES" sz="900">
                <a:solidFill>
                  <a:srgbClr val="616161"/>
                </a:solidFill>
                <a:latin typeface="Calibri Light" pitchFamily="34" charset="0"/>
              </a:rPr>
              <a:t>Se registra en _ViewImports con @addTagHelper *, MiApp para habilitarlo globalmente.</a:t>
            </a:r>
          </a:p>
        </p:txBody>
      </p:sp>
      <p:sp>
        <p:nvSpPr>
          <p:cNvPr id="50" name="S50"/>
          <p:cNvSpPr/>
          <p:nvPr/>
        </p:nvSpPr>
        <p:spPr>
          <a:xfrm>
            <a:off x="4572000" y="914400"/>
            <a:ext cx="4023360" cy="384048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1" name="S51"/>
          <p:cNvSpPr/>
          <p:nvPr/>
        </p:nvSpPr>
        <p:spPr>
          <a:xfrm>
            <a:off x="4572000" y="914400"/>
            <a:ext cx="4023360" cy="292608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2" name="T52"/>
          <p:cNvSpPr/>
          <p:nvPr/>
        </p:nvSpPr>
        <p:spPr>
          <a:xfrm>
            <a:off x="4709160" y="9144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EmailTagHelper.cs + Vista</a:t>
            </a:r>
          </a:p>
        </p:txBody>
      </p:sp>
      <p:sp>
        <p:nvSpPr>
          <p:cNvPr id="53" name="T53"/>
          <p:cNvSpPr/>
          <p:nvPr/>
        </p:nvSpPr>
        <p:spPr>
          <a:xfrm>
            <a:off x="4709160" y="1261872"/>
            <a:ext cx="3749040" cy="3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TagHelper personalizado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[HtmlTargetElement(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"email"</a:t>
            </a: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)]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public class </a:t>
            </a:r>
            <a:r>
              <a:rPr lang="en-US" sz="800">
                <a:solidFill>
                  <a:srgbClr val="60A5FA"/>
                </a:solidFill>
                <a:latin typeface="Consolas" pitchFamily="34" charset="0"/>
              </a:rPr>
              <a:t>EmailTagHelper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: </a:t>
            </a:r>
            <a:r>
              <a:rPr lang="en-US" sz="800">
                <a:solidFill>
                  <a:srgbClr val="60A5FA"/>
                </a:solidFill>
                <a:latin typeface="Consolas" pitchFamily="34" charset="0"/>
              </a:rPr>
              <a:t>TagHelper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{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  public string 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Direccion { get; set; }</a:t>
            </a:r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  public override void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    Process(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0A5FA"/>
                </a:solidFill>
                <a:latin typeface="Consolas" pitchFamily="34" charset="0"/>
              </a:rPr>
              <a:t>      TagHelperContext 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context,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0A5FA"/>
                </a:solidFill>
                <a:latin typeface="Consolas" pitchFamily="34" charset="0"/>
              </a:rPr>
              <a:t>      TagHelperOutput 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output)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{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output.TagName = 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"a"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output.Attributes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      .SetAttribute("href",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  </a:t>
            </a: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$"mailto:{Direccion}"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);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  output.Content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FBBF24"/>
                </a:solidFill>
                <a:latin typeface="Consolas" pitchFamily="34" charset="0"/>
              </a:rPr>
              <a:t>      .SetContent(Direccion);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 }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}</a:t>
            </a:r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Uso en la vista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&lt;email </a:t>
            </a:r>
            <a:r>
              <a:rPr lang="en-US" sz="800">
                <a:solidFill>
                  <a:srgbClr val="C084FC"/>
                </a:solidFill>
                <a:latin typeface="Consolas" pitchFamily="34" charset="0"/>
              </a:rPr>
              <a:t>direccion=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4ADE80"/>
                </a:solidFill>
                <a:latin typeface="Consolas" pitchFamily="34" charset="0"/>
              </a:rPr>
              <a:t>  "info@empresa.com"</a:t>
            </a: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 /&gt;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Genera: &lt;a href="mailto: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64748B"/>
                </a:solidFill>
                <a:latin typeface="Consolas" pitchFamily="34" charset="0"/>
              </a:rPr>
              <a:t>//  info@empresa.com"&gt;...&lt;/a&gt;</a:t>
            </a:r>
          </a:p>
        </p:txBody>
      </p:sp>
      <p:sp>
        <p:nvSpPr>
          <p:cNvPr id="60" name="S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T6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</a:rPr>
              <a:t>.NET Core 8.0 — Vistas del MVC: Tag Helpers Personalizados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Practico CRUD — Modelo y Controller</a:t>
            </a:r>
          </a:p>
        </p:txBody>
      </p:sp>
      <p:sp>
        <p:nvSpPr>
          <p:cNvPr id="4" name="T2"/>
          <p:cNvSpPr/>
          <p:nvPr/>
        </p:nvSpPr>
        <p:spPr>
          <a:xfrm>
            <a:off x="548640" y="7772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>
                <a:solidFill>
                  <a:srgbClr val="616161"/>
                </a:solidFill>
                <a:latin typeface="Calibri Light" pitchFamily="34" charset="0"/>
              </a:rPr>
              <a:t>Modelo Producto con Data Annotations y ProductosController con acciones Create (GET/POST) que integran validacion, SelectList y redirecciones.</a:t>
            </a:r>
          </a:p>
        </p:txBody>
      </p:sp>
      <p:sp>
        <p:nvSpPr>
          <p:cNvPr id="10" name="S10"/>
          <p:cNvSpPr/>
          <p:nvPr/>
        </p:nvSpPr>
        <p:spPr>
          <a:xfrm>
            <a:off x="274320" y="1051560"/>
            <a:ext cx="4206240" cy="370332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11"/>
          <p:cNvSpPr/>
          <p:nvPr/>
        </p:nvSpPr>
        <p:spPr>
          <a:xfrm>
            <a:off x="274320" y="1051560"/>
            <a:ext cx="4206240" cy="274320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12"/>
          <p:cNvSpPr/>
          <p:nvPr/>
        </p:nvSpPr>
        <p:spPr>
          <a:xfrm>
            <a:off x="41148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Producto.cs (Modelo)</a:t>
            </a:r>
          </a:p>
        </p:txBody>
      </p:sp>
      <p:sp>
        <p:nvSpPr>
          <p:cNvPr id="13" name="T13"/>
          <p:cNvSpPr/>
          <p:nvPr/>
        </p:nvSpPr>
        <p:spPr>
          <a:xfrm>
            <a:off x="411480" y="1371600"/>
            <a:ext cx="3931920" cy="331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public class </a:t>
            </a:r>
            <a:r>
              <a:rPr lang="en-US" sz="680">
                <a:solidFill>
                  <a:srgbClr val="60A5FA"/>
                </a:solidFill>
                <a:latin typeface="Consolas" pitchFamily="34" charset="0"/>
              </a:rPr>
              <a:t>Producto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public int 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Id { get; set; }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/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  [Required(ErrorMessage =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    "Nombre obligatorio"</a:t>
            </a: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)]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  [StringLength(100)]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  [Display(Name =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 "Nombre"</a:t>
            </a: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)]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public string 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Nombre { get; set; }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/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  [Required]  [Range(0.01, 99999)]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  [DataType(DataType.Currency)]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  [Display(Name =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 "Precio"</a:t>
            </a: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)]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public decimal 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Precio { get; set; }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/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  [Display(Name =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 "Categoria"</a:t>
            </a: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)]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public int 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CategoriaId { get; set; }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/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  [DataType(DataType.MultilineText)]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  [Display(Name =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 "Descripcion"</a:t>
            </a: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)]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public string? 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Descripcion { get; set; }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/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  [Display(Name =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 "Activo"</a:t>
            </a: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)]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public bool 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Activo { get; set; } = </a:t>
            </a:r>
            <a:r>
              <a:rPr lang="en-US" sz="680">
                <a:solidFill>
                  <a:srgbClr val="60A5FA"/>
                </a:solidFill>
                <a:latin typeface="Consolas" pitchFamily="34" charset="0"/>
              </a:rPr>
              <a:t>true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}</a:t>
            </a:r>
          </a:p>
        </p:txBody>
      </p:sp>
      <p:sp>
        <p:nvSpPr>
          <p:cNvPr id="20" name="S20"/>
          <p:cNvSpPr/>
          <p:nvPr/>
        </p:nvSpPr>
        <p:spPr>
          <a:xfrm>
            <a:off x="4663440" y="1051560"/>
            <a:ext cx="4206240" cy="370332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21"/>
          <p:cNvSpPr/>
          <p:nvPr/>
        </p:nvSpPr>
        <p:spPr>
          <a:xfrm>
            <a:off x="4663440" y="1051560"/>
            <a:ext cx="4206240" cy="274320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22"/>
          <p:cNvSpPr/>
          <p:nvPr/>
        </p:nvSpPr>
        <p:spPr>
          <a:xfrm>
            <a:off x="480060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ProductosController.cs</a:t>
            </a:r>
          </a:p>
        </p:txBody>
      </p:sp>
      <p:sp>
        <p:nvSpPr>
          <p:cNvPr id="23" name="T23"/>
          <p:cNvSpPr/>
          <p:nvPr/>
        </p:nvSpPr>
        <p:spPr>
          <a:xfrm>
            <a:off x="4800600" y="1371600"/>
            <a:ext cx="3931920" cy="331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public class </a:t>
            </a:r>
            <a:r>
              <a:rPr lang="en-US" sz="680">
                <a:solidFill>
                  <a:srgbClr val="60A5FA"/>
                </a:solidFill>
                <a:latin typeface="Consolas" pitchFamily="34" charset="0"/>
              </a:rPr>
              <a:t>ProductosController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: </a:t>
            </a:r>
            <a:r>
              <a:rPr lang="en-US" sz="680">
                <a:solidFill>
                  <a:srgbClr val="60A5FA"/>
                </a:solidFill>
                <a:latin typeface="Consolas" pitchFamily="34" charset="0"/>
              </a:rPr>
              <a:t>Controller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readonly </a:t>
            </a:r>
            <a:r>
              <a:rPr lang="en-US" sz="680">
                <a:solidFill>
                  <a:srgbClr val="60A5FA"/>
                </a:solidFill>
                <a:latin typeface="Consolas" pitchFamily="34" charset="0"/>
              </a:rPr>
              <a:t>AppDbContext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_db;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/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  // GET: Productos/Create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  [HttpGet]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public </a:t>
            </a:r>
            <a:r>
              <a:rPr lang="en-US" sz="680">
                <a:solidFill>
                  <a:srgbClr val="60A5FA"/>
                </a:solidFill>
                <a:latin typeface="Consolas" pitchFamily="34" charset="0"/>
              </a:rPr>
              <a:t>IActionResult 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Create()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ViewBag.Categorias =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new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      SelectList(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_db.Categorias,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        "Id"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, 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"Nombre"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return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View();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}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/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  // POST: Productos/Create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  [HttpPost]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  [ValidateAntiForgeryToken]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public async </a:t>
            </a:r>
            <a:r>
              <a:rPr lang="en-US" sz="680">
                <a:solidFill>
                  <a:srgbClr val="60A5FA"/>
                </a:solidFill>
                <a:latin typeface="Consolas" pitchFamily="34" charset="0"/>
              </a:rPr>
              <a:t>Task&lt;IActionResult&gt;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Create(</a:t>
            </a:r>
            <a:r>
              <a:rPr lang="en-US" sz="680">
                <a:solidFill>
                  <a:srgbClr val="60A5FA"/>
                </a:solidFill>
                <a:latin typeface="Consolas" pitchFamily="34" charset="0"/>
              </a:rPr>
              <a:t>Producto 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p)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if 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(!ModelState.IsValid)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  ViewBag.Categorias =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new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        SelectList(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_db.Categorias,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          "Id"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, 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"Nombre"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 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return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View(p);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_db.Productos.Add(p);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await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_db.SaveChangesAsync();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return </a:t>
            </a: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RedirectToAction(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"Index"</a:t>
            </a: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)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}</a:t>
            </a:r>
          </a:p>
        </p:txBody>
      </p:sp>
      <p:sp>
        <p:nvSpPr>
          <p:cNvPr id="60" name="S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T6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</a:rPr>
              <a:t>.NET Core 8.0 — Vistas del MVC: Ejemplo CRUD (1/4)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Practico CRUD — Vista Create.cshtml</a:t>
            </a:r>
          </a:p>
        </p:txBody>
      </p:sp>
      <p:sp>
        <p:nvSpPr>
          <p:cNvPr id="4" name="T2"/>
          <p:cNvSpPr/>
          <p:nvPr/>
        </p:nvSpPr>
        <p:spPr>
          <a:xfrm>
            <a:off x="548640" y="7772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>
                <a:solidFill>
                  <a:srgbClr val="616161"/>
                </a:solidFill>
                <a:latin typeface="Calibri Light" pitchFamily="34" charset="0"/>
              </a:rPr>
              <a:t>Formulario completo con Form, Input, Label, Select, Textarea, Validation Tag Helpers y jQuery Unobtrusive. Todos los Tag Helpers integrados.</a:t>
            </a:r>
          </a:p>
        </p:txBody>
      </p:sp>
      <p:sp>
        <p:nvSpPr>
          <p:cNvPr id="10" name="S10"/>
          <p:cNvSpPr/>
          <p:nvPr/>
        </p:nvSpPr>
        <p:spPr>
          <a:xfrm>
            <a:off x="274320" y="1051560"/>
            <a:ext cx="4206240" cy="370332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11"/>
          <p:cNvSpPr/>
          <p:nvPr/>
        </p:nvSpPr>
        <p:spPr>
          <a:xfrm>
            <a:off x="274320" y="1051560"/>
            <a:ext cx="4206240" cy="274320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12"/>
          <p:cNvSpPr/>
          <p:nvPr/>
        </p:nvSpPr>
        <p:spPr>
          <a:xfrm>
            <a:off x="41148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Create.cshtml (parte 1)</a:t>
            </a:r>
          </a:p>
        </p:txBody>
      </p:sp>
      <p:sp>
        <p:nvSpPr>
          <p:cNvPr id="13" name="T13"/>
          <p:cNvSpPr/>
          <p:nvPr/>
        </p:nvSpPr>
        <p:spPr>
          <a:xfrm>
            <a:off x="411480" y="1371600"/>
            <a:ext cx="3931920" cy="331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@model </a:t>
            </a:r>
            <a:r>
              <a:rPr lang="en-US" sz="680">
                <a:solidFill>
                  <a:srgbClr val="60A5FA"/>
                </a:solidFill>
                <a:latin typeface="Consolas" pitchFamily="34" charset="0"/>
              </a:rPr>
              <a:t>Producto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@{ 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ViewData["Title"] = 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"Nuevo"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;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}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/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&lt;h2&gt;Crear Producto&lt;/h2&gt;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/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// Resumen de errores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&lt;div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asp-validation-summary=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"ModelOnly"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  class="text-danger"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&gt;&lt;/div&gt;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/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// Form Tag Helper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&lt;form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asp-action=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"Create"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asp-controller=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"Productos"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method=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"post"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&gt;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/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  // Input + Label + Validacion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&lt;div class=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"mb-3"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&lt;label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asp-for=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"Nombre"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/&gt;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&lt;input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asp-for=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"Nombre"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      class="form-control"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/&gt;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&lt;span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asp-validation-for=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      "Nombre"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/&gt;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&lt;/div&gt;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/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  // Campo Precio (mismo patron)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&lt;div class=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"mb-3"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&lt;label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asp-for=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"Precio"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/&gt;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&lt;input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asp-for=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"Precio"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      class="form-control"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/&gt;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&lt;span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asp-validation-for=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"Precio"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/&gt;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&lt;/div&gt;</a:t>
            </a:r>
          </a:p>
        </p:txBody>
      </p:sp>
      <p:sp>
        <p:nvSpPr>
          <p:cNvPr id="20" name="S20"/>
          <p:cNvSpPr/>
          <p:nvPr/>
        </p:nvSpPr>
        <p:spPr>
          <a:xfrm>
            <a:off x="4663440" y="977128"/>
            <a:ext cx="4206240" cy="3869191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21"/>
          <p:cNvSpPr/>
          <p:nvPr/>
        </p:nvSpPr>
        <p:spPr>
          <a:xfrm>
            <a:off x="4663440" y="1051560"/>
            <a:ext cx="4206240" cy="274320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22"/>
          <p:cNvSpPr/>
          <p:nvPr/>
        </p:nvSpPr>
        <p:spPr>
          <a:xfrm>
            <a:off x="4800600" y="998395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E2E8F0"/>
                </a:solidFill>
                <a:latin typeface="Consolas" pitchFamily="34" charset="0"/>
              </a:rPr>
              <a:t>Create.cshtml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</a:rPr>
              <a:t> (</a:t>
            </a:r>
            <a:r>
              <a:rPr lang="en-US" sz="800" dirty="0" err="1">
                <a:solidFill>
                  <a:srgbClr val="E2E8F0"/>
                </a:solidFill>
                <a:latin typeface="Consolas" pitchFamily="34" charset="0"/>
              </a:rPr>
              <a:t>parte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</a:rPr>
              <a:t> 2)</a:t>
            </a:r>
          </a:p>
        </p:txBody>
      </p:sp>
      <p:sp>
        <p:nvSpPr>
          <p:cNvPr id="23" name="T23"/>
          <p:cNvSpPr/>
          <p:nvPr/>
        </p:nvSpPr>
        <p:spPr>
          <a:xfrm>
            <a:off x="4800600" y="1318435"/>
            <a:ext cx="3931920" cy="331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80" dirty="0">
                <a:solidFill>
                  <a:srgbClr val="64748B"/>
                </a:solidFill>
                <a:latin typeface="Consolas" pitchFamily="34" charset="0"/>
              </a:rPr>
              <a:t>  // Select Tag Helper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 dirty="0">
                <a:solidFill>
                  <a:srgbClr val="E2E8F0"/>
                </a:solidFill>
                <a:latin typeface="Consolas" pitchFamily="34" charset="0"/>
              </a:rPr>
              <a:t>  &lt;div class=</a:t>
            </a:r>
            <a:r>
              <a:rPr lang="en-US" sz="680" dirty="0">
                <a:solidFill>
                  <a:srgbClr val="4ADE80"/>
                </a:solidFill>
                <a:latin typeface="Consolas" pitchFamily="34" charset="0"/>
              </a:rPr>
              <a:t>"mb-3"</a:t>
            </a:r>
            <a:r>
              <a:rPr lang="en-US" sz="680" dirty="0">
                <a:solidFill>
                  <a:srgbClr val="E2E8F0"/>
                </a:solidFill>
                <a:latin typeface="Consolas" pitchFamily="34" charset="0"/>
              </a:rPr>
              <a:t>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 dirty="0">
                <a:solidFill>
                  <a:srgbClr val="E2E8F0"/>
                </a:solidFill>
                <a:latin typeface="Consolas" pitchFamily="34" charset="0"/>
              </a:rPr>
              <a:t>    &lt;label </a:t>
            </a:r>
            <a:r>
              <a:rPr lang="en-US" sz="680" dirty="0">
                <a:solidFill>
                  <a:srgbClr val="C084FC"/>
                </a:solidFill>
                <a:latin typeface="Consolas" pitchFamily="34" charset="0"/>
              </a:rPr>
              <a:t>asp-for=</a:t>
            </a:r>
            <a:r>
              <a:rPr lang="en-US" sz="680" dirty="0">
                <a:solidFill>
                  <a:srgbClr val="4ADE80"/>
                </a:solidFill>
                <a:latin typeface="Consolas" pitchFamily="34" charset="0"/>
              </a:rPr>
              <a:t>"</a:t>
            </a:r>
            <a:r>
              <a:rPr lang="en-US" sz="680" dirty="0" err="1">
                <a:solidFill>
                  <a:srgbClr val="4ADE80"/>
                </a:solidFill>
                <a:latin typeface="Consolas" pitchFamily="34" charset="0"/>
              </a:rPr>
              <a:t>CategoriaId</a:t>
            </a:r>
            <a:r>
              <a:rPr lang="en-US" sz="680" dirty="0">
                <a:solidFill>
                  <a:srgbClr val="4ADE80"/>
                </a:solidFill>
                <a:latin typeface="Consolas" pitchFamily="34" charset="0"/>
              </a:rPr>
              <a:t>"</a:t>
            </a:r>
            <a:r>
              <a:rPr lang="en-US" sz="680" dirty="0">
                <a:solidFill>
                  <a:srgbClr val="E2E8F0"/>
                </a:solidFill>
                <a:latin typeface="Consolas" pitchFamily="34" charset="0"/>
              </a:rPr>
              <a:t> /&gt;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 dirty="0">
                <a:solidFill>
                  <a:srgbClr val="E2E8F0"/>
                </a:solidFill>
                <a:latin typeface="Consolas" pitchFamily="34" charset="0"/>
              </a:rPr>
              <a:t>    &lt;select </a:t>
            </a:r>
            <a:r>
              <a:rPr lang="en-US" sz="680" dirty="0">
                <a:solidFill>
                  <a:srgbClr val="C084FC"/>
                </a:solidFill>
                <a:latin typeface="Consolas" pitchFamily="34" charset="0"/>
              </a:rPr>
              <a:t>asp-for=</a:t>
            </a:r>
            <a:r>
              <a:rPr lang="en-US" sz="680" dirty="0">
                <a:solidFill>
                  <a:srgbClr val="4ADE80"/>
                </a:solidFill>
                <a:latin typeface="Consolas" pitchFamily="34" charset="0"/>
              </a:rPr>
              <a:t>"</a:t>
            </a:r>
            <a:r>
              <a:rPr lang="en-US" sz="680" dirty="0" err="1">
                <a:solidFill>
                  <a:srgbClr val="4ADE80"/>
                </a:solidFill>
                <a:latin typeface="Consolas" pitchFamily="34" charset="0"/>
              </a:rPr>
              <a:t>CategoriaId</a:t>
            </a:r>
            <a:r>
              <a:rPr lang="en-US" sz="680" dirty="0">
                <a:solidFill>
                  <a:srgbClr val="4ADE80"/>
                </a:solidFill>
                <a:latin typeface="Consolas" pitchFamily="34" charset="0"/>
              </a:rPr>
              <a:t>"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 dirty="0">
                <a:solidFill>
                  <a:srgbClr val="E2E8F0"/>
                </a:solidFill>
                <a:latin typeface="Consolas" pitchFamily="34" charset="0"/>
              </a:rPr>
              <a:t>      </a:t>
            </a:r>
            <a:r>
              <a:rPr lang="en-US" sz="680" dirty="0">
                <a:solidFill>
                  <a:srgbClr val="C084FC"/>
                </a:solidFill>
                <a:latin typeface="Consolas" pitchFamily="34" charset="0"/>
              </a:rPr>
              <a:t>asp-items=</a:t>
            </a:r>
            <a:r>
              <a:rPr lang="en-US" sz="680" dirty="0">
                <a:solidFill>
                  <a:srgbClr val="4ADE80"/>
                </a:solidFill>
                <a:latin typeface="Consolas" pitchFamily="34" charset="0"/>
              </a:rPr>
              <a:t>"</a:t>
            </a:r>
            <a:r>
              <a:rPr lang="en-US" sz="680" dirty="0" err="1">
                <a:solidFill>
                  <a:srgbClr val="4ADE80"/>
                </a:solidFill>
                <a:latin typeface="Consolas" pitchFamily="34" charset="0"/>
              </a:rPr>
              <a:t>ViewBag.Categorias</a:t>
            </a:r>
            <a:r>
              <a:rPr lang="en-US" sz="680" dirty="0">
                <a:solidFill>
                  <a:srgbClr val="4ADE80"/>
                </a:solidFill>
                <a:latin typeface="Consolas" pitchFamily="34" charset="0"/>
              </a:rPr>
              <a:t>"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 dirty="0">
                <a:solidFill>
                  <a:srgbClr val="4ADE80"/>
                </a:solidFill>
                <a:latin typeface="Consolas" pitchFamily="34" charset="0"/>
              </a:rPr>
              <a:t>      class="form-select"</a:t>
            </a:r>
            <a:r>
              <a:rPr lang="en-US" sz="680" dirty="0">
                <a:solidFill>
                  <a:srgbClr val="E2E8F0"/>
                </a:solidFill>
                <a:latin typeface="Consolas" pitchFamily="34" charset="0"/>
              </a:rPr>
              <a:t>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 dirty="0">
                <a:solidFill>
                  <a:srgbClr val="E2E8F0"/>
                </a:solidFill>
                <a:latin typeface="Consolas" pitchFamily="34" charset="0"/>
              </a:rPr>
              <a:t>      &lt;option value=""&gt;-- </a:t>
            </a:r>
            <a:r>
              <a:rPr lang="en-US" sz="680" dirty="0" err="1">
                <a:solidFill>
                  <a:srgbClr val="E2E8F0"/>
                </a:solidFill>
                <a:latin typeface="Consolas" pitchFamily="34" charset="0"/>
              </a:rPr>
              <a:t>Seleccione</a:t>
            </a:r>
            <a:r>
              <a:rPr lang="en-US" sz="680" dirty="0">
                <a:solidFill>
                  <a:srgbClr val="E2E8F0"/>
                </a:solidFill>
                <a:latin typeface="Consolas" pitchFamily="34" charset="0"/>
              </a:rPr>
              <a:t> --&lt;/option&gt;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 dirty="0">
                <a:solidFill>
                  <a:srgbClr val="E2E8F0"/>
                </a:solidFill>
                <a:latin typeface="Consolas" pitchFamily="34" charset="0"/>
              </a:rPr>
              <a:t>    &lt;/select&gt;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 dirty="0">
                <a:solidFill>
                  <a:srgbClr val="E2E8F0"/>
                </a:solidFill>
                <a:latin typeface="Consolas" pitchFamily="34" charset="0"/>
              </a:rPr>
              <a:t>    &lt;span </a:t>
            </a:r>
            <a:r>
              <a:rPr lang="en-US" sz="680" dirty="0">
                <a:solidFill>
                  <a:srgbClr val="C084FC"/>
                </a:solidFill>
                <a:latin typeface="Consolas" pitchFamily="34" charset="0"/>
              </a:rPr>
              <a:t>asp-validation-for=</a:t>
            </a:r>
            <a:r>
              <a:rPr lang="en-US" sz="680" dirty="0">
                <a:solidFill>
                  <a:srgbClr val="4ADE80"/>
                </a:solidFill>
                <a:latin typeface="Consolas" pitchFamily="34" charset="0"/>
              </a:rPr>
              <a:t>"</a:t>
            </a:r>
            <a:r>
              <a:rPr lang="en-US" sz="680" dirty="0" err="1">
                <a:solidFill>
                  <a:srgbClr val="4ADE80"/>
                </a:solidFill>
                <a:latin typeface="Consolas" pitchFamily="34" charset="0"/>
              </a:rPr>
              <a:t>CategoriaId</a:t>
            </a:r>
            <a:r>
              <a:rPr lang="en-US" sz="680" dirty="0">
                <a:solidFill>
                  <a:srgbClr val="4ADE80"/>
                </a:solidFill>
                <a:latin typeface="Consolas" pitchFamily="34" charset="0"/>
              </a:rPr>
              <a:t>"</a:t>
            </a:r>
            <a:r>
              <a:rPr lang="en-US" sz="680" dirty="0">
                <a:solidFill>
                  <a:srgbClr val="E2E8F0"/>
                </a:solidFill>
                <a:latin typeface="Consolas" pitchFamily="34" charset="0"/>
              </a:rPr>
              <a:t> /&gt;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 dirty="0">
                <a:solidFill>
                  <a:srgbClr val="E2E8F0"/>
                </a:solidFill>
                <a:latin typeface="Consolas" pitchFamily="34" charset="0"/>
              </a:rPr>
              <a:t>  &lt;/div&gt;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80" dirty="0">
                <a:solidFill>
                  <a:srgbClr val="64748B"/>
                </a:solidFill>
                <a:latin typeface="Consolas" pitchFamily="34" charset="0"/>
              </a:rPr>
              <a:t>  // </a:t>
            </a:r>
            <a:r>
              <a:rPr lang="en-US" sz="680" dirty="0" err="1">
                <a:solidFill>
                  <a:srgbClr val="64748B"/>
                </a:solidFill>
                <a:latin typeface="Consolas" pitchFamily="34" charset="0"/>
              </a:rPr>
              <a:t>Textarea</a:t>
            </a:r>
            <a:r>
              <a:rPr lang="en-US" sz="680" dirty="0">
                <a:solidFill>
                  <a:srgbClr val="64748B"/>
                </a:solidFill>
                <a:latin typeface="Consolas" pitchFamily="34" charset="0"/>
              </a:rPr>
              <a:t> Tag Helper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 dirty="0">
                <a:solidFill>
                  <a:srgbClr val="E2E8F0"/>
                </a:solidFill>
                <a:latin typeface="Consolas" pitchFamily="34" charset="0"/>
              </a:rPr>
              <a:t>  &lt;div class=</a:t>
            </a:r>
            <a:r>
              <a:rPr lang="en-US" sz="680" dirty="0">
                <a:solidFill>
                  <a:srgbClr val="4ADE80"/>
                </a:solidFill>
                <a:latin typeface="Consolas" pitchFamily="34" charset="0"/>
              </a:rPr>
              <a:t>"mb-3"</a:t>
            </a:r>
            <a:r>
              <a:rPr lang="en-US" sz="680" dirty="0">
                <a:solidFill>
                  <a:srgbClr val="E2E8F0"/>
                </a:solidFill>
                <a:latin typeface="Consolas" pitchFamily="34" charset="0"/>
              </a:rPr>
              <a:t>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 dirty="0">
                <a:solidFill>
                  <a:srgbClr val="E2E8F0"/>
                </a:solidFill>
                <a:latin typeface="Consolas" pitchFamily="34" charset="0"/>
              </a:rPr>
              <a:t>    &lt;label </a:t>
            </a:r>
            <a:r>
              <a:rPr lang="en-US" sz="680" dirty="0">
                <a:solidFill>
                  <a:srgbClr val="C084FC"/>
                </a:solidFill>
                <a:latin typeface="Consolas" pitchFamily="34" charset="0"/>
              </a:rPr>
              <a:t>asp-for=</a:t>
            </a:r>
            <a:r>
              <a:rPr lang="en-US" sz="680" dirty="0">
                <a:solidFill>
                  <a:srgbClr val="4ADE80"/>
                </a:solidFill>
                <a:latin typeface="Consolas" pitchFamily="34" charset="0"/>
              </a:rPr>
              <a:t>"</a:t>
            </a:r>
            <a:r>
              <a:rPr lang="en-US" sz="680" dirty="0" err="1">
                <a:solidFill>
                  <a:srgbClr val="4ADE80"/>
                </a:solidFill>
                <a:latin typeface="Consolas" pitchFamily="34" charset="0"/>
              </a:rPr>
              <a:t>Descripcion</a:t>
            </a:r>
            <a:r>
              <a:rPr lang="en-US" sz="680" dirty="0">
                <a:solidFill>
                  <a:srgbClr val="4ADE80"/>
                </a:solidFill>
                <a:latin typeface="Consolas" pitchFamily="34" charset="0"/>
              </a:rPr>
              <a:t>"</a:t>
            </a:r>
            <a:r>
              <a:rPr lang="en-US" sz="680" dirty="0">
                <a:solidFill>
                  <a:srgbClr val="E2E8F0"/>
                </a:solidFill>
                <a:latin typeface="Consolas" pitchFamily="34" charset="0"/>
              </a:rPr>
              <a:t> /&gt;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 dirty="0">
                <a:solidFill>
                  <a:srgbClr val="E2E8F0"/>
                </a:solidFill>
                <a:latin typeface="Consolas" pitchFamily="34" charset="0"/>
              </a:rPr>
              <a:t>    &lt;</a:t>
            </a:r>
            <a:r>
              <a:rPr lang="en-US" sz="680" dirty="0" err="1">
                <a:solidFill>
                  <a:srgbClr val="E2E8F0"/>
                </a:solidFill>
                <a:latin typeface="Consolas" pitchFamily="34" charset="0"/>
              </a:rPr>
              <a:t>textarea</a:t>
            </a:r>
            <a:r>
              <a:rPr lang="en-US" sz="680" dirty="0">
                <a:solidFill>
                  <a:srgbClr val="E2E8F0"/>
                </a:solidFill>
                <a:latin typeface="Consolas" pitchFamily="34" charset="0"/>
              </a:rPr>
              <a:t> </a:t>
            </a:r>
            <a:r>
              <a:rPr lang="en-US" sz="680" dirty="0">
                <a:solidFill>
                  <a:srgbClr val="C084FC"/>
                </a:solidFill>
                <a:latin typeface="Consolas" pitchFamily="34" charset="0"/>
              </a:rPr>
              <a:t>asp-for=</a:t>
            </a:r>
            <a:r>
              <a:rPr lang="en-US" sz="680" dirty="0">
                <a:solidFill>
                  <a:srgbClr val="4ADE80"/>
                </a:solidFill>
                <a:latin typeface="Consolas" pitchFamily="34" charset="0"/>
              </a:rPr>
              <a:t>"</a:t>
            </a:r>
            <a:r>
              <a:rPr lang="en-US" sz="680" dirty="0" err="1">
                <a:solidFill>
                  <a:srgbClr val="4ADE80"/>
                </a:solidFill>
                <a:latin typeface="Consolas" pitchFamily="34" charset="0"/>
              </a:rPr>
              <a:t>Descripcion</a:t>
            </a:r>
            <a:r>
              <a:rPr lang="en-US" sz="680" dirty="0">
                <a:solidFill>
                  <a:srgbClr val="4ADE80"/>
                </a:solidFill>
                <a:latin typeface="Consolas" pitchFamily="34" charset="0"/>
              </a:rPr>
              <a:t>"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 dirty="0">
                <a:solidFill>
                  <a:srgbClr val="4ADE80"/>
                </a:solidFill>
                <a:latin typeface="Consolas" pitchFamily="34" charset="0"/>
              </a:rPr>
              <a:t>      class="form-control" rows="4"</a:t>
            </a:r>
            <a:r>
              <a:rPr lang="en-US" sz="680" dirty="0">
                <a:solidFill>
                  <a:srgbClr val="E2E8F0"/>
                </a:solidFill>
                <a:latin typeface="Consolas" pitchFamily="34" charset="0"/>
              </a:rPr>
              <a:t>&gt;&lt;/</a:t>
            </a:r>
            <a:r>
              <a:rPr lang="en-US" sz="680" dirty="0" err="1">
                <a:solidFill>
                  <a:srgbClr val="E2E8F0"/>
                </a:solidFill>
                <a:latin typeface="Consolas" pitchFamily="34" charset="0"/>
              </a:rPr>
              <a:t>textarea</a:t>
            </a:r>
            <a:r>
              <a:rPr lang="en-US" sz="680" dirty="0">
                <a:solidFill>
                  <a:srgbClr val="E2E8F0"/>
                </a:solidFill>
                <a:latin typeface="Consolas" pitchFamily="34" charset="0"/>
              </a:rPr>
              <a:t>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 dirty="0">
                <a:solidFill>
                  <a:srgbClr val="E2E8F0"/>
                </a:solidFill>
                <a:latin typeface="Consolas" pitchFamily="34" charset="0"/>
              </a:rPr>
              <a:t>  &lt;/div&gt;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80" dirty="0">
                <a:solidFill>
                  <a:srgbClr val="64748B"/>
                </a:solidFill>
                <a:latin typeface="Consolas" pitchFamily="34" charset="0"/>
              </a:rPr>
              <a:t>  // Checkbox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 dirty="0">
                <a:solidFill>
                  <a:srgbClr val="E2E8F0"/>
                </a:solidFill>
                <a:latin typeface="Consolas" pitchFamily="34" charset="0"/>
              </a:rPr>
              <a:t>  &lt;div class=</a:t>
            </a:r>
            <a:r>
              <a:rPr lang="en-US" sz="680" dirty="0">
                <a:solidFill>
                  <a:srgbClr val="4ADE80"/>
                </a:solidFill>
                <a:latin typeface="Consolas" pitchFamily="34" charset="0"/>
              </a:rPr>
              <a:t>"form-check mb-3"</a:t>
            </a:r>
            <a:r>
              <a:rPr lang="en-US" sz="680" dirty="0">
                <a:solidFill>
                  <a:srgbClr val="E2E8F0"/>
                </a:solidFill>
                <a:latin typeface="Consolas" pitchFamily="34" charset="0"/>
              </a:rPr>
              <a:t>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 dirty="0">
                <a:solidFill>
                  <a:srgbClr val="E2E8F0"/>
                </a:solidFill>
                <a:latin typeface="Consolas" pitchFamily="34" charset="0"/>
              </a:rPr>
              <a:t>    &lt;input </a:t>
            </a:r>
            <a:r>
              <a:rPr lang="en-US" sz="680" dirty="0">
                <a:solidFill>
                  <a:srgbClr val="C084FC"/>
                </a:solidFill>
                <a:latin typeface="Consolas" pitchFamily="34" charset="0"/>
              </a:rPr>
              <a:t>asp-for=</a:t>
            </a:r>
            <a:r>
              <a:rPr lang="en-US" sz="680" dirty="0">
                <a:solidFill>
                  <a:srgbClr val="4ADE80"/>
                </a:solidFill>
                <a:latin typeface="Consolas" pitchFamily="34" charset="0"/>
              </a:rPr>
              <a:t>"</a:t>
            </a:r>
            <a:r>
              <a:rPr lang="en-US" sz="680" dirty="0" err="1">
                <a:solidFill>
                  <a:srgbClr val="4ADE80"/>
                </a:solidFill>
                <a:latin typeface="Consolas" pitchFamily="34" charset="0"/>
              </a:rPr>
              <a:t>Activo</a:t>
            </a:r>
            <a:r>
              <a:rPr lang="en-US" sz="680" dirty="0">
                <a:solidFill>
                  <a:srgbClr val="4ADE80"/>
                </a:solidFill>
                <a:latin typeface="Consolas" pitchFamily="34" charset="0"/>
              </a:rPr>
              <a:t>"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 dirty="0">
                <a:solidFill>
                  <a:srgbClr val="4ADE80"/>
                </a:solidFill>
                <a:latin typeface="Consolas" pitchFamily="34" charset="0"/>
              </a:rPr>
              <a:t>      class="form-check-input"</a:t>
            </a:r>
            <a:r>
              <a:rPr lang="en-US" sz="680" dirty="0">
                <a:solidFill>
                  <a:srgbClr val="E2E8F0"/>
                </a:solidFill>
                <a:latin typeface="Consolas" pitchFamily="34" charset="0"/>
              </a:rPr>
              <a:t> /&gt;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 dirty="0">
                <a:solidFill>
                  <a:srgbClr val="E2E8F0"/>
                </a:solidFill>
                <a:latin typeface="Consolas" pitchFamily="34" charset="0"/>
              </a:rPr>
              <a:t>    &lt;label </a:t>
            </a:r>
            <a:r>
              <a:rPr lang="en-US" sz="680" dirty="0">
                <a:solidFill>
                  <a:srgbClr val="C084FC"/>
                </a:solidFill>
                <a:latin typeface="Consolas" pitchFamily="34" charset="0"/>
              </a:rPr>
              <a:t>asp-for=</a:t>
            </a:r>
            <a:r>
              <a:rPr lang="en-US" sz="680" dirty="0">
                <a:solidFill>
                  <a:srgbClr val="4ADE80"/>
                </a:solidFill>
                <a:latin typeface="Consolas" pitchFamily="34" charset="0"/>
              </a:rPr>
              <a:t>"</a:t>
            </a:r>
            <a:r>
              <a:rPr lang="en-US" sz="680" dirty="0" err="1">
                <a:solidFill>
                  <a:srgbClr val="4ADE80"/>
                </a:solidFill>
                <a:latin typeface="Consolas" pitchFamily="34" charset="0"/>
              </a:rPr>
              <a:t>Activo</a:t>
            </a:r>
            <a:r>
              <a:rPr lang="en-US" sz="680" dirty="0">
                <a:solidFill>
                  <a:srgbClr val="4ADE80"/>
                </a:solidFill>
                <a:latin typeface="Consolas" pitchFamily="34" charset="0"/>
              </a:rPr>
              <a:t>"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 dirty="0">
                <a:solidFill>
                  <a:srgbClr val="4ADE80"/>
                </a:solidFill>
                <a:latin typeface="Consolas" pitchFamily="34" charset="0"/>
              </a:rPr>
              <a:t>      class="form-check-label"</a:t>
            </a:r>
            <a:r>
              <a:rPr lang="en-US" sz="680" dirty="0">
                <a:solidFill>
                  <a:srgbClr val="E2E8F0"/>
                </a:solidFill>
                <a:latin typeface="Consolas" pitchFamily="34" charset="0"/>
              </a:rPr>
              <a:t> /&gt;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 dirty="0">
                <a:solidFill>
                  <a:srgbClr val="E2E8F0"/>
                </a:solidFill>
                <a:latin typeface="Consolas" pitchFamily="34" charset="0"/>
              </a:rPr>
              <a:t>  &lt;/div&gt;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80" dirty="0">
                <a:solidFill>
                  <a:srgbClr val="E2E8F0"/>
                </a:solidFill>
                <a:latin typeface="Consolas" pitchFamily="34" charset="0"/>
              </a:rPr>
              <a:t>  &lt;button type=</a:t>
            </a:r>
            <a:r>
              <a:rPr lang="en-US" sz="680" dirty="0">
                <a:solidFill>
                  <a:srgbClr val="4ADE80"/>
                </a:solidFill>
                <a:latin typeface="Consolas" pitchFamily="34" charset="0"/>
              </a:rPr>
              <a:t>"submit"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 dirty="0">
                <a:solidFill>
                  <a:srgbClr val="4ADE80"/>
                </a:solidFill>
                <a:latin typeface="Consolas" pitchFamily="34" charset="0"/>
              </a:rPr>
              <a:t>    class="</a:t>
            </a:r>
            <a:r>
              <a:rPr lang="en-US" sz="680" dirty="0" err="1">
                <a:solidFill>
                  <a:srgbClr val="4ADE80"/>
                </a:solidFill>
                <a:latin typeface="Consolas" pitchFamily="34" charset="0"/>
              </a:rPr>
              <a:t>btn</a:t>
            </a:r>
            <a:r>
              <a:rPr lang="en-US" sz="680" dirty="0">
                <a:solidFill>
                  <a:srgbClr val="4ADE80"/>
                </a:solidFill>
                <a:latin typeface="Consolas" pitchFamily="34" charset="0"/>
              </a:rPr>
              <a:t> </a:t>
            </a:r>
            <a:r>
              <a:rPr lang="en-US" sz="680" dirty="0" err="1">
                <a:solidFill>
                  <a:srgbClr val="4ADE80"/>
                </a:solidFill>
                <a:latin typeface="Consolas" pitchFamily="34" charset="0"/>
              </a:rPr>
              <a:t>btn</a:t>
            </a:r>
            <a:r>
              <a:rPr lang="en-US" sz="680" dirty="0">
                <a:solidFill>
                  <a:srgbClr val="4ADE80"/>
                </a:solidFill>
                <a:latin typeface="Consolas" pitchFamily="34" charset="0"/>
              </a:rPr>
              <a:t>-primary"</a:t>
            </a:r>
            <a:r>
              <a:rPr lang="en-US" sz="680" dirty="0">
                <a:solidFill>
                  <a:srgbClr val="E2E8F0"/>
                </a:solidFill>
                <a:latin typeface="Consolas" pitchFamily="34" charset="0"/>
              </a:rPr>
              <a:t>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 dirty="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680" dirty="0" err="1">
                <a:solidFill>
                  <a:srgbClr val="E2E8F0"/>
                </a:solidFill>
                <a:latin typeface="Consolas" pitchFamily="34" charset="0"/>
              </a:rPr>
              <a:t>Guardar</a:t>
            </a:r>
            <a:r>
              <a:rPr lang="en-US" sz="680" dirty="0">
                <a:solidFill>
                  <a:srgbClr val="E2E8F0"/>
                </a:solidFill>
                <a:latin typeface="Consolas" pitchFamily="34" charset="0"/>
              </a:rPr>
              <a:t> </a:t>
            </a:r>
            <a:r>
              <a:rPr lang="en-US" sz="680" dirty="0" err="1">
                <a:solidFill>
                  <a:srgbClr val="E2E8F0"/>
                </a:solidFill>
                <a:latin typeface="Consolas" pitchFamily="34" charset="0"/>
              </a:rPr>
              <a:t>Producto</a:t>
            </a:r>
            <a:r>
              <a:rPr lang="en-US" sz="680" dirty="0">
                <a:solidFill>
                  <a:srgbClr val="E2E8F0"/>
                </a:solidFill>
                <a:latin typeface="Consolas" pitchFamily="34" charset="0"/>
              </a:rPr>
              <a:t>&lt;/button&gt;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 dirty="0">
                <a:solidFill>
                  <a:srgbClr val="E2E8F0"/>
                </a:solidFill>
                <a:latin typeface="Consolas" pitchFamily="34" charset="0"/>
              </a:rPr>
              <a:t>&lt;/form&gt;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80" dirty="0">
                <a:solidFill>
                  <a:srgbClr val="C084FC"/>
                </a:solidFill>
                <a:latin typeface="Consolas" pitchFamily="34" charset="0"/>
              </a:rPr>
              <a:t>@section </a:t>
            </a:r>
            <a:r>
              <a:rPr lang="en-US" sz="680" dirty="0">
                <a:solidFill>
                  <a:srgbClr val="FBBF24"/>
                </a:solidFill>
                <a:latin typeface="Consolas" pitchFamily="34" charset="0"/>
              </a:rPr>
              <a:t>Scripts</a:t>
            </a:r>
            <a:r>
              <a:rPr lang="en-US" sz="680" dirty="0">
                <a:solidFill>
                  <a:srgbClr val="E2E8F0"/>
                </a:solidFill>
                <a:latin typeface="Consolas" pitchFamily="34" charset="0"/>
              </a:rPr>
              <a:t>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 dirty="0">
                <a:solidFill>
                  <a:srgbClr val="E2E8F0"/>
                </a:solidFill>
                <a:latin typeface="Consolas" pitchFamily="34" charset="0"/>
              </a:rPr>
              <a:t>  &lt;partial name=</a:t>
            </a:r>
            <a:r>
              <a:rPr lang="en-US" sz="680" dirty="0">
                <a:solidFill>
                  <a:srgbClr val="4ADE80"/>
                </a:solidFill>
                <a:latin typeface="Consolas" pitchFamily="34" charset="0"/>
              </a:rPr>
              <a:t>"_</a:t>
            </a:r>
            <a:r>
              <a:rPr lang="en-US" sz="680" dirty="0" err="1">
                <a:solidFill>
                  <a:srgbClr val="4ADE80"/>
                </a:solidFill>
                <a:latin typeface="Consolas" pitchFamily="34" charset="0"/>
              </a:rPr>
              <a:t>ValidationScriptsPartial</a:t>
            </a:r>
            <a:r>
              <a:rPr lang="en-US" sz="680" dirty="0">
                <a:solidFill>
                  <a:srgbClr val="4ADE80"/>
                </a:solidFill>
                <a:latin typeface="Consolas" pitchFamily="34" charset="0"/>
              </a:rPr>
              <a:t>"</a:t>
            </a:r>
            <a:r>
              <a:rPr lang="en-US" sz="680" dirty="0">
                <a:solidFill>
                  <a:srgbClr val="E2E8F0"/>
                </a:solidFill>
                <a:latin typeface="Consolas" pitchFamily="34" charset="0"/>
              </a:rPr>
              <a:t> /&gt;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 dirty="0">
                <a:solidFill>
                  <a:srgbClr val="E2E8F0"/>
                </a:solidFill>
                <a:latin typeface="Consolas" pitchFamily="34" charset="0"/>
              </a:rPr>
              <a:t>}</a:t>
            </a:r>
          </a:p>
        </p:txBody>
      </p:sp>
      <p:sp>
        <p:nvSpPr>
          <p:cNvPr id="60" name="S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T6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</a:rPr>
              <a:t>.NET Core 8.0 — Vistas del MVC: Ejemplo CRUD (2/4)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Practico CRUD — Edit (Editar)</a:t>
            </a:r>
          </a:p>
        </p:txBody>
      </p:sp>
      <p:sp>
        <p:nvSpPr>
          <p:cNvPr id="4" name="T2"/>
          <p:cNvSpPr/>
          <p:nvPr/>
        </p:nvSpPr>
        <p:spPr>
          <a:xfrm>
            <a:off x="548640" y="7772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>
                <a:solidFill>
                  <a:srgbClr val="616161"/>
                </a:solidFill>
                <a:latin typeface="Calibri Light" pitchFamily="34" charset="0"/>
              </a:rPr>
              <a:t>Accion Edit con GET para cargar datos existentes y POST para guardar cambios. SelectList preselecciona la categoria actual del producto.</a:t>
            </a:r>
          </a:p>
        </p:txBody>
      </p:sp>
      <p:sp>
        <p:nvSpPr>
          <p:cNvPr id="10" name="S10"/>
          <p:cNvSpPr/>
          <p:nvPr/>
        </p:nvSpPr>
        <p:spPr>
          <a:xfrm>
            <a:off x="274320" y="1051560"/>
            <a:ext cx="4206240" cy="370332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11"/>
          <p:cNvSpPr/>
          <p:nvPr/>
        </p:nvSpPr>
        <p:spPr>
          <a:xfrm>
            <a:off x="274320" y="1051560"/>
            <a:ext cx="4206240" cy="274320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12"/>
          <p:cNvSpPr/>
          <p:nvPr/>
        </p:nvSpPr>
        <p:spPr>
          <a:xfrm>
            <a:off x="41148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ProductosController.cs (Edit)</a:t>
            </a:r>
          </a:p>
        </p:txBody>
      </p:sp>
      <p:sp>
        <p:nvSpPr>
          <p:cNvPr id="13" name="T13"/>
          <p:cNvSpPr/>
          <p:nvPr/>
        </p:nvSpPr>
        <p:spPr>
          <a:xfrm>
            <a:off x="411480" y="1371600"/>
            <a:ext cx="3931920" cy="331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// GET: Productos/Edit/5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[HttpGet]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public async </a:t>
            </a:r>
            <a:r>
              <a:rPr lang="en-US" sz="680">
                <a:solidFill>
                  <a:srgbClr val="60A5FA"/>
                </a:solidFill>
                <a:latin typeface="Consolas" pitchFamily="34" charset="0"/>
              </a:rPr>
              <a:t>Task&lt;IActionResult&gt;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Edit(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int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? id)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if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(id ==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null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)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return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NotFound();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  var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prod =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await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_db.Productos.FindAsync(id);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if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(prod ==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null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)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return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NotFound();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/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ViewBag.Categorias =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new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    SelectList(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_db.Categorias,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      "Id"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, 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"Nombre"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  prod.CategoriaId);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return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View(prod);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}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/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// POST: Productos/Edit/5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[HttpPost]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[ValidateAntiForgeryToken]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public async </a:t>
            </a:r>
            <a:r>
              <a:rPr lang="en-US" sz="680">
                <a:solidFill>
                  <a:srgbClr val="60A5FA"/>
                </a:solidFill>
                <a:latin typeface="Consolas" pitchFamily="34" charset="0"/>
              </a:rPr>
              <a:t>Task&lt;IActionResult&gt;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Edit(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int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id, </a:t>
            </a:r>
            <a:r>
              <a:rPr lang="en-US" sz="680">
                <a:solidFill>
                  <a:srgbClr val="60A5FA"/>
                </a:solidFill>
                <a:latin typeface="Consolas" pitchFamily="34" charset="0"/>
              </a:rPr>
              <a:t>Producto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p)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if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(id != p.Id)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return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NotFound();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if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(!ModelState.IsValid)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{ </a:t>
            </a: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/* reload ViewBag */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return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View(p); }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/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_db.Update(p);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await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_db.SaveChangesAsync();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return </a:t>
            </a: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RedirectToAction(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"Index"</a:t>
            </a: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)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}</a:t>
            </a:r>
          </a:p>
        </p:txBody>
      </p:sp>
      <p:sp>
        <p:nvSpPr>
          <p:cNvPr id="20" name="S20"/>
          <p:cNvSpPr/>
          <p:nvPr/>
        </p:nvSpPr>
        <p:spPr>
          <a:xfrm>
            <a:off x="4663440" y="1051560"/>
            <a:ext cx="4206240" cy="370332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21"/>
          <p:cNvSpPr/>
          <p:nvPr/>
        </p:nvSpPr>
        <p:spPr>
          <a:xfrm>
            <a:off x="4663440" y="1051560"/>
            <a:ext cx="4206240" cy="274320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22"/>
          <p:cNvSpPr/>
          <p:nvPr/>
        </p:nvSpPr>
        <p:spPr>
          <a:xfrm>
            <a:off x="480060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Edit.cshtml</a:t>
            </a:r>
          </a:p>
        </p:txBody>
      </p:sp>
      <p:sp>
        <p:nvSpPr>
          <p:cNvPr id="23" name="T23"/>
          <p:cNvSpPr/>
          <p:nvPr/>
        </p:nvSpPr>
        <p:spPr>
          <a:xfrm>
            <a:off x="4800600" y="1371600"/>
            <a:ext cx="3931920" cy="331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@model </a:t>
            </a:r>
            <a:r>
              <a:rPr lang="en-US" sz="680">
                <a:solidFill>
                  <a:srgbClr val="60A5FA"/>
                </a:solidFill>
                <a:latin typeface="Consolas" pitchFamily="34" charset="0"/>
              </a:rPr>
              <a:t>Producto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@{ 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ViewData["Title"] = 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"Editar"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;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}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/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&lt;h2&gt;Editar Producto&lt;/h2&gt;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&lt;form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asp-action=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"Edit"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  // Hidden para el Id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&lt;input type=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"hidden"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asp-for=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"Id"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/&gt;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  // Campos reutilizan el mismo patron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&lt;div class=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"mb-3"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&lt;label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asp-for=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"Nombre"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/&gt;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&lt;input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asp-for=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"Nombre"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      class="form-control"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/&gt;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&lt;span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asp-validation-for=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      "Nombre"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/&gt;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&lt;/div&gt;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  // Select con valor preseleccionado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&lt;div class=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"mb-3"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&lt;select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asp-for=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"CategoriaId"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 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asp-items=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"ViewBag.Categorias"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      class="form-select"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/&gt;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&lt;/div&gt;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  // Demas campos: Precio, Descripcion...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&lt;button type=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"submit"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    class="btn btn-warning"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Actualizar&lt;/button&gt;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&lt;/form&gt;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/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@section </a:t>
            </a: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Scripts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&lt;partial name=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"_ValidationScriptsPartial"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/&gt;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}</a:t>
            </a:r>
          </a:p>
        </p:txBody>
      </p:sp>
      <p:sp>
        <p:nvSpPr>
          <p:cNvPr id="60" name="S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T6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</a:rPr>
              <a:t>.NET Core 8.0 — Vistas del MVC: Ejemplo CRUD (3/4)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Practico CRUD — Delete (Eliminar)</a:t>
            </a:r>
          </a:p>
        </p:txBody>
      </p:sp>
      <p:sp>
        <p:nvSpPr>
          <p:cNvPr id="4" name="T2"/>
          <p:cNvSpPr/>
          <p:nvPr/>
        </p:nvSpPr>
        <p:spPr>
          <a:xfrm>
            <a:off x="548640" y="7772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>
                <a:solidFill>
                  <a:srgbClr val="616161"/>
                </a:solidFill>
                <a:latin typeface="Calibri Light" pitchFamily="34" charset="0"/>
              </a:rPr>
              <a:t>Accion Delete con GET para confirmar y POST para eliminar. Patron ActionName evita conflicto de nombres entre las dos acciones Delete.</a:t>
            </a:r>
          </a:p>
        </p:txBody>
      </p:sp>
      <p:sp>
        <p:nvSpPr>
          <p:cNvPr id="10" name="S10"/>
          <p:cNvSpPr/>
          <p:nvPr/>
        </p:nvSpPr>
        <p:spPr>
          <a:xfrm>
            <a:off x="274320" y="1051560"/>
            <a:ext cx="4206240" cy="370332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11"/>
          <p:cNvSpPr/>
          <p:nvPr/>
        </p:nvSpPr>
        <p:spPr>
          <a:xfrm>
            <a:off x="274320" y="1051560"/>
            <a:ext cx="4206240" cy="274320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12"/>
          <p:cNvSpPr/>
          <p:nvPr/>
        </p:nvSpPr>
        <p:spPr>
          <a:xfrm>
            <a:off x="41148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ProductosController.cs (Delete)</a:t>
            </a:r>
          </a:p>
        </p:txBody>
      </p:sp>
      <p:sp>
        <p:nvSpPr>
          <p:cNvPr id="13" name="T13"/>
          <p:cNvSpPr/>
          <p:nvPr/>
        </p:nvSpPr>
        <p:spPr>
          <a:xfrm>
            <a:off x="411480" y="1371600"/>
            <a:ext cx="3931920" cy="331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// GET: Productos/Delete/5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[HttpGet]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public async </a:t>
            </a:r>
            <a:r>
              <a:rPr lang="en-US" sz="680">
                <a:solidFill>
                  <a:srgbClr val="60A5FA"/>
                </a:solidFill>
                <a:latin typeface="Consolas" pitchFamily="34" charset="0"/>
              </a:rPr>
              <a:t>Task&lt;IActionResult&gt;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Delete(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int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? id)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if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(id ==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null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)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return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NotFound();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  var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prod =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await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_db.Productos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  .FirstOrDefaultAsync(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    p =&gt; p.Id == id);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if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(prod ==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null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)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return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NotFound();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return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View(prod);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}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/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// POST: Productos/Delete/5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[HttpPost, ActionName(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"Delete"</a:t>
            </a: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)]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[ValidateAntiForgeryToken]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public async </a:t>
            </a:r>
            <a:r>
              <a:rPr lang="en-US" sz="680">
                <a:solidFill>
                  <a:srgbClr val="60A5FA"/>
                </a:solidFill>
                <a:latin typeface="Consolas" pitchFamily="34" charset="0"/>
              </a:rPr>
              <a:t>Task&lt;IActionResult&gt;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DeleteConfirmed(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int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id)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  var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prod =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await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_db.Productos.FindAsync(id);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if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(prod !=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null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_db.Productos.Remove(prod);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await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_db.SaveChangesAsync();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return </a:t>
            </a: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RedirectToAction(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"Index"</a:t>
            </a: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)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}</a:t>
            </a:r>
          </a:p>
        </p:txBody>
      </p:sp>
      <p:sp>
        <p:nvSpPr>
          <p:cNvPr id="20" name="S20"/>
          <p:cNvSpPr/>
          <p:nvPr/>
        </p:nvSpPr>
        <p:spPr>
          <a:xfrm>
            <a:off x="4663440" y="1051560"/>
            <a:ext cx="4206240" cy="370332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21"/>
          <p:cNvSpPr/>
          <p:nvPr/>
        </p:nvSpPr>
        <p:spPr>
          <a:xfrm>
            <a:off x="4663440" y="1051560"/>
            <a:ext cx="4206240" cy="274320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22"/>
          <p:cNvSpPr/>
          <p:nvPr/>
        </p:nvSpPr>
        <p:spPr>
          <a:xfrm>
            <a:off x="480060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Delete.cshtml</a:t>
            </a:r>
          </a:p>
        </p:txBody>
      </p:sp>
      <p:sp>
        <p:nvSpPr>
          <p:cNvPr id="23" name="T23"/>
          <p:cNvSpPr/>
          <p:nvPr/>
        </p:nvSpPr>
        <p:spPr>
          <a:xfrm>
            <a:off x="4800600" y="1371600"/>
            <a:ext cx="3931920" cy="331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@model </a:t>
            </a:r>
            <a:r>
              <a:rPr lang="en-US" sz="680">
                <a:solidFill>
                  <a:srgbClr val="60A5FA"/>
                </a:solidFill>
                <a:latin typeface="Consolas" pitchFamily="34" charset="0"/>
              </a:rPr>
              <a:t>Producto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@{ 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ViewData["Title"] = 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"Eliminar"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;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}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/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&lt;h2&gt;Confirmar Eliminacion&lt;/h2&gt;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/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// Detalle del producto a eliminar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&lt;div class=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"card p-4 mb-3"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&lt;dl class=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"row"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&lt;dt class=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"col-sm-3"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 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@Html.DisplayNameFor(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m =&gt;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    m.Nombre)&lt;/dt&gt;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&lt;dd class=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"col-sm-9"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 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@Model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.Nombre&lt;/dd&gt;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&lt;dt class=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"col-sm-3"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&gt;Precio&lt;/dt&gt;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&lt;dd class=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"col-sm-9"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 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@Model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.Precio.ToString(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"C"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&lt;/dd&gt;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&lt;/dl&gt;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&lt;/div&gt;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/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// Formulario de confirmacion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&lt;form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asp-action=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"Delete"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&lt;input type=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"hidden"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asp-for=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"Id"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/&gt;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&lt;button type=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"submit"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    class="btn btn-danger"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Eliminar&lt;/button&gt;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&lt;a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asp-action=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"Index"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    class="btn btn-secondary"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Cancelar&lt;/a&gt;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&lt;/form&gt;</a:t>
            </a:r>
          </a:p>
        </p:txBody>
      </p:sp>
      <p:sp>
        <p:nvSpPr>
          <p:cNvPr id="60" name="S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T6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</a:rPr>
              <a:t>.NET Core 8.0 — Vistas del MVC: Ejemplo CRUD (4/4)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 de Modelos y ModelState</a:t>
            </a:r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 en ASP.NET Core 8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ASP.NET Core valida automaticamente los datos del modelo usando Data Annotations y ModelState. El controlador verifica ModelState.IsValid antes de procesar la solicitud.</a:t>
            </a:r>
            <a:endParaRPr lang="en-US" sz="105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657600" cy="45720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58368" y="2075688"/>
            <a:ext cx="3438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Annotations</a:t>
            </a:r>
            <a:endParaRPr lang="en-US" sz="1000"/>
          </a:p>
          <a:p>
            <a:pPr marL="0" indent="0">
              <a:buNone/>
            </a:pPr>
            <a:r>
              <a:rPr lang="en-US" sz="90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Atributos como [Required], [StringLength], [Range] y [EmailAddress] decoran las propiedades del modelo.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3657600" cy="4572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58368" y="2606040"/>
            <a:ext cx="3438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ModelState.IsValid</a:t>
            </a:r>
            <a:endParaRPr lang="en-US" sz="1000"/>
          </a:p>
          <a:p>
            <a:pPr marL="0" indent="0">
              <a:buNone/>
            </a:pPr>
            <a:r>
              <a:rPr lang="en-US" sz="90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Verifica si todas las validaciones del modelo se cumplieron antes de procesar los datos.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548640" y="3118104"/>
            <a:ext cx="3657600" cy="4572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58368" y="3136392"/>
            <a:ext cx="3438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Personalizados</a:t>
            </a:r>
            <a:endParaRPr lang="en-US" sz="1000"/>
          </a:p>
          <a:p>
            <a:pPr marL="0" indent="0">
              <a:buNone/>
            </a:pPr>
            <a:r>
              <a:rPr lang="en-US" sz="90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ErrorMessage en cada atributo permite definir mensajes claros para el usuario final.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54864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de Validacion Comunes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548640" y="390448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b="1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[Required]  </a:t>
            </a:r>
            <a:r>
              <a:rPr lang="en-US" sz="9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Campo obligatorio, no admite null ni vacio</a:t>
            </a:r>
            <a:endParaRPr lang="en-US" sz="950"/>
          </a:p>
          <a:p>
            <a:pPr marL="0" indent="0">
              <a:lnSpc>
                <a:spcPct val="150000"/>
              </a:lnSpc>
              <a:buNone/>
            </a:pPr>
            <a:r>
              <a:rPr lang="en-US" sz="950" b="1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[StringLength(100)]  </a:t>
            </a:r>
            <a:r>
              <a:rPr lang="en-US" sz="9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Longitud maxima de la cadena</a:t>
            </a:r>
            <a:endParaRPr lang="en-US" sz="950"/>
          </a:p>
          <a:p>
            <a:pPr marL="0" indent="0">
              <a:lnSpc>
                <a:spcPct val="150000"/>
              </a:lnSpc>
              <a:buNone/>
            </a:pPr>
            <a:r>
              <a:rPr lang="en-US" sz="950" b="1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[Range(1, 999)]  </a:t>
            </a:r>
            <a:r>
              <a:rPr lang="en-US" sz="9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Valor numerico dentro de un rango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4572000" y="1005840"/>
            <a:ext cx="4023360" cy="361188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4572000" y="1005840"/>
            <a:ext cx="4023360" cy="292608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709160" y="10058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Product.cs + Controller</a:t>
            </a:r>
            <a:endParaRPr lang="en-US" sz="800"/>
          </a:p>
        </p:txBody>
      </p:sp>
      <p:sp>
        <p:nvSpPr>
          <p:cNvPr id="17" name="Text 15"/>
          <p:cNvSpPr/>
          <p:nvPr/>
        </p:nvSpPr>
        <p:spPr>
          <a:xfrm>
            <a:off x="4709160" y="1353312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Modelo con Data Annotations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[Required(ErrorMessage = “Nombre requerido”)]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[StringLength(100)]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 { get; set; }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[Range(1, 9999)]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decimal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Price { get; set; }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Validacion en el Controller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[HttpPost]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IActionResult Create(Product p)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</a:t>
            </a:r>
            <a:r>
              <a:rPr lang="en-US" sz="85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ModelState.IsValid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View(p);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_db.Products.Add(p);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_db.SaveChanges();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RedirectToAction(“Index”);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Core 8.0 — Vistas del MVC: Validacion de Modelos</a:t>
            </a:r>
            <a:endParaRPr lang="en-US" sz="85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FluentValidation como Alternativa</a:t>
            </a:r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 Avanzada con Reglas Fluidas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FluentValidation es una libreria .NET que permite definir reglas de validacion complejas usando una API fluida. Se integra facilmente con ASP.NET Core 8 mediante inyeccion de dependencias.</a:t>
            </a:r>
            <a:endParaRPr lang="en-US" sz="105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657600" cy="45720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58368" y="2075688"/>
            <a:ext cx="3438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Fluida</a:t>
            </a:r>
            <a:endParaRPr lang="en-US" sz="1000"/>
          </a:p>
          <a:p>
            <a:pPr marL="0" indent="0">
              <a:buNone/>
            </a:pPr>
            <a:r>
              <a:rPr lang="en-US" sz="90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Reglas encadenadas con RuleFor(), Must(), When() y mensajes personalizados por regla.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3657600" cy="4572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58368" y="2606040"/>
            <a:ext cx="3438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en DI</a:t>
            </a:r>
            <a:endParaRPr lang="en-US" sz="1000"/>
          </a:p>
          <a:p>
            <a:pPr marL="0" indent="0">
              <a:buNone/>
            </a:pPr>
            <a:r>
              <a:rPr lang="en-US" sz="90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AddScoped registra cada validator. AddValidatorsFromAssembly los detecta automaticamente.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548640" y="3118104"/>
            <a:ext cx="3657600" cy="4572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58368" y="3136392"/>
            <a:ext cx="3438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 Automatica</a:t>
            </a:r>
            <a:endParaRPr lang="en-US" sz="1000"/>
          </a:p>
          <a:p>
            <a:pPr marL="0" indent="0">
              <a:buNone/>
            </a:pPr>
            <a:r>
              <a:rPr lang="en-US" sz="90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FluentValidation.AspNetCore reemplaza la validacion por defecto y alimenta ModelState.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54864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sobre Data Annotations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548640" y="390448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b="1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Reglas complejas  </a:t>
            </a:r>
            <a:r>
              <a:rPr lang="en-US" sz="9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Validaciones condicionales, cruzadas y asincronas</a:t>
            </a:r>
            <a:endParaRPr lang="en-US" sz="950"/>
          </a:p>
          <a:p>
            <a:pPr marL="0" indent="0">
              <a:lnSpc>
                <a:spcPct val="150000"/>
              </a:lnSpc>
              <a:buNone/>
            </a:pPr>
            <a:r>
              <a:rPr lang="en-US" sz="950" b="1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Testeable  </a:t>
            </a:r>
            <a:r>
              <a:rPr lang="en-US" sz="9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Unit tests directos sobre cada AbstractValidator</a:t>
            </a:r>
            <a:endParaRPr lang="en-US" sz="950"/>
          </a:p>
          <a:p>
            <a:pPr marL="0" indent="0">
              <a:lnSpc>
                <a:spcPct val="150000"/>
              </a:lnSpc>
              <a:buNone/>
            </a:pPr>
            <a:r>
              <a:rPr lang="en-US" sz="950" b="1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Separacion  </a:t>
            </a:r>
            <a:r>
              <a:rPr lang="en-US" sz="9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Logica de validacion fuera del modelo, principio SRP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4572000" y="1005840"/>
            <a:ext cx="4023360" cy="361188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4572000" y="1005840"/>
            <a:ext cx="4023360" cy="292608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709160" y="10058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ProductValidator.cs</a:t>
            </a:r>
            <a:endParaRPr lang="en-US" sz="800"/>
          </a:p>
        </p:txBody>
      </p:sp>
      <p:sp>
        <p:nvSpPr>
          <p:cNvPr id="17" name="Text 15"/>
          <p:cNvSpPr/>
          <p:nvPr/>
        </p:nvSpPr>
        <p:spPr>
          <a:xfrm>
            <a:off x="4709160" y="1353312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FluentValidation - Validator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ProductValidator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AbstractValidator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ProductValidator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RuleFor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=&gt; x.Name)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</a:t>
            </a:r>
            <a:r>
              <a:rPr lang="en-US" sz="85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NotEmpty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</a:t>
            </a:r>
            <a:r>
              <a:rPr lang="en-US" sz="85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WithMessage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(“Nombre requerido”)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</a:t>
            </a:r>
            <a:r>
              <a:rPr lang="en-US" sz="85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MaximumLength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(100);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RuleFor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=&gt; x.Price)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</a:t>
            </a:r>
            <a:r>
              <a:rPr lang="en-US" sz="85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InclusiveBetween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9999);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Registro en Program.cs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builder.Services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</a:t>
            </a:r>
            <a:r>
              <a:rPr lang="en-US" sz="85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AddValidatorsFromAssemblyContaining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ProductValidator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&gt;();</a:t>
            </a:r>
            <a:endParaRPr lang="en-US" sz="85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Core 8.0 — Vistas del MVC: FluentValidation</a:t>
            </a:r>
            <a:endParaRPr lang="en-US" sz="85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 Condicional con When() y Unless()</a:t>
            </a:r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Condicionales en FluentValidation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FluentValidation permite aplicar reglas solo cuando se cumple una condicion con When(), o excluir validaciones con Unless(). Esto permite logica de negocio compleja sin ensuciar el modelo.</a:t>
            </a:r>
            <a:endParaRPr lang="en-US" sz="105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657600" cy="45720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58368" y="2075688"/>
            <a:ext cx="3438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When()</a:t>
            </a:r>
            <a:endParaRPr lang="en-US" sz="1000"/>
          </a:p>
          <a:p>
            <a:pPr marL="0" indent="0">
              <a:buNone/>
            </a:pPr>
            <a:r>
              <a:rPr lang="en-US" sz="90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Aplica la regla solo si la condicion es verdadera. Acepta una lambda con acceso al modelo completo.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3657600" cy="4572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58368" y="2606040"/>
            <a:ext cx="3438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Unless()</a:t>
            </a:r>
            <a:endParaRPr lang="en-US" sz="1000"/>
          </a:p>
          <a:p>
            <a:pPr marL="0" indent="0">
              <a:buNone/>
            </a:pPr>
            <a:r>
              <a:rPr lang="en-US" sz="90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Inverso de When(). Aplica la regla excepto cuando la condicion se cumple. Simplifica negaciones.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548640" y="3118104"/>
            <a:ext cx="3657600" cy="4572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58368" y="3136392"/>
            <a:ext cx="3438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</a:t>
            </a:r>
            <a:endParaRPr lang="en-US" sz="1000"/>
          </a:p>
          <a:p>
            <a:pPr marL="0" indent="0">
              <a:buNone/>
            </a:pPr>
            <a:r>
              <a:rPr lang="en-US" sz="90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Encadena una rama alternativa despues de When(). Ejecuta reglas diferentes si la condicion es falsa.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54864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Comunes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548640" y="390448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b="1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Campos opcionales  </a:t>
            </a:r>
            <a:r>
              <a:rPr lang="en-US" sz="9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Validar email solo si el usuario lo proporciona</a:t>
            </a:r>
            <a:endParaRPr lang="en-US" sz="950"/>
          </a:p>
          <a:p>
            <a:pPr marL="0" indent="0">
              <a:lnSpc>
                <a:spcPct val="150000"/>
              </a:lnSpc>
              <a:buNone/>
            </a:pPr>
            <a:r>
              <a:rPr lang="en-US" sz="950" b="1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Logica de negocio  </a:t>
            </a:r>
            <a:r>
              <a:rPr lang="en-US" sz="9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Descuento requiere codigo solo si supera el 20%</a:t>
            </a:r>
            <a:endParaRPr lang="en-US" sz="950"/>
          </a:p>
          <a:p>
            <a:pPr marL="0" indent="0">
              <a:lnSpc>
                <a:spcPct val="150000"/>
              </a:lnSpc>
              <a:buNone/>
            </a:pPr>
            <a:r>
              <a:rPr lang="en-US" sz="950" b="1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 diferenciados  </a:t>
            </a:r>
            <a:r>
              <a:rPr lang="en-US" sz="9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Admin requiere campos extra que usuario normal no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4572000" y="1005840"/>
            <a:ext cx="4023360" cy="361188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4572000" y="1005840"/>
            <a:ext cx="4023360" cy="292608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709160" y="10058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OrderValidator.cs</a:t>
            </a:r>
            <a:endParaRPr lang="en-US" sz="800"/>
          </a:p>
        </p:txBody>
      </p:sp>
      <p:sp>
        <p:nvSpPr>
          <p:cNvPr id="17" name="Text 15"/>
          <p:cNvSpPr/>
          <p:nvPr/>
        </p:nvSpPr>
        <p:spPr>
          <a:xfrm>
            <a:off x="4709160" y="1353312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Validacion condicional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OrderValidator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AbstractValidator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OrderValidator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RuleFor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=&gt; x.DiscountCode)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</a:t>
            </a:r>
            <a:r>
              <a:rPr lang="en-US" sz="85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NotEmpty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</a:t>
            </a:r>
            <a:r>
              <a:rPr lang="en-US" sz="85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=&gt; x.Discount &gt; 20)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</a:t>
            </a:r>
            <a:r>
              <a:rPr lang="en-US" sz="85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WithMessage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“Codigo requerido”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Unless - inverso de When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RuleFor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=&gt; x.ShippingAddress)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</a:t>
            </a:r>
            <a:r>
              <a:rPr lang="en-US" sz="85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NotEmpty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</a:t>
            </a:r>
            <a:r>
              <a:rPr lang="en-US" sz="85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Unless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=&gt; x.IsDigitalOnly)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</a:t>
            </a:r>
            <a:r>
              <a:rPr lang="en-US" sz="85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WithMessage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“Direccion requerida”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RuleFor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=&gt; x.Notes)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</a:t>
            </a:r>
            <a:r>
              <a:rPr lang="en-US" sz="85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NotEmpty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</a:t>
            </a:r>
            <a:r>
              <a:rPr lang="en-US" sz="85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=&gt; x.IsUrgent);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Core 8.0 — Vistas del MVC: Validacion Condicional</a:t>
            </a:r>
            <a:endParaRPr lang="en-US" sz="85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1645920"/>
          </a:xfrm>
          <a:prstGeom prst="rect">
            <a:avLst/>
          </a:prstGeom>
          <a:solidFill>
            <a:srgbClr val="1565C0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949440" y="457200"/>
            <a:ext cx="2194560" cy="914400"/>
          </a:xfrm>
          <a:prstGeom prst="rect">
            <a:avLst/>
          </a:prstGeom>
          <a:solidFill>
            <a:srgbClr val="42A5F5">
              <a:alpha val="6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— Vistas del MVC</a:t>
            </a:r>
            <a:endParaRPr lang="en-US" sz="460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Conceptos clave de esta sección</a:t>
            </a:r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731520" y="3383280"/>
            <a:ext cx="2743200" cy="0"/>
          </a:xfrm>
          <a:prstGeom prst="line">
            <a:avLst/>
          </a:prstGeom>
          <a:noFill/>
          <a:ln w="254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Sintaxis Razor · Expresiones @ · _Layout, _ViewStart, _ViewImports · Sections · Tag Helpers (Form, Input, Label, Select, Textarea, Validation, Enlaces, Personalizados) · jQuery Unobtrusive · CRUD completo (Create, Edit, Delete) · Validacion con Data Annotations y FluentValidation</a:t>
            </a:r>
            <a:endParaRPr lang="en-US" sz="16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1645920"/>
          </a:xfrm>
          <a:prstGeom prst="rect">
            <a:avLst/>
          </a:prstGeom>
          <a:solidFill>
            <a:srgbClr val="1565C0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949440" y="457200"/>
            <a:ext cx="2194560" cy="914400"/>
          </a:xfrm>
          <a:prstGeom prst="rect">
            <a:avLst/>
          </a:prstGeom>
          <a:solidFill>
            <a:srgbClr val="42A5F5">
              <a:alpha val="6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de Datos</a:t>
            </a:r>
            <a:endParaRPr lang="en-US" sz="460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Entity Framework Core</a:t>
            </a:r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731520" y="3383280"/>
            <a:ext cx="2743200" cy="0"/>
          </a:xfrm>
          <a:prstGeom prst="line">
            <a:avLst/>
          </a:prstGeom>
          <a:noFill/>
          <a:ln w="254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ORM moderno para acceso a datos en .NET Core 8</a:t>
            </a:r>
            <a:endParaRPr lang="en-US" sz="16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Introduccion a Entity Framework Core 8</a:t>
            </a:r>
            <a:endParaRPr lang="en-US" sz="210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Entity Framework Core 8 es el ORM (Object-Relational Mapper) moderno y open source de Microsoft para .NET, que permite trabajar con bases de datos usando objetos C# en lugar de SQL directo.</a:t>
            </a:r>
            <a:endParaRPr lang="en-US" sz="105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14600" cy="310896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514600" cy="38404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58368" y="146304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es EF Core 8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658368" y="1920240"/>
            <a:ext cx="22951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ORM para .NET Moderno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Mapeo objeto-relacional que permite: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Objeto-Relacional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Convierte clases C# en tablas y propiedades en columnas automaticamente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con LINQ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Escribe consultas tipadas en C# que se traducen a SQL optimizado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Tracking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Detecta cambios en entidades y genera comandos INSERT, UPDATE, DELETE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Migraciones de BD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Control de versiones del esquema de base de datos con codigo C#</a:t>
            </a:r>
            <a:endParaRPr lang="en-US" sz="800"/>
          </a:p>
        </p:txBody>
      </p:sp>
      <p:sp>
        <p:nvSpPr>
          <p:cNvPr id="9" name="Shape 7"/>
          <p:cNvSpPr/>
          <p:nvPr/>
        </p:nvSpPr>
        <p:spPr>
          <a:xfrm>
            <a:off x="3227832" y="1463040"/>
            <a:ext cx="2514600" cy="310896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227832" y="1463040"/>
            <a:ext cx="2514600" cy="384048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337560" y="146304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Novedades en EF Core 8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3337560" y="1920240"/>
            <a:ext cx="22951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>
                <a:solidFill>
                  <a:srgbClr val="7B1F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Lanzamiento: Nov 2023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Principales mejoras de la version 8: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Types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Tipos de valor sin identidad propia, ideales para Value Objects en DDD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Columns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Mapeo nativo de propiedades JSON en SQL Server y PostgreSQL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SQL mejorado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Consultas SQL sin procesar que retornan tipos no mapeados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Operations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ExecuteUpdate y ExecuteDelete para operaciones masivas sin cargar entidades</a:t>
            </a:r>
            <a:endParaRPr lang="en-US" sz="800"/>
          </a:p>
        </p:txBody>
      </p:sp>
      <p:sp>
        <p:nvSpPr>
          <p:cNvPr id="13" name="Shape 11"/>
          <p:cNvSpPr/>
          <p:nvPr/>
        </p:nvSpPr>
        <p:spPr>
          <a:xfrm>
            <a:off x="5907024" y="1463040"/>
            <a:ext cx="2514600" cy="310896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907024" y="1463040"/>
            <a:ext cx="2514600" cy="38404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016752" y="146304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Clave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6016752" y="1920240"/>
            <a:ext cx="22951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Productividad y Calidad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Por que elegir EF Core 8: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Multiplataforma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SQL Server, PostgreSQL, SQLite, MySQL, Cosmos DB y mas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 Seguro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Consultas parametrizadas y tipado fuerte previenen SQL Injection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Productividad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Reduce codigo repetitivo de acceso a datos hasta un 80%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Integrado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InMemory provider y soporte nativo para pruebas unitarias</a:t>
            </a:r>
            <a:endParaRPr lang="en-US" sz="80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Core 8.0 — Introduccion a Entity Framework Core 8</a:t>
            </a:r>
            <a:endParaRPr lang="en-US" sz="85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Entity Framework Core 8</a:t>
            </a:r>
            <a:endParaRPr lang="en-US" sz="210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EF Core 8 es el ORM de .NET que mapea objetos C# a bases de datos relacionales. Sus tres pilares son el DbContext, el proveedor LINQ y el sistema de migraciones.</a:t>
            </a:r>
            <a:endParaRPr lang="en-US" sz="105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14600" cy="310896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514600" cy="38404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58368" y="146304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DbContext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658368" y="1920240"/>
            <a:ext cx="22951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Sesion con la Base de Datos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Componente central del ORM: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DbSet&lt;T&gt;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Coleccion tipada que representa una tabla en la base de datos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Tracker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Rastrea cambios en entidades para generar SQL automaticamente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OnModelCreating()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Fluent API para configurar mapeo, relaciones e indices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SaveChangesAsync()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Persiste los cambios en una transaccion atomica</a:t>
            </a:r>
            <a:endParaRPr lang="en-US" sz="800"/>
          </a:p>
        </p:txBody>
      </p:sp>
      <p:sp>
        <p:nvSpPr>
          <p:cNvPr id="9" name="Shape 7"/>
          <p:cNvSpPr/>
          <p:nvPr/>
        </p:nvSpPr>
        <p:spPr>
          <a:xfrm>
            <a:off x="3227832" y="1463040"/>
            <a:ext cx="2514600" cy="310896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227832" y="1463040"/>
            <a:ext cx="2514600" cy="384048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337560" y="146304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LINQ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3337560" y="1920240"/>
            <a:ext cx="22951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>
                <a:solidFill>
                  <a:srgbClr val="7B1F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Proveedor LINQ to Entities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Traduce expresiones C# a SQL nativo: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IQueryable&lt;T&gt;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Consultas diferidas que se ejecutan en el servidor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Eager / Lazy / Explicit Loading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Include(), navegacion lazy con proxies o carga explicita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SQL y FromSqlRaw()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Consultas SQL nativas cuando LINQ no es suficiente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Queries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Consultas precompiladas para mayor rendimiento</a:t>
            </a:r>
            <a:endParaRPr lang="en-US" sz="800"/>
          </a:p>
        </p:txBody>
      </p:sp>
      <p:sp>
        <p:nvSpPr>
          <p:cNvPr id="13" name="Shape 11"/>
          <p:cNvSpPr/>
          <p:nvPr/>
        </p:nvSpPr>
        <p:spPr>
          <a:xfrm>
            <a:off x="5907024" y="1463040"/>
            <a:ext cx="2514600" cy="310896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907024" y="1463040"/>
            <a:ext cx="2514600" cy="38404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016752" y="146304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Migraciones y Proveedores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6016752" y="1920240"/>
            <a:ext cx="22951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Esquema y Base de Datos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Gestion del esquema y conectividad: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Versionado incremental del esquema de base de datos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ef CLI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add, update, remove migrations y database update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Providers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SQL Server, PostgreSQL, SQLite, MySQL, Cosmos DB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en DI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AddDbContext&lt;T&gt;() en Program.cs con connection string</a:t>
            </a:r>
            <a:endParaRPr lang="en-US" sz="80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Core 8.0 — Arquitectura de Entity Framework Core 8</a:t>
            </a:r>
            <a:endParaRPr lang="en-US" sz="85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Configuracion del DbContext en Program.cs</a:t>
            </a:r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457200" y="813816"/>
            <a:ext cx="4754880" cy="3995928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754880" cy="292608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94360" y="7349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— Registro de EF Core 8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82392"/>
            <a:ext cx="44805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 = 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WebApplication.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CreateBuilder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Registrar EF Core con SQL Server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builder.Services.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AddDbContext</a:t>
            </a: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850" dirty="0" err="1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AppDbContext</a:t>
            </a: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options =&gt; options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UseSqlServer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builder.Configuration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GetConnectionString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850" dirty="0" err="1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DefaultConnection</a:t>
            </a:r>
            <a:r>
              <a:rPr lang="en-US" sz="8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EnableSensitiveDataLogging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UseQueryTrackingBehavior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QueryTrackingBehavior.NoTracking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Registrar </a:t>
            </a:r>
            <a:r>
              <a:rPr lang="en-US" sz="85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repositorios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builder.Services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AddScoped</a:t>
            </a: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850" dirty="0" err="1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IProductRepo</a:t>
            </a: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ProductRepo</a:t>
            </a: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</a:t>
            </a:r>
            <a:r>
              <a:rPr lang="en-US" sz="85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Aplicar</a:t>
            </a: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migraciones</a:t>
            </a: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 </a:t>
            </a:r>
            <a:r>
              <a:rPr lang="en-US" sz="85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desarrollo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app.Environment.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IsDevelopment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using var 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 = 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app.Services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CreateScope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scope.ServiceProvider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GetRequiredService</a:t>
            </a: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850" dirty="0" err="1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AppDbContext</a:t>
            </a: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db.Database.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Migrate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MapControllers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de Configuracion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5486400" y="13716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 configuracion de EF Core en Program.cs sigue un flujo claro: instalar el proveedor, definir el DbContext y registrarlo en el contenedor de DI.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5486400" y="2139696"/>
            <a:ext cx="292608" cy="292608"/>
          </a:xfrm>
          <a:prstGeom prst="ellipse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486400" y="2139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5870448" y="21031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NuGet Package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5870448" y="22860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Microsoft.EntityFrameworkCore.SqlServer</a:t>
            </a:r>
            <a:endParaRPr lang="en-US" sz="850"/>
          </a:p>
        </p:txBody>
      </p:sp>
      <p:sp>
        <p:nvSpPr>
          <p:cNvPr id="14" name="Shape 12"/>
          <p:cNvSpPr/>
          <p:nvPr/>
        </p:nvSpPr>
        <p:spPr>
          <a:xfrm>
            <a:off x="5486400" y="2615184"/>
            <a:ext cx="292608" cy="292608"/>
          </a:xfrm>
          <a:prstGeom prst="ellipse">
            <a:avLst/>
          </a:prstGeom>
          <a:solidFill>
            <a:srgbClr val="FB8C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486400" y="2615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5870448" y="2578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DbContext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5870448" y="27614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Hereda de DbContext con DbSet&lt;T&gt;</a:t>
            </a:r>
            <a:endParaRPr lang="en-US" sz="850"/>
          </a:p>
        </p:txBody>
      </p:sp>
      <p:sp>
        <p:nvSpPr>
          <p:cNvPr id="18" name="Shape 16"/>
          <p:cNvSpPr/>
          <p:nvPr/>
        </p:nvSpPr>
        <p:spPr>
          <a:xfrm>
            <a:off x="5486400" y="3090672"/>
            <a:ext cx="292608" cy="292608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486400" y="3090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5870448" y="30540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AddDbContext&lt;T&gt;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5870448" y="32369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Registra el contexto como Scoped en DI</a:t>
            </a:r>
            <a:endParaRPr lang="en-US" sz="850"/>
          </a:p>
        </p:txBody>
      </p:sp>
      <p:sp>
        <p:nvSpPr>
          <p:cNvPr id="22" name="Shape 20"/>
          <p:cNvSpPr/>
          <p:nvPr/>
        </p:nvSpPr>
        <p:spPr>
          <a:xfrm>
            <a:off x="5486400" y="3566160"/>
            <a:ext cx="292608" cy="292608"/>
          </a:xfrm>
          <a:prstGeom prst="ellipse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486400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5870448" y="35295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String</a:t>
            </a:r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5870448" y="37124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appsettings.json con GetConnectionString()</a:t>
            </a:r>
            <a:endParaRPr lang="en-US" sz="850"/>
          </a:p>
        </p:txBody>
      </p:sp>
      <p:sp>
        <p:nvSpPr>
          <p:cNvPr id="26" name="Shape 24"/>
          <p:cNvSpPr/>
          <p:nvPr/>
        </p:nvSpPr>
        <p:spPr>
          <a:xfrm>
            <a:off x="5486400" y="4041648"/>
            <a:ext cx="292608" cy="29260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5486400" y="4041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5870448" y="4005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Opciones Avanzadas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5870448" y="4187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Retry, timeout, lazy loading, split queries</a:t>
            </a:r>
            <a:endParaRPr lang="en-US" sz="850"/>
          </a:p>
        </p:txBody>
      </p:sp>
      <p:sp>
        <p:nvSpPr>
          <p:cNvPr id="30" name="Shape 28"/>
          <p:cNvSpPr/>
          <p:nvPr/>
        </p:nvSpPr>
        <p:spPr>
          <a:xfrm>
            <a:off x="5486400" y="4517136"/>
            <a:ext cx="292608" cy="292608"/>
          </a:xfrm>
          <a:prstGeom prst="ellipse">
            <a:avLst/>
          </a:prstGeom>
          <a:solidFill>
            <a:srgbClr val="00838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5486400" y="4517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5870448" y="44805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Migracion Inicial</a:t>
            </a:r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5870448" y="46634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dotnet ef migrations add y database update</a:t>
            </a:r>
            <a:endParaRPr lang="en-US" sz="85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Core 8.0 — Configuracion del DbContext</a:t>
            </a:r>
            <a:endParaRPr lang="en-US" sz="85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First vs Database First</a:t>
            </a:r>
            <a:endParaRPr lang="en-US" sz="210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EF Core 8 ofrece dos enfoques para definir el modelo de datos: partir del codigo C# o partir de una base de datos existente.</a:t>
            </a:r>
            <a:endParaRPr lang="en-US" sz="105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14600" cy="310896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514600" cy="38404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58368" y="146304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First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658368" y="1920240"/>
            <a:ext cx="22951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Codigo a la Base de Datos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desarrollador define el modelo: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C# como fuente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Defines Cliente, Pedido como clases POCO en tu proyecto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Migraciones generan DDL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dotnet ef migrations add crea scripts SQL automaticamente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total del esquema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Fluent API y Data Annotations para personalizar mapeo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proyectos nuevos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Greenfield: control total desde el inicio del proyecto</a:t>
            </a:r>
            <a:endParaRPr lang="en-US" sz="800"/>
          </a:p>
        </p:txBody>
      </p:sp>
      <p:sp>
        <p:nvSpPr>
          <p:cNvPr id="9" name="Shape 7"/>
          <p:cNvSpPr/>
          <p:nvPr/>
        </p:nvSpPr>
        <p:spPr>
          <a:xfrm>
            <a:off x="3227832" y="1463040"/>
            <a:ext cx="2514600" cy="310896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227832" y="1463040"/>
            <a:ext cx="2514600" cy="384048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337560" y="146304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Comparacion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3337560" y="1920240"/>
            <a:ext cx="22951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>
                <a:solidFill>
                  <a:srgbClr val="7B1F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Criterios de Eleccion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Factores clave para decidir: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nuevo vs existente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Code First para greenfield, DB First para legacy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del esquema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Code First da control total; DB First respeta el DBA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y flujo de trabajo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Devs prefieren Code First; DBAs prefieren DB First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son compatibles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Puedes combinar ambos enfoques en un mismo proyecto</a:t>
            </a:r>
            <a:endParaRPr lang="en-US" sz="800"/>
          </a:p>
        </p:txBody>
      </p:sp>
      <p:sp>
        <p:nvSpPr>
          <p:cNvPr id="13" name="Shape 11"/>
          <p:cNvSpPr/>
          <p:nvPr/>
        </p:nvSpPr>
        <p:spPr>
          <a:xfrm>
            <a:off x="5907024" y="1463040"/>
            <a:ext cx="2514600" cy="310896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907024" y="1463040"/>
            <a:ext cx="2514600" cy="38404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016752" y="146304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First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6016752" y="1920240"/>
            <a:ext cx="22951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 la Base de Datos al Codigo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 parte de una BD existente: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automatico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dotnet ef dbcontext scaffold genera clases desde las tablas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como fuente de verdad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esquema lo define el DBA o herramientas externas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Regeneracion bajo demanda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 cambiar la BD, re-scaffold para actualizar el modelo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BDs existentes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Legacy o sistemas con esquemas complejos ya definidos</a:t>
            </a:r>
            <a:endParaRPr lang="en-US" sz="80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Core 8.0 — Code First vs Database First</a:t>
            </a:r>
            <a:endParaRPr lang="en-US" sz="85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Code First — Modelo Pedido/Cliente</a:t>
            </a:r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754880" cy="36576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754880" cy="292608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Models/Cliente.cs + Pedido.cs</a:t>
            </a:r>
            <a:endParaRPr lang="en-US" sz="850"/>
          </a:p>
        </p:txBody>
      </p:sp>
      <p:sp>
        <p:nvSpPr>
          <p:cNvPr id="7" name="Text 5"/>
          <p:cNvSpPr/>
          <p:nvPr/>
        </p:nvSpPr>
        <p:spPr>
          <a:xfrm>
            <a:off x="594360" y="1353312"/>
            <a:ext cx="44805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85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 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{ get; set; }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required string 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 { get; set; }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string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Email { get; set; }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r>
              <a:rPr lang="en-US" sz="85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ICollection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&lt;Pedido&gt;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Pedidos { get; set; }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85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 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{ get; set; }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r>
              <a:rPr lang="en-US" sz="85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 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Fecha { get; set; }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decimal 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{ get; set; }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 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ClienteId { get; set; }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virtual </a:t>
            </a:r>
            <a:r>
              <a:rPr lang="en-US" sz="85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 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 { get; set; }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/>
          </a:p>
        </p:txBody>
      </p:sp>
      <p:sp>
        <p:nvSpPr>
          <p:cNvPr id="8" name="Text 6"/>
          <p:cNvSpPr/>
          <p:nvPr/>
        </p:nvSpPr>
        <p:spPr>
          <a:xfrm>
            <a:off x="548640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Code First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5486400" y="13716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Defines las clases C# primero y EF Core genera la base de datos. Las migraciones mantienen el esquema sincronizado.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5486400" y="2139696"/>
            <a:ext cx="292608" cy="292608"/>
          </a:xfrm>
          <a:prstGeom prst="ellipse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486400" y="2139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5870448" y="21031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Modelos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5870448" y="22860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Creas clases POCO con propiedades y relaciones</a:t>
            </a:r>
            <a:endParaRPr lang="en-US" sz="850"/>
          </a:p>
        </p:txBody>
      </p:sp>
      <p:sp>
        <p:nvSpPr>
          <p:cNvPr id="14" name="Shape 12"/>
          <p:cNvSpPr/>
          <p:nvPr/>
        </p:nvSpPr>
        <p:spPr>
          <a:xfrm>
            <a:off x="5486400" y="2615184"/>
            <a:ext cx="292608" cy="292608"/>
          </a:xfrm>
          <a:prstGeom prst="ellipse">
            <a:avLst/>
          </a:prstGeom>
          <a:solidFill>
            <a:srgbClr val="FB8C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486400" y="2615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5870448" y="2578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DbContext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5870448" y="27614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Registras DbSet&lt;Cliente&gt; y DbSet&lt;Pedido&gt;</a:t>
            </a:r>
            <a:endParaRPr lang="en-US" sz="850"/>
          </a:p>
        </p:txBody>
      </p:sp>
      <p:sp>
        <p:nvSpPr>
          <p:cNvPr id="18" name="Shape 16"/>
          <p:cNvSpPr/>
          <p:nvPr/>
        </p:nvSpPr>
        <p:spPr>
          <a:xfrm>
            <a:off x="5486400" y="3090672"/>
            <a:ext cx="292608" cy="292608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486400" y="3090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5870448" y="30540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Migration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5870448" y="32369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dotnet ef migrations add InitialCreate</a:t>
            </a:r>
            <a:endParaRPr lang="en-US" sz="850"/>
          </a:p>
        </p:txBody>
      </p:sp>
      <p:sp>
        <p:nvSpPr>
          <p:cNvPr id="22" name="Shape 20"/>
          <p:cNvSpPr/>
          <p:nvPr/>
        </p:nvSpPr>
        <p:spPr>
          <a:xfrm>
            <a:off x="5486400" y="3566160"/>
            <a:ext cx="292608" cy="292608"/>
          </a:xfrm>
          <a:prstGeom prst="ellipse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486400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5870448" y="35295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Database</a:t>
            </a:r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5870448" y="37124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dotnet ef database update aplica el esquema</a:t>
            </a:r>
            <a:endParaRPr lang="en-US" sz="850"/>
          </a:p>
        </p:txBody>
      </p:sp>
      <p:sp>
        <p:nvSpPr>
          <p:cNvPr id="26" name="Shape 24"/>
          <p:cNvSpPr/>
          <p:nvPr/>
        </p:nvSpPr>
        <p:spPr>
          <a:xfrm>
            <a:off x="5486400" y="4041648"/>
            <a:ext cx="292608" cy="29260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5486400" y="4041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5870448" y="4005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Iterar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5870448" y="4187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Modificas modelos y creas nuevas migraciones</a:t>
            </a:r>
            <a:endParaRPr lang="en-US" sz="850"/>
          </a:p>
        </p:txBody>
      </p:sp>
      <p:sp>
        <p:nvSpPr>
          <p:cNvPr id="30" name="Shape 28"/>
          <p:cNvSpPr/>
          <p:nvPr/>
        </p:nvSpPr>
        <p:spPr>
          <a:xfrm>
            <a:off x="5486400" y="4517136"/>
            <a:ext cx="292608" cy="292608"/>
          </a:xfrm>
          <a:prstGeom prst="ellipse">
            <a:avLst/>
          </a:prstGeom>
          <a:solidFill>
            <a:srgbClr val="00838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5486400" y="4517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5870448" y="44805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Produccion</a:t>
            </a:r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5870448" y="46634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Script SQL generado para despliegue controlado</a:t>
            </a:r>
            <a:endParaRPr lang="en-US" sz="85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Core 8.0 — Ejemplo Code First</a:t>
            </a:r>
            <a:endParaRPr lang="en-US" sz="85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Database First — Scaffold Pedido/Cliente</a:t>
            </a:r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754880" cy="36576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754880" cy="292608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— Scaffold + Resultado</a:t>
            </a:r>
            <a:endParaRPr lang="en-US" sz="850"/>
          </a:p>
        </p:txBody>
      </p:sp>
      <p:sp>
        <p:nvSpPr>
          <p:cNvPr id="7" name="Text 5"/>
          <p:cNvSpPr/>
          <p:nvPr/>
        </p:nvSpPr>
        <p:spPr>
          <a:xfrm>
            <a:off x="594360" y="1353312"/>
            <a:ext cx="44805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Comando scaffold desde la terminal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ef dbcontext scaffold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5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"Server=.;Database=TiendaDb;Trusted_Connection=true"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5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Microsoft.EntityFrameworkCore.SqlServer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--output-dir </a:t>
            </a:r>
            <a:r>
              <a:rPr lang="en-US" sz="85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--context </a:t>
            </a:r>
            <a:r>
              <a:rPr lang="en-US" sz="85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TiendaContext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Clase generada automaticamente: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partial class </a:t>
            </a:r>
            <a:r>
              <a:rPr lang="en-US" sz="85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 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{ get; set; }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string 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 { get; set; }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string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Email { get; set; }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virtual </a:t>
            </a:r>
            <a:r>
              <a:rPr lang="en-US" sz="85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ICollection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85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Pedidos { get; set; }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/>
          </a:p>
        </p:txBody>
      </p:sp>
      <p:sp>
        <p:nvSpPr>
          <p:cNvPr id="8" name="Text 6"/>
          <p:cNvSpPr/>
          <p:nvPr/>
        </p:nvSpPr>
        <p:spPr>
          <a:xfrm>
            <a:off x="548640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Database First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5486400" y="13716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Partes de una base de datos existente y EF Core genera las clases C# y el DbContext automaticamente.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5486400" y="2139696"/>
            <a:ext cx="292608" cy="292608"/>
          </a:xfrm>
          <a:prstGeom prst="ellipse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486400" y="2139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5870448" y="21031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Existente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5870448" y="22860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Tablas Clientes y Pedidos ya creadas por el DBA</a:t>
            </a:r>
            <a:endParaRPr lang="en-US" sz="850"/>
          </a:p>
        </p:txBody>
      </p:sp>
      <p:sp>
        <p:nvSpPr>
          <p:cNvPr id="14" name="Shape 12"/>
          <p:cNvSpPr/>
          <p:nvPr/>
        </p:nvSpPr>
        <p:spPr>
          <a:xfrm>
            <a:off x="5486400" y="2615184"/>
            <a:ext cx="292608" cy="292608"/>
          </a:xfrm>
          <a:prstGeom prst="ellipse">
            <a:avLst/>
          </a:prstGeom>
          <a:solidFill>
            <a:srgbClr val="FB8C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486400" y="2615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5870448" y="2578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5870448" y="27614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dotnet ef dbcontext scaffold genera el codigo</a:t>
            </a:r>
            <a:endParaRPr lang="en-US" sz="850"/>
          </a:p>
        </p:txBody>
      </p:sp>
      <p:sp>
        <p:nvSpPr>
          <p:cNvPr id="18" name="Shape 16"/>
          <p:cNvSpPr/>
          <p:nvPr/>
        </p:nvSpPr>
        <p:spPr>
          <a:xfrm>
            <a:off x="5486400" y="3090672"/>
            <a:ext cx="292608" cy="292608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486400" y="3090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5870448" y="30540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Generados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5870448" y="32369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Clases partial Cliente.cs y Pedido.cs creadas</a:t>
            </a:r>
            <a:endParaRPr lang="en-US" sz="850"/>
          </a:p>
        </p:txBody>
      </p:sp>
      <p:sp>
        <p:nvSpPr>
          <p:cNvPr id="22" name="Shape 20"/>
          <p:cNvSpPr/>
          <p:nvPr/>
        </p:nvSpPr>
        <p:spPr>
          <a:xfrm>
            <a:off x="5486400" y="3566160"/>
            <a:ext cx="292608" cy="292608"/>
          </a:xfrm>
          <a:prstGeom prst="ellipse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486400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5870448" y="35295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DbContext Generado</a:t>
            </a:r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5870448" y="37124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TiendaContext con DbSets y OnModelCreating</a:t>
            </a:r>
            <a:endParaRPr lang="en-US" sz="850"/>
          </a:p>
        </p:txBody>
      </p:sp>
      <p:sp>
        <p:nvSpPr>
          <p:cNvPr id="26" name="Shape 24"/>
          <p:cNvSpPr/>
          <p:nvPr/>
        </p:nvSpPr>
        <p:spPr>
          <a:xfrm>
            <a:off x="5486400" y="4041648"/>
            <a:ext cx="292608" cy="29260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5486400" y="4041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5870448" y="4005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Personalizar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5870448" y="4187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Clases partial para agregar logica sin perder cambios</a:t>
            </a:r>
            <a:endParaRPr lang="en-US" sz="850"/>
          </a:p>
        </p:txBody>
      </p:sp>
      <p:sp>
        <p:nvSpPr>
          <p:cNvPr id="30" name="Shape 28"/>
          <p:cNvSpPr/>
          <p:nvPr/>
        </p:nvSpPr>
        <p:spPr>
          <a:xfrm>
            <a:off x="5486400" y="4517136"/>
            <a:ext cx="292608" cy="292608"/>
          </a:xfrm>
          <a:prstGeom prst="ellipse">
            <a:avLst/>
          </a:prstGeom>
          <a:solidFill>
            <a:srgbClr val="00838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5486400" y="4517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5870448" y="44805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Re-scaffold</a:t>
            </a:r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5870448" y="46634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 la BD cambia, ejecutas scaffold con --force</a:t>
            </a:r>
            <a:endParaRPr lang="en-US" sz="85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Core 8.0 — Ejemplo Database First</a:t>
            </a:r>
            <a:endParaRPr lang="en-US" sz="85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API — Configuracion de Relaciones</a:t>
            </a:r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457200" y="890698"/>
            <a:ext cx="4754880" cy="3945467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754880" cy="292608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94360" y="89747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TiendaContext.cs — OnModelCreating</a:t>
            </a:r>
            <a:endParaRPr lang="en-US" sz="850"/>
          </a:p>
        </p:txBody>
      </p:sp>
      <p:sp>
        <p:nvSpPr>
          <p:cNvPr id="7" name="Text 5"/>
          <p:cNvSpPr/>
          <p:nvPr/>
        </p:nvSpPr>
        <p:spPr>
          <a:xfrm>
            <a:off x="594360" y="1244944"/>
            <a:ext cx="4480560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 override void 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OnModelCreating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ModelBuilder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modelBuilder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</a:t>
            </a:r>
            <a:r>
              <a:rPr lang="en-US" sz="85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Configuracion</a:t>
            </a: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 </a:t>
            </a:r>
            <a:r>
              <a:rPr lang="en-US" sz="85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modelBuilder.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</a:t>
            </a: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850" dirty="0" err="1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</a:t>
            </a: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=&gt;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50" dirty="0" err="1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ToTable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850" dirty="0" err="1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</a:t>
            </a:r>
            <a:r>
              <a:rPr lang="en-US" sz="8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50" dirty="0" err="1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HasKey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 =&gt; 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c.Id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50" dirty="0" err="1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Property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 =&gt; 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c.Nombre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IsRequired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HasMaxLength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(200);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50" dirty="0" err="1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HasIndex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 =&gt; 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c.Email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IsUnique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Relacion uno-a-</a:t>
            </a:r>
            <a:r>
              <a:rPr lang="en-US" sz="85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muchos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modelBuilder.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</a:t>
            </a: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850" dirty="0" err="1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=&gt;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50" dirty="0" err="1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HasOne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 =&gt; 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p.Cliente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WithMany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 =&gt; 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c.Pedidos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HasForeignKey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 =&gt; 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p.ClienteId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OnDelete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DeleteBehavior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.Cascade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50" dirty="0" err="1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Property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 =&gt; 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p.Total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HasPrecision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(18, 2);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Configuraciones Clave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5486400" y="13716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Fluent API permite configurar relaciones, restricciones e indices directamente en el DbContext con mayor control que Data Annotations.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5486400" y="2139696"/>
            <a:ext cx="292608" cy="292608"/>
          </a:xfrm>
          <a:prstGeom prst="ellipse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486400" y="2139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5870448" y="21031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HasOne / HasMany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5870448" y="22860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Define relaciones uno-a-muchos entre entidades</a:t>
            </a:r>
            <a:endParaRPr lang="en-US" sz="850"/>
          </a:p>
        </p:txBody>
      </p:sp>
      <p:sp>
        <p:nvSpPr>
          <p:cNvPr id="14" name="Shape 12"/>
          <p:cNvSpPr/>
          <p:nvPr/>
        </p:nvSpPr>
        <p:spPr>
          <a:xfrm>
            <a:off x="5486400" y="2615184"/>
            <a:ext cx="292608" cy="292608"/>
          </a:xfrm>
          <a:prstGeom prst="ellipse">
            <a:avLst/>
          </a:prstGeom>
          <a:solidFill>
            <a:srgbClr val="FB8C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486400" y="2615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5870448" y="2578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WithForeignKey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5870448" y="27614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Especifica la clave foranea de la relacion</a:t>
            </a:r>
            <a:endParaRPr lang="en-US" sz="850"/>
          </a:p>
        </p:txBody>
      </p:sp>
      <p:sp>
        <p:nvSpPr>
          <p:cNvPr id="18" name="Shape 16"/>
          <p:cNvSpPr/>
          <p:nvPr/>
        </p:nvSpPr>
        <p:spPr>
          <a:xfrm>
            <a:off x="5486400" y="3090672"/>
            <a:ext cx="292608" cy="292608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486400" y="3090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5870448" y="30540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OnDelete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5870448" y="32369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Controla el comportamiento en cascada al eliminar</a:t>
            </a:r>
            <a:endParaRPr lang="en-US" sz="850"/>
          </a:p>
        </p:txBody>
      </p:sp>
      <p:sp>
        <p:nvSpPr>
          <p:cNvPr id="22" name="Shape 20"/>
          <p:cNvSpPr/>
          <p:nvPr/>
        </p:nvSpPr>
        <p:spPr>
          <a:xfrm>
            <a:off x="5486400" y="3566160"/>
            <a:ext cx="292608" cy="292608"/>
          </a:xfrm>
          <a:prstGeom prst="ellipse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486400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5870448" y="35295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HasIndex</a:t>
            </a:r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5870448" y="37124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Crea indices para optimizar consultas frecuentes</a:t>
            </a:r>
            <a:endParaRPr lang="en-US" sz="850"/>
          </a:p>
        </p:txBody>
      </p:sp>
      <p:sp>
        <p:nvSpPr>
          <p:cNvPr id="26" name="Shape 24"/>
          <p:cNvSpPr/>
          <p:nvPr/>
        </p:nvSpPr>
        <p:spPr>
          <a:xfrm>
            <a:off x="5486400" y="4041648"/>
            <a:ext cx="292608" cy="29260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5486400" y="4041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5870448" y="4005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Config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5870448" y="4187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HasMaxLength, IsRequired, HasPrecision para columnas</a:t>
            </a:r>
            <a:endParaRPr lang="en-US" sz="850"/>
          </a:p>
        </p:txBody>
      </p:sp>
      <p:sp>
        <p:nvSpPr>
          <p:cNvPr id="30" name="Shape 28"/>
          <p:cNvSpPr/>
          <p:nvPr/>
        </p:nvSpPr>
        <p:spPr>
          <a:xfrm>
            <a:off x="5486400" y="4517136"/>
            <a:ext cx="292608" cy="292608"/>
          </a:xfrm>
          <a:prstGeom prst="ellipse">
            <a:avLst/>
          </a:prstGeom>
          <a:solidFill>
            <a:srgbClr val="00838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5486400" y="4517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5870448" y="44805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ToTable</a:t>
            </a:r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5870448" y="46634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Mapeo explicito de entidad a nombre de tabla en la BD</a:t>
            </a:r>
            <a:endParaRPr lang="en-US" sz="85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Core 8.0 — Fluent API</a:t>
            </a:r>
            <a:endParaRPr lang="en-US" sz="85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Migraciones EF Core — Paso a Paso</a:t>
            </a:r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754880" cy="36576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754880" cy="292608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— Comandos de Migracion</a:t>
            </a:r>
            <a:endParaRPr lang="en-US" sz="850"/>
          </a:p>
        </p:txBody>
      </p:sp>
      <p:sp>
        <p:nvSpPr>
          <p:cNvPr id="7" name="Text 5"/>
          <p:cNvSpPr/>
          <p:nvPr/>
        </p:nvSpPr>
        <p:spPr>
          <a:xfrm>
            <a:off x="594360" y="1353312"/>
            <a:ext cx="44805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Instalar herramientas EF Core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</a:t>
            </a:r>
            <a:r>
              <a:rPr lang="en-US" sz="85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 --global dotnet-ef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Crear migracion inicial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</a:t>
            </a:r>
            <a:r>
              <a:rPr lang="en-US" sz="85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 migrations 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</a:t>
            </a:r>
            <a:r>
              <a:rPr lang="en-US" sz="85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InitialCreate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Ver SQL generado (sin aplicar)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</a:t>
            </a:r>
            <a:r>
              <a:rPr lang="en-US" sz="85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 migrations 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Aplicar migracion a la BD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</a:t>
            </a:r>
            <a:r>
              <a:rPr lang="en-US" sz="85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 database 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Agregar campo Telefono a Cliente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</a:t>
            </a:r>
            <a:r>
              <a:rPr lang="en-US" sz="85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 migrations 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</a:t>
            </a:r>
            <a:r>
              <a:rPr lang="en-US" sz="85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AddTelefonoCliente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6. Generar script para produccion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</a:t>
            </a:r>
            <a:r>
              <a:rPr lang="en-US" sz="85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 migrations 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 </a:t>
            </a:r>
            <a:r>
              <a:rPr lang="en-US" sz="85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InitialCreate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AddTelefonoCliente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--idempotent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7. Revertir ultima migracion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</a:t>
            </a:r>
            <a:r>
              <a:rPr lang="en-US" sz="85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 database 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</a:t>
            </a:r>
            <a:r>
              <a:rPr lang="en-US" sz="85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InitialCreate</a:t>
            </a:r>
            <a:endParaRPr lang="en-US" sz="850"/>
          </a:p>
        </p:txBody>
      </p:sp>
      <p:sp>
        <p:nvSpPr>
          <p:cNvPr id="8" name="Text 6"/>
          <p:cNvSpPr/>
          <p:nvPr/>
        </p:nvSpPr>
        <p:spPr>
          <a:xfrm>
            <a:off x="548640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Migraciones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5486400" y="13716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Las migraciones versionan el esquema de la BD como codigo C#. Cada cambio en el modelo genera una migracion incremental.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5486400" y="2139696"/>
            <a:ext cx="292608" cy="292608"/>
          </a:xfrm>
          <a:prstGeom prst="ellipse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486400" y="2139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5870448" y="21031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 Modelo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5870448" y="22860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Agregas propiedades o entidades a tus clases C#</a:t>
            </a:r>
            <a:endParaRPr lang="en-US" sz="850"/>
          </a:p>
        </p:txBody>
      </p:sp>
      <p:sp>
        <p:nvSpPr>
          <p:cNvPr id="14" name="Shape 12"/>
          <p:cNvSpPr/>
          <p:nvPr/>
        </p:nvSpPr>
        <p:spPr>
          <a:xfrm>
            <a:off x="5486400" y="2615184"/>
            <a:ext cx="292608" cy="292608"/>
          </a:xfrm>
          <a:prstGeom prst="ellipse">
            <a:avLst/>
          </a:prstGeom>
          <a:solidFill>
            <a:srgbClr val="FB8C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486400" y="2615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5870448" y="2578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Migration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5870448" y="27614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Genera archivo con metodos Up() y Down()</a:t>
            </a:r>
            <a:endParaRPr lang="en-US" sz="850"/>
          </a:p>
        </p:txBody>
      </p:sp>
      <p:sp>
        <p:nvSpPr>
          <p:cNvPr id="18" name="Shape 16"/>
          <p:cNvSpPr/>
          <p:nvPr/>
        </p:nvSpPr>
        <p:spPr>
          <a:xfrm>
            <a:off x="5486400" y="3090672"/>
            <a:ext cx="292608" cy="292608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486400" y="3090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5870448" y="30540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Migracion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5870448" y="32369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Verifica el SQL generado antes de aplicar cambios</a:t>
            </a:r>
            <a:endParaRPr lang="en-US" sz="850"/>
          </a:p>
        </p:txBody>
      </p:sp>
      <p:sp>
        <p:nvSpPr>
          <p:cNvPr id="22" name="Shape 20"/>
          <p:cNvSpPr/>
          <p:nvPr/>
        </p:nvSpPr>
        <p:spPr>
          <a:xfrm>
            <a:off x="5486400" y="3566160"/>
            <a:ext cx="292608" cy="292608"/>
          </a:xfrm>
          <a:prstGeom prst="ellipse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486400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5870448" y="35295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Database</a:t>
            </a:r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5870448" y="37124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Aplica los cambios pendientes a la base de datos</a:t>
            </a:r>
            <a:endParaRPr lang="en-US" sz="850"/>
          </a:p>
        </p:txBody>
      </p:sp>
      <p:sp>
        <p:nvSpPr>
          <p:cNvPr id="26" name="Shape 24"/>
          <p:cNvSpPr/>
          <p:nvPr/>
        </p:nvSpPr>
        <p:spPr>
          <a:xfrm>
            <a:off x="5486400" y="4041648"/>
            <a:ext cx="292608" cy="29260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5486400" y="4041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5870448" y="4005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SQL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5870448" y="4187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Genera scripts para despliegues controlados en produccion</a:t>
            </a:r>
            <a:endParaRPr lang="en-US" sz="850"/>
          </a:p>
        </p:txBody>
      </p:sp>
      <p:sp>
        <p:nvSpPr>
          <p:cNvPr id="30" name="Shape 28"/>
          <p:cNvSpPr/>
          <p:nvPr/>
        </p:nvSpPr>
        <p:spPr>
          <a:xfrm>
            <a:off x="5486400" y="4517136"/>
            <a:ext cx="292608" cy="292608"/>
          </a:xfrm>
          <a:prstGeom prst="ellipse">
            <a:avLst/>
          </a:prstGeom>
          <a:solidFill>
            <a:srgbClr val="00838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5486400" y="4517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5870448" y="44805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5870448" y="46634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Revierte a una migracion anterior si es necesario</a:t>
            </a:r>
            <a:endParaRPr lang="en-US" sz="85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Core 8.0 — Migraciones EF Core</a:t>
            </a:r>
            <a:endParaRPr lang="en-US" sz="85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LINQ con EF Core 8</a:t>
            </a:r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754880" cy="36576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754880" cy="292608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Consultas tipadas en C# — LINQ to Entities</a:t>
            </a:r>
            <a:endParaRPr lang="en-US" sz="850"/>
          </a:p>
        </p:txBody>
      </p:sp>
      <p:sp>
        <p:nvSpPr>
          <p:cNvPr id="7" name="Text 5"/>
          <p:cNvSpPr/>
          <p:nvPr/>
        </p:nvSpPr>
        <p:spPr>
          <a:xfrm>
            <a:off x="594360" y="1353312"/>
            <a:ext cx="44805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Filtrar clientes por nombre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 = </a:t>
            </a: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_context.</a:t>
            </a:r>
            <a:r>
              <a:rPr lang="en-US" sz="85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85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=&gt; 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85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Contains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“Lopez”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85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ToListAsync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Eager loading con Include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 = </a:t>
            </a: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_context.</a:t>
            </a:r>
            <a:r>
              <a:rPr lang="en-US" sz="85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85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=&gt; 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85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85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=&gt; 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85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1000m)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85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OrderByDescending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=&gt; 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85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Fecha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85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ToListAsync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Proyeccion con Select (solo campos necesarios)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resumen = </a:t>
            </a: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_context.</a:t>
            </a:r>
            <a:r>
              <a:rPr lang="en-US" sz="85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85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=&gt; </a:t>
            </a:r>
            <a:r>
              <a:rPr lang="en-US" sz="85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TotalPedidos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85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85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MontoTotal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85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85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=&gt; 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85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85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=&gt; 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85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TotalPedidos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0)</a:t>
            </a:r>
            <a:endParaRPr lang="en-US" sz="850"/>
          </a:p>
          <a:p>
            <a:pPr marL="0" indent="0">
              <a:lnSpc>
                <a:spcPct val="105000"/>
              </a:lnSpc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85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ToListAsync</a:t>
            </a: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50"/>
          </a:p>
        </p:txBody>
      </p:sp>
      <p:sp>
        <p:nvSpPr>
          <p:cNvPr id="8" name="Text 6"/>
          <p:cNvSpPr/>
          <p:nvPr/>
        </p:nvSpPr>
        <p:spPr>
          <a:xfrm>
            <a:off x="548640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LINQ Clave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5486400" y="13716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LINQ traduce expresiones C# a SQL optimizado. EF Core 8 mejora la traduccion de consultas complejas.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5486400" y="2139696"/>
            <a:ext cx="292608" cy="292608"/>
          </a:xfrm>
          <a:prstGeom prst="ellipse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486400" y="2139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5870448" y="21031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/ First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5870448" y="22860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Filtrado de resultados con predicados lambda</a:t>
            </a:r>
            <a:endParaRPr lang="en-US" sz="850"/>
          </a:p>
        </p:txBody>
      </p:sp>
      <p:sp>
        <p:nvSpPr>
          <p:cNvPr id="14" name="Shape 12"/>
          <p:cNvSpPr/>
          <p:nvPr/>
        </p:nvSpPr>
        <p:spPr>
          <a:xfrm>
            <a:off x="5486400" y="2615184"/>
            <a:ext cx="292608" cy="292608"/>
          </a:xfrm>
          <a:prstGeom prst="ellipse">
            <a:avLst/>
          </a:prstGeom>
          <a:solidFill>
            <a:srgbClr val="FB8C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486400" y="2615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5870448" y="2578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5870448" y="27614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Carga anticipada (eager loading) de relaciones</a:t>
            </a:r>
            <a:endParaRPr lang="en-US" sz="850"/>
          </a:p>
        </p:txBody>
      </p:sp>
      <p:sp>
        <p:nvSpPr>
          <p:cNvPr id="18" name="Shape 16"/>
          <p:cNvSpPr/>
          <p:nvPr/>
        </p:nvSpPr>
        <p:spPr>
          <a:xfrm>
            <a:off x="5486400" y="3090672"/>
            <a:ext cx="292608" cy="292608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486400" y="3090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5870448" y="30540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/ GroupBy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5870448" y="32369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Proyecciones y agrupaciones para reportes</a:t>
            </a:r>
            <a:endParaRPr lang="en-US" sz="850"/>
          </a:p>
        </p:txBody>
      </p:sp>
      <p:sp>
        <p:nvSpPr>
          <p:cNvPr id="22" name="Shape 20"/>
          <p:cNvSpPr/>
          <p:nvPr/>
        </p:nvSpPr>
        <p:spPr>
          <a:xfrm>
            <a:off x="5486400" y="3566160"/>
            <a:ext cx="292608" cy="292608"/>
          </a:xfrm>
          <a:prstGeom prst="ellipse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486400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5870448" y="35295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OrderBy</a:t>
            </a:r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5870448" y="37124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Ordenamiento ascendente y descendente</a:t>
            </a:r>
            <a:endParaRPr lang="en-US" sz="850"/>
          </a:p>
        </p:txBody>
      </p:sp>
      <p:sp>
        <p:nvSpPr>
          <p:cNvPr id="26" name="Shape 24"/>
          <p:cNvSpPr/>
          <p:nvPr/>
        </p:nvSpPr>
        <p:spPr>
          <a:xfrm>
            <a:off x="5486400" y="4041648"/>
            <a:ext cx="292608" cy="29260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5486400" y="4041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5870448" y="4005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5870448" y="4187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ToListAsync, FirstAsync para operaciones no bloqueantes</a:t>
            </a:r>
            <a:endParaRPr lang="en-US" sz="850"/>
          </a:p>
        </p:txBody>
      </p:sp>
      <p:sp>
        <p:nvSpPr>
          <p:cNvPr id="30" name="Shape 28"/>
          <p:cNvSpPr/>
          <p:nvPr/>
        </p:nvSpPr>
        <p:spPr>
          <a:xfrm>
            <a:off x="5486400" y="4517136"/>
            <a:ext cx="292608" cy="292608"/>
          </a:xfrm>
          <a:prstGeom prst="ellipse">
            <a:avLst/>
          </a:prstGeom>
          <a:solidFill>
            <a:srgbClr val="00838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5486400" y="4517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5870448" y="44805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SQL</a:t>
            </a:r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5870448" y="46634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FromSqlRaw para consultas SQL directas cuando LINQ no alcanza</a:t>
            </a:r>
            <a:endParaRPr lang="en-US" sz="85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Core 8.0 — Consultas LINQ</a:t>
            </a:r>
            <a:endParaRPr lang="en-US" sz="85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 en EF Core 8</a:t>
            </a:r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457200" y="768785"/>
            <a:ext cx="4754880" cy="413766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754880" cy="292608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94360" y="687509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PedidoService.cs — Transaccion explicita</a:t>
            </a:r>
            <a:endParaRPr lang="en-US" sz="850"/>
          </a:p>
        </p:txBody>
      </p:sp>
      <p:sp>
        <p:nvSpPr>
          <p:cNvPr id="7" name="Text 5"/>
          <p:cNvSpPr/>
          <p:nvPr/>
        </p:nvSpPr>
        <p:spPr>
          <a:xfrm>
            <a:off x="594360" y="1034981"/>
            <a:ext cx="44805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async </a:t>
            </a: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CrearPedidoAsync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LineaPedido</a:t>
            </a: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lineas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var 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 = </a:t>
            </a: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BeginTransactionAsync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1. Registrar </a:t>
            </a:r>
            <a:r>
              <a:rPr lang="en-US" sz="85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</a:t>
            </a: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</a:t>
            </a: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es nuevo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cliente.</a:t>
            </a:r>
            <a:r>
              <a:rPr lang="en-US" sz="850" dirty="0" err="1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0)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_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SaveChangesAsync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2. Crear </a:t>
            </a:r>
            <a:r>
              <a:rPr lang="en-US" sz="85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 </a:t>
            </a:r>
            <a:r>
              <a:rPr lang="en-US" sz="85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lineas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850" dirty="0" err="1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ClienteId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cliente.</a:t>
            </a:r>
            <a:r>
              <a:rPr lang="en-US" sz="850" dirty="0" err="1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850" dirty="0" err="1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Fecha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UtcNow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lineas.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 =&gt; 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l.</a:t>
            </a:r>
            <a:r>
              <a:rPr lang="en-US" sz="850" dirty="0" err="1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Subtotal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SaveChangesAsync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3. </a:t>
            </a:r>
            <a:r>
              <a:rPr lang="en-US" sz="85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Confirmar</a:t>
            </a: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transaccion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CommitAsync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RollbackAsync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Transaccion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5486400" y="13716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EF Core gestiona transacciones automaticamente en SaveChanges, pero permite control explicito para operaciones complejas.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5486400" y="2139696"/>
            <a:ext cx="292608" cy="292608"/>
          </a:xfrm>
          <a:prstGeom prst="ellipse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486400" y="2139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5870448" y="21031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SaveChanges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5870448" y="22860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Transaccion implicita: todo o nada en cada llamada</a:t>
            </a:r>
            <a:endParaRPr lang="en-US" sz="850"/>
          </a:p>
        </p:txBody>
      </p:sp>
      <p:sp>
        <p:nvSpPr>
          <p:cNvPr id="14" name="Shape 12"/>
          <p:cNvSpPr/>
          <p:nvPr/>
        </p:nvSpPr>
        <p:spPr>
          <a:xfrm>
            <a:off x="5486400" y="2615184"/>
            <a:ext cx="292608" cy="292608"/>
          </a:xfrm>
          <a:prstGeom prst="ellipse">
            <a:avLst/>
          </a:prstGeom>
          <a:solidFill>
            <a:srgbClr val="FB8C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486400" y="2615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5870448" y="2578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BeginTransaction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5870448" y="27614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Control explicito para multiples SaveChanges</a:t>
            </a:r>
            <a:endParaRPr lang="en-US" sz="850"/>
          </a:p>
        </p:txBody>
      </p:sp>
      <p:sp>
        <p:nvSpPr>
          <p:cNvPr id="18" name="Shape 16"/>
          <p:cNvSpPr/>
          <p:nvPr/>
        </p:nvSpPr>
        <p:spPr>
          <a:xfrm>
            <a:off x="5486400" y="3090672"/>
            <a:ext cx="292608" cy="292608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486400" y="3090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5870448" y="30540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5870448" y="32369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Confirma todos los cambios si no hubo errores</a:t>
            </a:r>
            <a:endParaRPr lang="en-US" sz="850"/>
          </a:p>
        </p:txBody>
      </p:sp>
      <p:sp>
        <p:nvSpPr>
          <p:cNvPr id="22" name="Shape 20"/>
          <p:cNvSpPr/>
          <p:nvPr/>
        </p:nvSpPr>
        <p:spPr>
          <a:xfrm>
            <a:off x="5486400" y="3566160"/>
            <a:ext cx="292608" cy="292608"/>
          </a:xfrm>
          <a:prstGeom prst="ellipse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486400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5870448" y="35295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5870448" y="37124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Revierte todo automaticamente en caso de excepcion</a:t>
            </a:r>
            <a:endParaRPr lang="en-US" sz="850"/>
          </a:p>
        </p:txBody>
      </p:sp>
      <p:sp>
        <p:nvSpPr>
          <p:cNvPr id="26" name="Shape 24"/>
          <p:cNvSpPr/>
          <p:nvPr/>
        </p:nvSpPr>
        <p:spPr>
          <a:xfrm>
            <a:off x="5486400" y="4041648"/>
            <a:ext cx="292608" cy="29260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5486400" y="4041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5870448" y="4005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Savepoints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5870448" y="4187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Puntos de retorno parcial dentro de una transaccion</a:t>
            </a:r>
            <a:endParaRPr lang="en-US" sz="850"/>
          </a:p>
        </p:txBody>
      </p:sp>
      <p:sp>
        <p:nvSpPr>
          <p:cNvPr id="30" name="Shape 28"/>
          <p:cNvSpPr/>
          <p:nvPr/>
        </p:nvSpPr>
        <p:spPr>
          <a:xfrm>
            <a:off x="5486400" y="4517136"/>
            <a:ext cx="292608" cy="292608"/>
          </a:xfrm>
          <a:prstGeom prst="ellipse">
            <a:avLst/>
          </a:prstGeom>
          <a:solidFill>
            <a:srgbClr val="00838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5486400" y="4517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5870448" y="44805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TransactionScope</a:t>
            </a:r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5870448" y="46634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Transacciones distribuidas entre multiples DbContexts</a:t>
            </a:r>
            <a:endParaRPr lang="en-US" sz="85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Core 8.0 — Transacciones EF Core</a:t>
            </a:r>
            <a:endParaRPr lang="en-US" sz="85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y Unit of Work</a:t>
            </a:r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457200" y="874102"/>
            <a:ext cx="4754880" cy="3904488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754880" cy="292608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94360" y="863607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IRepository.cs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UnitOfWork.cs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116256"/>
            <a:ext cx="4480560" cy="3699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r>
              <a:rPr lang="en-US" sz="85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Interfaz</a:t>
            </a: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generica</a:t>
            </a: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del </a:t>
            </a:r>
            <a:r>
              <a:rPr lang="en-US" sz="85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repositorio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IRepository</a:t>
            </a: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&lt;T&gt;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&lt;T?&gt;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GetByIdAsync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&lt;List&lt;T&gt;&gt;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GetAllAsync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entity);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entity);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Unit of Work </a:t>
            </a:r>
            <a:r>
              <a:rPr lang="en-US" sz="85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coordina</a:t>
            </a: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repositorios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IUnitOfWork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IRepository</a:t>
            </a: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850" dirty="0" err="1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</a:t>
            </a: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get; }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IRepository</a:t>
            </a: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850" dirty="0" err="1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get; }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&lt;int&gt;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SaveChangesAsync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r>
              <a:rPr lang="en-US" sz="85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Implementacion</a:t>
            </a: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 EF Core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UnitOfWork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IUnitOfWork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</a:t>
            </a:r>
            <a:r>
              <a:rPr lang="en-US" sz="850" dirty="0" err="1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readonly</a:t>
            </a: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AppDbContext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_context;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IRepository</a:t>
            </a: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850" dirty="0" err="1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</a:t>
            </a: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get; }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IRepository</a:t>
            </a: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850" dirty="0" err="1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get; }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async </a:t>
            </a: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&lt;int&gt;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SaveChangesAsync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=&gt; </a:t>
            </a: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context.</a:t>
            </a:r>
            <a:r>
              <a:rPr lang="en-US" sz="850" dirty="0" err="1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SaveChangesAsync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del Patron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5486400" y="13716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Repository abstrae el acceso a datos y Unit of Work coordina multiples repositorios en una sola transaccion.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5486400" y="2139696"/>
            <a:ext cx="292608" cy="292608"/>
          </a:xfrm>
          <a:prstGeom prst="ellipse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486400" y="2139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5870448" y="21031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Abstraccion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5870448" y="22860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Desacopla la logica de negocio del ORM concreto</a:t>
            </a:r>
            <a:endParaRPr lang="en-US" sz="850"/>
          </a:p>
        </p:txBody>
      </p:sp>
      <p:sp>
        <p:nvSpPr>
          <p:cNvPr id="14" name="Shape 12"/>
          <p:cNvSpPr/>
          <p:nvPr/>
        </p:nvSpPr>
        <p:spPr>
          <a:xfrm>
            <a:off x="5486400" y="2615184"/>
            <a:ext cx="292608" cy="292608"/>
          </a:xfrm>
          <a:prstGeom prst="ellipse">
            <a:avLst/>
          </a:prstGeom>
          <a:solidFill>
            <a:srgbClr val="FB8C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486400" y="2615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5870448" y="2578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Testabilidad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5870448" y="27614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Facilita mocks e inyeccion en pruebas unitarias</a:t>
            </a:r>
            <a:endParaRPr lang="en-US" sz="850"/>
          </a:p>
        </p:txBody>
      </p:sp>
      <p:sp>
        <p:nvSpPr>
          <p:cNvPr id="18" name="Shape 16"/>
          <p:cNvSpPr/>
          <p:nvPr/>
        </p:nvSpPr>
        <p:spPr>
          <a:xfrm>
            <a:off x="5486400" y="3090672"/>
            <a:ext cx="292608" cy="292608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486400" y="3090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5870448" y="30540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of Work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5870448" y="32369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 solo SaveChanges para multiples repositorios</a:t>
            </a:r>
            <a:endParaRPr lang="en-US" sz="850"/>
          </a:p>
        </p:txBody>
      </p:sp>
      <p:sp>
        <p:nvSpPr>
          <p:cNvPr id="22" name="Shape 20"/>
          <p:cNvSpPr/>
          <p:nvPr/>
        </p:nvSpPr>
        <p:spPr>
          <a:xfrm>
            <a:off x="5486400" y="3566160"/>
            <a:ext cx="292608" cy="292608"/>
          </a:xfrm>
          <a:prstGeom prst="ellipse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486400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5870448" y="35295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Generico</a:t>
            </a:r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5870448" y="37124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IRepository&lt;T&gt; reutilizable para cualquier entidad</a:t>
            </a:r>
            <a:endParaRPr lang="en-US" sz="850"/>
          </a:p>
        </p:txBody>
      </p:sp>
      <p:sp>
        <p:nvSpPr>
          <p:cNvPr id="26" name="Shape 24"/>
          <p:cNvSpPr/>
          <p:nvPr/>
        </p:nvSpPr>
        <p:spPr>
          <a:xfrm>
            <a:off x="5486400" y="4041648"/>
            <a:ext cx="292608" cy="29260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5486400" y="4041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5870448" y="4005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Nativo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5870448" y="4187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 registra en Program.cs con AddScoped</a:t>
            </a:r>
            <a:endParaRPr lang="en-US" sz="850"/>
          </a:p>
        </p:txBody>
      </p:sp>
      <p:sp>
        <p:nvSpPr>
          <p:cNvPr id="30" name="Shape 28"/>
          <p:cNvSpPr/>
          <p:nvPr/>
        </p:nvSpPr>
        <p:spPr>
          <a:xfrm>
            <a:off x="5486400" y="4517136"/>
            <a:ext cx="292608" cy="292608"/>
          </a:xfrm>
          <a:prstGeom prst="ellipse">
            <a:avLst/>
          </a:prstGeom>
          <a:solidFill>
            <a:srgbClr val="00838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5486400" y="4517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5870448" y="44805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Actual</a:t>
            </a:r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5870448" y="46634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DbContext ya es UoW; evalua si necesitas la capa extra</a:t>
            </a:r>
            <a:endParaRPr lang="en-US" sz="85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Core 8.0 — Repository y Unit of Work</a:t>
            </a:r>
            <a:endParaRPr lang="en-US" sz="85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y Optimizacion de Consultas</a:t>
            </a:r>
            <a:endParaRPr lang="en-US" sz="210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Tecnicas esenciales para maximizar el rendimiento de EF Core 8 en aplicaciones de produccion con alto volumen de datos.</a:t>
            </a:r>
            <a:endParaRPr lang="en-US" sz="105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14600" cy="310896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514600" cy="38404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58368" y="146304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Eficientes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658368" y="1920240"/>
            <a:ext cx="22951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Optimizar LINQ to Entities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Reducir carga en la base de datos: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AsNoTracking()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Consultas de solo lectura sin overhead del Change Tracker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Select() con proyeccion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Traer solo columnas necesarias, no entidades completas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Paginacion con Skip/Take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Limitar resultados en consultas sobre tablas grandes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en el servidor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Where() antes de ToList() para filtrar en SQL, no en memoria</a:t>
            </a:r>
            <a:endParaRPr lang="en-US" sz="800"/>
          </a:p>
        </p:txBody>
      </p:sp>
      <p:sp>
        <p:nvSpPr>
          <p:cNvPr id="9" name="Shape 7"/>
          <p:cNvSpPr/>
          <p:nvPr/>
        </p:nvSpPr>
        <p:spPr>
          <a:xfrm>
            <a:off x="3227832" y="1463040"/>
            <a:ext cx="2514600" cy="310896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227832" y="1463040"/>
            <a:ext cx="2514600" cy="384048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337560" y="146304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Relaciones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3337560" y="1920240"/>
            <a:ext cx="22951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>
                <a:solidFill>
                  <a:srgbClr val="7B1F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Estrategias de Loading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Elegir la estrategia correcta segun el caso: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Eager Loading (Include)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Carga anticipada en una sola query con JOINs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Loading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Carga bajo demanda controlada con Entry().Collection()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Queries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AsSplitQuery() evita explosion cartesiana en Includes multiples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Loading (con cuidado)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Proxies que cargan al acceder; riesgo de N+1 queries</a:t>
            </a:r>
            <a:endParaRPr lang="en-US" sz="800"/>
          </a:p>
        </p:txBody>
      </p:sp>
      <p:sp>
        <p:nvSpPr>
          <p:cNvPr id="13" name="Shape 11"/>
          <p:cNvSpPr/>
          <p:nvPr/>
        </p:nvSpPr>
        <p:spPr>
          <a:xfrm>
            <a:off x="5907024" y="1463040"/>
            <a:ext cx="2514600" cy="310896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907024" y="1463040"/>
            <a:ext cx="2514600" cy="38404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016752" y="146304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Tecnicas Avanzadas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6016752" y="1920240"/>
            <a:ext cx="22951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Maximo Rendimiento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Para escenarios de alto rendimiento: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Queries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EF.CompileAsyncQuery() para consultas frecuentes precompiladas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Operations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ExecuteUpdate/ExecuteDelete sin cargar entidades en memoria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SQL cuando es necesario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FromSqlRaw() para queries complejas que LINQ no puede traducir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Pooling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DbContext pooling con AddDbContextPool para reutilizar conexiones</a:t>
            </a:r>
            <a:endParaRPr lang="en-US" sz="80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Core 8.0 — Rendimiento y Optimizacion</a:t>
            </a:r>
            <a:endParaRPr lang="en-US" sz="85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Resumen: Entity Framework Core 8</a:t>
            </a:r>
            <a:endParaRPr lang="en-US" sz="210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EF Core 8 es el ORM moderno de .NET que simplifica el acceso a datos con un enfoque productivo, seguro y multiplataforma.</a:t>
            </a:r>
            <a:endParaRPr lang="en-US" sz="105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14600" cy="310896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514600" cy="38404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58368" y="146304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Fundamentales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658368" y="1920240"/>
            <a:ext cx="22951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 que aprendimos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Pilares del ORM en .NET 8: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DbContext y DbSet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Puerta de entrada a la base de datos y colecciones de entidades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First / DB First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Dos enfoques para modelar: desde codigo o desde BD existente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API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Configuracion avanzada de relaciones, indices y restricciones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Migraciones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Versionado del esquema de BD como codigo C# incremental</a:t>
            </a:r>
            <a:endParaRPr lang="en-US" sz="800"/>
          </a:p>
        </p:txBody>
      </p:sp>
      <p:sp>
        <p:nvSpPr>
          <p:cNvPr id="9" name="Shape 7"/>
          <p:cNvSpPr/>
          <p:nvPr/>
        </p:nvSpPr>
        <p:spPr>
          <a:xfrm>
            <a:off x="3227832" y="1463040"/>
            <a:ext cx="2514600" cy="310896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227832" y="1463040"/>
            <a:ext cx="2514600" cy="384048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337560" y="146304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y Tecnicas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3337560" y="1920240"/>
            <a:ext cx="22951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>
                <a:solidFill>
                  <a:srgbClr val="7B1F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Tecnicas aplicadas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Consultas, transacciones y arquitectura: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LINQ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Where, Include, Select y operaciones async con EF Core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BeginTransaction, Commit, Rollback y Savepoints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/ Unit of Work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Abstraccion del acceso a datos con IRepository y IUnitOfWork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y Optimizacion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AsNoTracking, Split Queries, Compiled Queries y Bulk Ops</a:t>
            </a:r>
            <a:endParaRPr lang="en-US" sz="800"/>
          </a:p>
        </p:txBody>
      </p:sp>
      <p:sp>
        <p:nvSpPr>
          <p:cNvPr id="13" name="Shape 11"/>
          <p:cNvSpPr/>
          <p:nvPr/>
        </p:nvSpPr>
        <p:spPr>
          <a:xfrm>
            <a:off x="5907024" y="1463040"/>
            <a:ext cx="2514600" cy="310896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907024" y="1463040"/>
            <a:ext cx="2514600" cy="38404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016752" y="146304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Proximos Pasos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6016752" y="1920240"/>
            <a:ext cx="22951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profundizar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Temas avanzados para seguir aprendiendo: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Interceptors y Filters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Logica transversal antes/despues de SaveChanges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Concurrencia Optimista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Control de conflictos con RowVersion y tokens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Aislar datos por inquilino con filtros globales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90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con InMemory</a:t>
            </a:r>
            <a:endParaRPr lang="en-US" sz="800"/>
          </a:p>
          <a:p>
            <a:pPr marL="0" indent="0">
              <a:lnSpc>
                <a:spcPct val="110000"/>
              </a:lnSpc>
              <a:buNone/>
            </a:pPr>
            <a:r>
              <a:rPr lang="en-US" sz="85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Pruebas unitarias sin depender de una BD real</a:t>
            </a:r>
            <a:endParaRPr lang="en-US" sz="80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Core 8.0 — Resumen Entity Framework Core 8</a:t>
            </a:r>
            <a:endParaRPr lang="en-US" sz="85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1645920"/>
          </a:xfrm>
          <a:prstGeom prst="rect">
            <a:avLst/>
          </a:prstGeom>
          <a:solidFill>
            <a:srgbClr val="1565C0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949440" y="457200"/>
            <a:ext cx="2194560" cy="914400"/>
          </a:xfrm>
          <a:prstGeom prst="rect">
            <a:avLst/>
          </a:prstGeom>
          <a:solidFill>
            <a:srgbClr val="42A5F5">
              <a:alpha val="6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y Autorización</a:t>
            </a:r>
            <a:endParaRPr lang="en-US" sz="460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Seguridad en ASP.NET Core 8</a:t>
            </a:r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731520" y="3383280"/>
            <a:ext cx="2743200" cy="0"/>
          </a:xfrm>
          <a:prstGeom prst="line">
            <a:avLst/>
          </a:prstGeom>
          <a:noFill/>
          <a:ln w="254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Identity, Cookies, JWT, Roles, Claims y Políticas de autorización</a:t>
            </a:r>
            <a:endParaRPr lang="en-US" sz="16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1"/>
          <p:cNvSpPr/>
          <p:nvPr/>
        </p:nvSpPr>
        <p:spPr>
          <a:xfrm>
            <a:off x="274320" y="731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vs Autorización</a:t>
            </a:r>
          </a:p>
        </p:txBody>
      </p:sp>
      <p:sp>
        <p:nvSpPr>
          <p:cNvPr id="4" name="T2"/>
          <p:cNvSpPr/>
          <p:nvPr/>
        </p:nvSpPr>
        <p:spPr>
          <a:xfrm>
            <a:off x="274320" y="393192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850">
                <a:solidFill>
                  <a:srgbClr val="B3E5FC"/>
                </a:solidFill>
                <a:latin typeface="Calibri Light" pitchFamily="34" charset="0"/>
              </a:rPr>
              <a:t>La autenticación verifica quién eres; la autorización determina qué puedes hacer. ASP.NET Core 8 separa ambos conceptos con middleware dedicado.</a:t>
            </a:r>
          </a:p>
        </p:txBody>
      </p:sp>
      <p:sp>
        <p:nvSpPr>
          <p:cNvPr id="5" name="T3"/>
          <p:cNvSpPr/>
          <p:nvPr/>
        </p:nvSpPr>
        <p:spPr>
          <a:xfrm>
            <a:off x="4937760" y="73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B3E5FC"/>
                </a:solidFill>
                <a:latin typeface="Consolas" pitchFamily="34" charset="0"/>
              </a:rPr>
              <a:t>Program.cs</a:t>
            </a:r>
          </a:p>
        </p:txBody>
      </p:sp>
      <p:sp>
        <p:nvSpPr>
          <p:cNvPr id="100" name="C100"/>
          <p:cNvSpPr/>
          <p:nvPr/>
        </p:nvSpPr>
        <p:spPr>
          <a:xfrm>
            <a:off x="274320" y="1051560"/>
            <a:ext cx="3840480" cy="89154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1" name="T101"/>
          <p:cNvSpPr/>
          <p:nvPr/>
        </p:nvSpPr>
        <p:spPr>
          <a:xfrm>
            <a:off x="411480" y="1097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Autenticación (AuthN)</a:t>
            </a:r>
          </a:p>
        </p:txBody>
      </p:sp>
      <p:sp>
        <p:nvSpPr>
          <p:cNvPr id="102" name="T102"/>
          <p:cNvSpPr/>
          <p:nvPr/>
        </p:nvSpPr>
        <p:spPr>
          <a:xfrm>
            <a:off x="411480" y="132588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Proceso de verificar la identidad del usuario. Responde a: ¿Quién eres? Mecanismos: cookies, JWT, OAuth, certificados.</a:t>
            </a:r>
          </a:p>
        </p:txBody>
      </p:sp>
      <p:sp>
        <p:nvSpPr>
          <p:cNvPr id="103" name="C103"/>
          <p:cNvSpPr/>
          <p:nvPr/>
        </p:nvSpPr>
        <p:spPr>
          <a:xfrm>
            <a:off x="274320" y="1988820"/>
            <a:ext cx="384048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4" name="T104"/>
          <p:cNvSpPr/>
          <p:nvPr/>
        </p:nvSpPr>
        <p:spPr>
          <a:xfrm>
            <a:off x="411480" y="20345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Autorización (AuthZ)</a:t>
            </a:r>
          </a:p>
        </p:txBody>
      </p:sp>
      <p:sp>
        <p:nvSpPr>
          <p:cNvPr id="105" name="T105"/>
          <p:cNvSpPr/>
          <p:nvPr/>
        </p:nvSpPr>
        <p:spPr>
          <a:xfrm>
            <a:off x="411480" y="226314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Proceso de verificar permisos. Responde a: ¿Qué puedes hacer? Mecanismos: roles, claims, políticas personalizadas.</a:t>
            </a:r>
          </a:p>
        </p:txBody>
      </p:sp>
      <p:sp>
        <p:nvSpPr>
          <p:cNvPr id="106" name="C106"/>
          <p:cNvSpPr/>
          <p:nvPr/>
        </p:nvSpPr>
        <p:spPr>
          <a:xfrm>
            <a:off x="274320" y="2926080"/>
            <a:ext cx="384048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7" name="T107"/>
          <p:cNvSpPr/>
          <p:nvPr/>
        </p:nvSpPr>
        <p:spPr>
          <a:xfrm>
            <a:off x="411480" y="2971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Middleware Pipeline</a:t>
            </a:r>
          </a:p>
        </p:txBody>
      </p:sp>
      <p:sp>
        <p:nvSpPr>
          <p:cNvPr id="108" name="T108"/>
          <p:cNvSpPr/>
          <p:nvPr/>
        </p:nvSpPr>
        <p:spPr>
          <a:xfrm>
            <a:off x="411480" y="320040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app.UseAuthentication() antes de app.UseAuthorization(). El orden es crítico: primero se autentica, después se autoriza.</a:t>
            </a:r>
          </a:p>
        </p:txBody>
      </p:sp>
      <p:sp>
        <p:nvSpPr>
          <p:cNvPr id="109" name="C109"/>
          <p:cNvSpPr/>
          <p:nvPr/>
        </p:nvSpPr>
        <p:spPr>
          <a:xfrm>
            <a:off x="274320" y="3863340"/>
            <a:ext cx="384048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0" name="T110"/>
          <p:cNvSpPr/>
          <p:nvPr/>
        </p:nvSpPr>
        <p:spPr>
          <a:xfrm>
            <a:off x="411480" y="39090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Esquemas (Schemes)</a:t>
            </a:r>
          </a:p>
        </p:txBody>
      </p:sp>
      <p:sp>
        <p:nvSpPr>
          <p:cNvPr id="111" name="T111"/>
          <p:cNvSpPr/>
          <p:nvPr/>
        </p:nvSpPr>
        <p:spPr>
          <a:xfrm>
            <a:off x="411480" y="413766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Cada mecanismo de auth se registra como un esquema con nombre. Se pueden combinar múltiples esquemas (Cookie + JWT).</a:t>
            </a:r>
          </a:p>
        </p:txBody>
      </p:sp>
      <p:sp>
        <p:nvSpPr>
          <p:cNvPr id="30" name="S30"/>
          <p:cNvSpPr/>
          <p:nvPr/>
        </p:nvSpPr>
        <p:spPr>
          <a:xfrm>
            <a:off x="4389120" y="1051560"/>
            <a:ext cx="4480560" cy="370332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31"/>
          <p:cNvSpPr/>
          <p:nvPr/>
        </p:nvSpPr>
        <p:spPr>
          <a:xfrm>
            <a:off x="4389120" y="1051560"/>
            <a:ext cx="4480560" cy="274320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32"/>
          <p:cNvSpPr/>
          <p:nvPr/>
        </p:nvSpPr>
        <p:spPr>
          <a:xfrm>
            <a:off x="4526280" y="1051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Program.cs</a:t>
            </a:r>
          </a:p>
        </p:txBody>
      </p:sp>
      <p:sp>
        <p:nvSpPr>
          <p:cNvPr id="33" name="T33"/>
          <p:cNvSpPr/>
          <p:nvPr/>
        </p:nvSpPr>
        <p:spPr>
          <a:xfrm>
            <a:off x="4526280" y="1371600"/>
            <a:ext cx="4206240" cy="331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var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builder = WebApplication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.CreateBuilder(args);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Registrar servicios de auth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builder.Services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AddAuthentication(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options =&gt;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options.DefaultScheme =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CookieAuthenticationDefaults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  .AuthenticationScheme;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})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AddCookie()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AddJwtBearer()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builder.Services.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AddAuthorization()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var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app = builder.Build();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Orden del middleware (critico)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app.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UseAuthentication()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app.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UseAuthorization()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app.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MapControllers()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app.Run();</a:t>
            </a:r>
          </a:p>
        </p:txBody>
      </p:sp>
      <p:sp>
        <p:nvSpPr>
          <p:cNvPr id="60" name="S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T6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</a:rPr>
              <a:t>.NET Core 8.0 — Autenticación y Autorización: Conceptos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1"/>
          <p:cNvSpPr/>
          <p:nvPr/>
        </p:nvSpPr>
        <p:spPr>
          <a:xfrm>
            <a:off x="274320" y="731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Identity</a:t>
            </a:r>
          </a:p>
        </p:txBody>
      </p:sp>
      <p:sp>
        <p:nvSpPr>
          <p:cNvPr id="4" name="T2"/>
          <p:cNvSpPr/>
          <p:nvPr/>
        </p:nvSpPr>
        <p:spPr>
          <a:xfrm>
            <a:off x="274320" y="393192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850">
                <a:solidFill>
                  <a:srgbClr val="B3E5FC"/>
                </a:solidFill>
                <a:latin typeface="Calibri Light" pitchFamily="34" charset="0"/>
              </a:rPr>
              <a:t>Framework completo para gestión de usuarios, contraseñas, roles y claims. Se integra con EF Core para persistir datos de identidad.</a:t>
            </a:r>
          </a:p>
        </p:txBody>
      </p:sp>
      <p:sp>
        <p:nvSpPr>
          <p:cNvPr id="5" name="T3"/>
          <p:cNvSpPr/>
          <p:nvPr/>
        </p:nvSpPr>
        <p:spPr>
          <a:xfrm>
            <a:off x="4937760" y="73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B3E5FC"/>
                </a:solidFill>
                <a:latin typeface="Consolas" pitchFamily="34" charset="0"/>
              </a:rPr>
              <a:t>Program.cs</a:t>
            </a:r>
          </a:p>
        </p:txBody>
      </p:sp>
      <p:sp>
        <p:nvSpPr>
          <p:cNvPr id="100" name="C100"/>
          <p:cNvSpPr/>
          <p:nvPr/>
        </p:nvSpPr>
        <p:spPr>
          <a:xfrm>
            <a:off x="274320" y="1051560"/>
            <a:ext cx="3840480" cy="89154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1" name="T101"/>
          <p:cNvSpPr/>
          <p:nvPr/>
        </p:nvSpPr>
        <p:spPr>
          <a:xfrm>
            <a:off x="411480" y="1097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IdentityUser</a:t>
            </a:r>
          </a:p>
        </p:txBody>
      </p:sp>
      <p:sp>
        <p:nvSpPr>
          <p:cNvPr id="102" name="T102"/>
          <p:cNvSpPr/>
          <p:nvPr/>
        </p:nvSpPr>
        <p:spPr>
          <a:xfrm>
            <a:off x="411480" y="132588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Clase base del usuario. Propiedades: UserName, Email, PasswordHash, PhoneNumber. Se extiende con herencia para campos custom.</a:t>
            </a:r>
          </a:p>
        </p:txBody>
      </p:sp>
      <p:sp>
        <p:nvSpPr>
          <p:cNvPr id="103" name="C103"/>
          <p:cNvSpPr/>
          <p:nvPr/>
        </p:nvSpPr>
        <p:spPr>
          <a:xfrm>
            <a:off x="274320" y="1988820"/>
            <a:ext cx="384048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4" name="T104"/>
          <p:cNvSpPr/>
          <p:nvPr/>
        </p:nvSpPr>
        <p:spPr>
          <a:xfrm>
            <a:off x="411480" y="20345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IdentityDbContext</a:t>
            </a:r>
          </a:p>
        </p:txBody>
      </p:sp>
      <p:sp>
        <p:nvSpPr>
          <p:cNvPr id="105" name="T105"/>
          <p:cNvSpPr/>
          <p:nvPr/>
        </p:nvSpPr>
        <p:spPr>
          <a:xfrm>
            <a:off x="411480" y="226314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DbContext especializado con tablas AspNetUsers, AspNetRoles, AspNetUserClaims, AspNetUserRoles y más.</a:t>
            </a:r>
          </a:p>
        </p:txBody>
      </p:sp>
      <p:sp>
        <p:nvSpPr>
          <p:cNvPr id="106" name="C106"/>
          <p:cNvSpPr/>
          <p:nvPr/>
        </p:nvSpPr>
        <p:spPr>
          <a:xfrm>
            <a:off x="274320" y="2926080"/>
            <a:ext cx="384048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7" name="T107"/>
          <p:cNvSpPr/>
          <p:nvPr/>
        </p:nvSpPr>
        <p:spPr>
          <a:xfrm>
            <a:off x="411480" y="2971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UserManager&lt;T&gt;</a:t>
            </a:r>
          </a:p>
        </p:txBody>
      </p:sp>
      <p:sp>
        <p:nvSpPr>
          <p:cNvPr id="108" name="T108"/>
          <p:cNvSpPr/>
          <p:nvPr/>
        </p:nvSpPr>
        <p:spPr>
          <a:xfrm>
            <a:off x="411480" y="320040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API para crear, buscar, actualizar y eliminar usuarios. Gestiona contraseñas, claims y tokens de confirmación.</a:t>
            </a:r>
          </a:p>
        </p:txBody>
      </p:sp>
      <p:sp>
        <p:nvSpPr>
          <p:cNvPr id="109" name="C109"/>
          <p:cNvSpPr/>
          <p:nvPr/>
        </p:nvSpPr>
        <p:spPr>
          <a:xfrm>
            <a:off x="274320" y="3863340"/>
            <a:ext cx="384048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0" name="T110"/>
          <p:cNvSpPr/>
          <p:nvPr/>
        </p:nvSpPr>
        <p:spPr>
          <a:xfrm>
            <a:off x="411480" y="39090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SignInManager&lt;T&gt;</a:t>
            </a:r>
          </a:p>
        </p:txBody>
      </p:sp>
      <p:sp>
        <p:nvSpPr>
          <p:cNvPr id="111" name="T111"/>
          <p:cNvSpPr/>
          <p:nvPr/>
        </p:nvSpPr>
        <p:spPr>
          <a:xfrm>
            <a:off x="411480" y="413766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API para login/logout. Gestiona cookies, autenticación de dos factores y bloqueo por intentos fallidos.</a:t>
            </a:r>
          </a:p>
        </p:txBody>
      </p:sp>
      <p:sp>
        <p:nvSpPr>
          <p:cNvPr id="30" name="S30"/>
          <p:cNvSpPr/>
          <p:nvPr/>
        </p:nvSpPr>
        <p:spPr>
          <a:xfrm>
            <a:off x="4389120" y="1051560"/>
            <a:ext cx="4480560" cy="370332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31"/>
          <p:cNvSpPr/>
          <p:nvPr/>
        </p:nvSpPr>
        <p:spPr>
          <a:xfrm>
            <a:off x="4389120" y="1051560"/>
            <a:ext cx="4480560" cy="274320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32"/>
          <p:cNvSpPr/>
          <p:nvPr/>
        </p:nvSpPr>
        <p:spPr>
          <a:xfrm>
            <a:off x="4526280" y="1051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Program.cs — Configuración Identity</a:t>
            </a:r>
          </a:p>
        </p:txBody>
      </p:sp>
      <p:sp>
        <p:nvSpPr>
          <p:cNvPr id="33" name="T33"/>
          <p:cNvSpPr/>
          <p:nvPr/>
        </p:nvSpPr>
        <p:spPr>
          <a:xfrm>
            <a:off x="4526280" y="1371600"/>
            <a:ext cx="4206240" cy="331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1. Definir modelo personalizado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 class 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AppUser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: 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IdentityUser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 string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NombreCompleto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{ get; set; } = </a:t>
            </a: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""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DateTime FechaRegistro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{ get; set; }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}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2. Registrar Identity en DI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builder.Services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AddIdentity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&lt;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AppUser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, 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IdentityRole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&gt;(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options =&gt;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options.Password.RequireDigit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  =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true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options.Password.MinimumLength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  = </a:t>
            </a:r>
            <a:r>
              <a:rPr lang="en-US" sz="750">
                <a:solidFill>
                  <a:srgbClr val="FB923C"/>
                </a:solidFill>
                <a:latin typeface="Consolas" pitchFamily="34" charset="0"/>
              </a:rPr>
              <a:t>8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options.Lockout.MaxFailedAttempts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  = </a:t>
            </a:r>
            <a:r>
              <a:rPr lang="en-US" sz="750">
                <a:solidFill>
                  <a:srgbClr val="FB923C"/>
                </a:solidFill>
                <a:latin typeface="Consolas" pitchFamily="34" charset="0"/>
              </a:rPr>
              <a:t>5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})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AddEntityFrameworkStores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&lt;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AppDbContext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&gt;()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AddDefaultTokenProviders()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;</a:t>
            </a:r>
          </a:p>
        </p:txBody>
      </p:sp>
      <p:sp>
        <p:nvSpPr>
          <p:cNvPr id="60" name="S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T6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</a:rPr>
              <a:t>.NET Core 8.0 — Autenticación y Autorización: Identity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1"/>
          <p:cNvSpPr/>
          <p:nvPr/>
        </p:nvSpPr>
        <p:spPr>
          <a:xfrm>
            <a:off x="274320" y="731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Login de Usuarios</a:t>
            </a:r>
          </a:p>
        </p:txBody>
      </p:sp>
      <p:sp>
        <p:nvSpPr>
          <p:cNvPr id="4" name="T2"/>
          <p:cNvSpPr/>
          <p:nvPr/>
        </p:nvSpPr>
        <p:spPr>
          <a:xfrm>
            <a:off x="274320" y="393192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850">
                <a:solidFill>
                  <a:srgbClr val="B3E5FC"/>
                </a:solidFill>
                <a:latin typeface="Calibri Light" pitchFamily="34" charset="0"/>
              </a:rPr>
              <a:t>UserManager gestiona la creación de cuentas. SignInManager gestiona el inicio y cierre de sesión con cookies o tokens.</a:t>
            </a:r>
          </a:p>
        </p:txBody>
      </p:sp>
      <p:sp>
        <p:nvSpPr>
          <p:cNvPr id="5" name="T3"/>
          <p:cNvSpPr/>
          <p:nvPr/>
        </p:nvSpPr>
        <p:spPr>
          <a:xfrm>
            <a:off x="4937760" y="73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B3E5FC"/>
                </a:solidFill>
                <a:latin typeface="Consolas" pitchFamily="34" charset="0"/>
              </a:rPr>
              <a:t>AccountController.cs</a:t>
            </a:r>
          </a:p>
        </p:txBody>
      </p:sp>
      <p:sp>
        <p:nvSpPr>
          <p:cNvPr id="100" name="C100"/>
          <p:cNvSpPr/>
          <p:nvPr/>
        </p:nvSpPr>
        <p:spPr>
          <a:xfrm>
            <a:off x="274320" y="1051560"/>
            <a:ext cx="3840480" cy="89154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1" name="T101"/>
          <p:cNvSpPr/>
          <p:nvPr/>
        </p:nvSpPr>
        <p:spPr>
          <a:xfrm>
            <a:off x="411480" y="1097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CreateAsync</a:t>
            </a:r>
          </a:p>
        </p:txBody>
      </p:sp>
      <p:sp>
        <p:nvSpPr>
          <p:cNvPr id="102" name="T102"/>
          <p:cNvSpPr/>
          <p:nvPr/>
        </p:nvSpPr>
        <p:spPr>
          <a:xfrm>
            <a:off x="411480" y="132588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UserManager.CreateAsync(user, password) crea el usuario, hashea la contraseña y persiste en la base de datos.</a:t>
            </a:r>
          </a:p>
        </p:txBody>
      </p:sp>
      <p:sp>
        <p:nvSpPr>
          <p:cNvPr id="103" name="C103"/>
          <p:cNvSpPr/>
          <p:nvPr/>
        </p:nvSpPr>
        <p:spPr>
          <a:xfrm>
            <a:off x="274320" y="1988820"/>
            <a:ext cx="384048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4" name="T104"/>
          <p:cNvSpPr/>
          <p:nvPr/>
        </p:nvSpPr>
        <p:spPr>
          <a:xfrm>
            <a:off x="411480" y="20345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PasswordSignInAsync</a:t>
            </a:r>
          </a:p>
        </p:txBody>
      </p:sp>
      <p:sp>
        <p:nvSpPr>
          <p:cNvPr id="105" name="T105"/>
          <p:cNvSpPr/>
          <p:nvPr/>
        </p:nvSpPr>
        <p:spPr>
          <a:xfrm>
            <a:off x="411480" y="226314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SignInManager verifica credenciales, crea la cookie de sesión y gestiona lockout si hay intentos fallidos.</a:t>
            </a:r>
          </a:p>
        </p:txBody>
      </p:sp>
      <p:sp>
        <p:nvSpPr>
          <p:cNvPr id="106" name="C106"/>
          <p:cNvSpPr/>
          <p:nvPr/>
        </p:nvSpPr>
        <p:spPr>
          <a:xfrm>
            <a:off x="274320" y="2926080"/>
            <a:ext cx="384048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7" name="T107"/>
          <p:cNvSpPr/>
          <p:nvPr/>
        </p:nvSpPr>
        <p:spPr>
          <a:xfrm>
            <a:off x="411480" y="2971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SignOutAsync</a:t>
            </a:r>
          </a:p>
        </p:txBody>
      </p:sp>
      <p:sp>
        <p:nvSpPr>
          <p:cNvPr id="108" name="T108"/>
          <p:cNvSpPr/>
          <p:nvPr/>
        </p:nvSpPr>
        <p:spPr>
          <a:xfrm>
            <a:off x="411480" y="320040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Elimina la cookie de autenticación y limpia la sesión del usuario actual.</a:t>
            </a:r>
          </a:p>
        </p:txBody>
      </p:sp>
      <p:sp>
        <p:nvSpPr>
          <p:cNvPr id="109" name="C109"/>
          <p:cNvSpPr/>
          <p:nvPr/>
        </p:nvSpPr>
        <p:spPr>
          <a:xfrm>
            <a:off x="274320" y="3863340"/>
            <a:ext cx="384048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0" name="T110"/>
          <p:cNvSpPr/>
          <p:nvPr/>
        </p:nvSpPr>
        <p:spPr>
          <a:xfrm>
            <a:off x="411480" y="39090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Confirmación de Email</a:t>
            </a:r>
          </a:p>
        </p:txBody>
      </p:sp>
      <p:sp>
        <p:nvSpPr>
          <p:cNvPr id="111" name="T111"/>
          <p:cNvSpPr/>
          <p:nvPr/>
        </p:nvSpPr>
        <p:spPr>
          <a:xfrm>
            <a:off x="411480" y="413766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GenerateEmailConfirmationTokenAsync crea un token. ConfirmEmailAsync lo valida y activa la cuenta.</a:t>
            </a:r>
          </a:p>
        </p:txBody>
      </p:sp>
      <p:sp>
        <p:nvSpPr>
          <p:cNvPr id="30" name="S30"/>
          <p:cNvSpPr/>
          <p:nvPr/>
        </p:nvSpPr>
        <p:spPr>
          <a:xfrm>
            <a:off x="4389120" y="1051560"/>
            <a:ext cx="4480560" cy="370332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31"/>
          <p:cNvSpPr/>
          <p:nvPr/>
        </p:nvSpPr>
        <p:spPr>
          <a:xfrm>
            <a:off x="4389120" y="1051560"/>
            <a:ext cx="4480560" cy="274320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32"/>
          <p:cNvSpPr/>
          <p:nvPr/>
        </p:nvSpPr>
        <p:spPr>
          <a:xfrm>
            <a:off x="4526280" y="1051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AccountController.cs</a:t>
            </a:r>
          </a:p>
        </p:txBody>
      </p:sp>
      <p:sp>
        <p:nvSpPr>
          <p:cNvPr id="33" name="T33"/>
          <p:cNvSpPr/>
          <p:nvPr/>
        </p:nvSpPr>
        <p:spPr>
          <a:xfrm>
            <a:off x="4526280" y="1371600"/>
            <a:ext cx="4206240" cy="331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[HttpPost]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 async 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Task&lt;IActionResult&gt;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Register(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RegisterVM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vm)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  var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user =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new 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AppUser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{ UserName = vm.Email,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Email = vm.Email };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  var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result =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await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_userMgr.CreateAsync(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user, vm.Password);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if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(result.Succeeded)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await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_signInMgr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.SignInAsync(user,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false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return 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RedirectToAction(</a:t>
            </a: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"Index"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)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}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foreach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(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var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e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in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result.Errors)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ModelState.AddModelError(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      ""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, e.Description);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return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View(vm);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}</a:t>
            </a:r>
          </a:p>
        </p:txBody>
      </p:sp>
      <p:sp>
        <p:nvSpPr>
          <p:cNvPr id="60" name="S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T6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</a:rPr>
              <a:t>.NET Core 8.0 — Autenticación y Autorización: Registro y Login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1"/>
          <p:cNvSpPr/>
          <p:nvPr/>
        </p:nvSpPr>
        <p:spPr>
          <a:xfrm>
            <a:off x="274320" y="731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con Cookies</a:t>
            </a:r>
          </a:p>
        </p:txBody>
      </p:sp>
      <p:sp>
        <p:nvSpPr>
          <p:cNvPr id="4" name="T2"/>
          <p:cNvSpPr/>
          <p:nvPr/>
        </p:nvSpPr>
        <p:spPr>
          <a:xfrm>
            <a:off x="274320" y="393192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850">
                <a:solidFill>
                  <a:srgbClr val="B3E5FC"/>
                </a:solidFill>
                <a:latin typeface="Calibri Light" pitchFamily="34" charset="0"/>
              </a:rPr>
              <a:t>El esquema de cookies almacena la identidad del usuario en una cookie cifrada. Es el método por defecto en aplicaciones MVC con Identity.</a:t>
            </a:r>
          </a:p>
        </p:txBody>
      </p:sp>
      <p:sp>
        <p:nvSpPr>
          <p:cNvPr id="5" name="T3"/>
          <p:cNvSpPr/>
          <p:nvPr/>
        </p:nvSpPr>
        <p:spPr>
          <a:xfrm>
            <a:off x="4937760" y="73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B3E5FC"/>
                </a:solidFill>
                <a:latin typeface="Consolas" pitchFamily="34" charset="0"/>
              </a:rPr>
              <a:t>Program.cs</a:t>
            </a:r>
          </a:p>
        </p:txBody>
      </p:sp>
      <p:sp>
        <p:nvSpPr>
          <p:cNvPr id="100" name="C100"/>
          <p:cNvSpPr/>
          <p:nvPr/>
        </p:nvSpPr>
        <p:spPr>
          <a:xfrm>
            <a:off x="274320" y="1051560"/>
            <a:ext cx="3840480" cy="89154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1" name="T101"/>
          <p:cNvSpPr/>
          <p:nvPr/>
        </p:nvSpPr>
        <p:spPr>
          <a:xfrm>
            <a:off x="411480" y="1097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Cookie cifrada</a:t>
            </a:r>
          </a:p>
        </p:txBody>
      </p:sp>
      <p:sp>
        <p:nvSpPr>
          <p:cNvPr id="102" name="T102"/>
          <p:cNvSpPr/>
          <p:nvPr/>
        </p:nvSpPr>
        <p:spPr>
          <a:xfrm>
            <a:off x="411480" y="132588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La cookie contiene un ticket cifrado con los claims del usuario. ASP.NET Core la descifra automáticamente en cada request.</a:t>
            </a:r>
          </a:p>
        </p:txBody>
      </p:sp>
      <p:sp>
        <p:nvSpPr>
          <p:cNvPr id="103" name="C103"/>
          <p:cNvSpPr/>
          <p:nvPr/>
        </p:nvSpPr>
        <p:spPr>
          <a:xfrm>
            <a:off x="274320" y="1988820"/>
            <a:ext cx="384048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4" name="T104"/>
          <p:cNvSpPr/>
          <p:nvPr/>
        </p:nvSpPr>
        <p:spPr>
          <a:xfrm>
            <a:off x="411480" y="20345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Sliding Expiration</a:t>
            </a:r>
          </a:p>
        </p:txBody>
      </p:sp>
      <p:sp>
        <p:nvSpPr>
          <p:cNvPr id="105" name="T105"/>
          <p:cNvSpPr/>
          <p:nvPr/>
        </p:nvSpPr>
        <p:spPr>
          <a:xfrm>
            <a:off x="411480" y="226314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La cookie se renueva automáticamente si el usuario sigue activo. ExpireTimeSpan define la duración máxima.</a:t>
            </a:r>
          </a:p>
        </p:txBody>
      </p:sp>
      <p:sp>
        <p:nvSpPr>
          <p:cNvPr id="106" name="C106"/>
          <p:cNvSpPr/>
          <p:nvPr/>
        </p:nvSpPr>
        <p:spPr>
          <a:xfrm>
            <a:off x="274320" y="2926080"/>
            <a:ext cx="384048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7" name="T107"/>
          <p:cNvSpPr/>
          <p:nvPr/>
        </p:nvSpPr>
        <p:spPr>
          <a:xfrm>
            <a:off x="411480" y="2971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Redirect Paths</a:t>
            </a:r>
          </a:p>
        </p:txBody>
      </p:sp>
      <p:sp>
        <p:nvSpPr>
          <p:cNvPr id="108" name="T108"/>
          <p:cNvSpPr/>
          <p:nvPr/>
        </p:nvSpPr>
        <p:spPr>
          <a:xfrm>
            <a:off x="411480" y="320040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LoginPath redirige a no autenticados. AccessDeniedPath a usuarios sin permisos. ReturnUrl preserva la URL original.</a:t>
            </a:r>
          </a:p>
        </p:txBody>
      </p:sp>
      <p:sp>
        <p:nvSpPr>
          <p:cNvPr id="109" name="C109"/>
          <p:cNvSpPr/>
          <p:nvPr/>
        </p:nvSpPr>
        <p:spPr>
          <a:xfrm>
            <a:off x="274320" y="3863340"/>
            <a:ext cx="384048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0" name="T110"/>
          <p:cNvSpPr/>
          <p:nvPr/>
        </p:nvSpPr>
        <p:spPr>
          <a:xfrm>
            <a:off x="411480" y="39090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Opciones de Seguridad</a:t>
            </a:r>
          </a:p>
        </p:txBody>
      </p:sp>
      <p:sp>
        <p:nvSpPr>
          <p:cNvPr id="111" name="T111"/>
          <p:cNvSpPr/>
          <p:nvPr/>
        </p:nvSpPr>
        <p:spPr>
          <a:xfrm>
            <a:off x="411480" y="413766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HttpOnly, Secure, SameSite protegen contra XSS y CSRF. Cookie.SecurePolicy en producción.</a:t>
            </a:r>
          </a:p>
        </p:txBody>
      </p:sp>
      <p:sp>
        <p:nvSpPr>
          <p:cNvPr id="30" name="S30"/>
          <p:cNvSpPr/>
          <p:nvPr/>
        </p:nvSpPr>
        <p:spPr>
          <a:xfrm>
            <a:off x="4389120" y="1051560"/>
            <a:ext cx="4480560" cy="370332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31"/>
          <p:cNvSpPr/>
          <p:nvPr/>
        </p:nvSpPr>
        <p:spPr>
          <a:xfrm>
            <a:off x="4389120" y="1051560"/>
            <a:ext cx="4480560" cy="274320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32"/>
          <p:cNvSpPr/>
          <p:nvPr/>
        </p:nvSpPr>
        <p:spPr>
          <a:xfrm>
            <a:off x="4526280" y="1051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Program.cs — Cookie Auth</a:t>
            </a:r>
          </a:p>
        </p:txBody>
      </p:sp>
      <p:sp>
        <p:nvSpPr>
          <p:cNvPr id="33" name="T33"/>
          <p:cNvSpPr/>
          <p:nvPr/>
        </p:nvSpPr>
        <p:spPr>
          <a:xfrm>
            <a:off x="4526280" y="1371600"/>
            <a:ext cx="4206240" cy="331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builder.Services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AddAuthentication(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CookieAuthenticationDefaults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.AuthenticationScheme)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AddCookie(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options =&gt;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options.LoginPath =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      "/Account/Login"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options.AccessDeniedPath =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      "/Account/Forbidden"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options.ExpireTimeSpan =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TimeSpan.FromHours(</a:t>
            </a:r>
            <a:r>
              <a:rPr lang="en-US" sz="750">
                <a:solidFill>
                  <a:srgbClr val="FB923C"/>
                </a:solidFill>
                <a:latin typeface="Consolas" pitchFamily="34" charset="0"/>
              </a:rPr>
              <a:t>2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options.SlidingExpiration =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true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options.Cookie.HttpOnly =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true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options.Cookie.SecurePolicy =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CookieSecurePolicy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.Always;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options.Cookie.SameSite =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SameSiteMode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.Strict;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});</a:t>
            </a:r>
          </a:p>
        </p:txBody>
      </p:sp>
      <p:sp>
        <p:nvSpPr>
          <p:cNvPr id="60" name="S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T6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</a:rPr>
              <a:t>.NET Core 8.0 — Autenticación y Autorización: Cookies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1"/>
          <p:cNvSpPr/>
          <p:nvPr/>
        </p:nvSpPr>
        <p:spPr>
          <a:xfrm>
            <a:off x="274320" y="731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con JWT</a:t>
            </a:r>
          </a:p>
        </p:txBody>
      </p:sp>
      <p:sp>
        <p:nvSpPr>
          <p:cNvPr id="4" name="T2"/>
          <p:cNvSpPr/>
          <p:nvPr/>
        </p:nvSpPr>
        <p:spPr>
          <a:xfrm>
            <a:off x="274320" y="393192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850">
                <a:solidFill>
                  <a:srgbClr val="B3E5FC"/>
                </a:solidFill>
                <a:latin typeface="Calibri Light" pitchFamily="34" charset="0"/>
              </a:rPr>
              <a:t>JSON Web Tokens permiten autenticación stateless ideal para APIs. El token se envía en el header Authorization: Bearer &lt;token&gt;.</a:t>
            </a:r>
          </a:p>
        </p:txBody>
      </p:sp>
      <p:sp>
        <p:nvSpPr>
          <p:cNvPr id="5" name="T3"/>
          <p:cNvSpPr/>
          <p:nvPr/>
        </p:nvSpPr>
        <p:spPr>
          <a:xfrm>
            <a:off x="4937760" y="73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B3E5FC"/>
                </a:solidFill>
                <a:latin typeface="Consolas" pitchFamily="34" charset="0"/>
              </a:rPr>
              <a:t>Program.cs + TokenService.cs</a:t>
            </a:r>
          </a:p>
        </p:txBody>
      </p:sp>
      <p:sp>
        <p:nvSpPr>
          <p:cNvPr id="100" name="C100"/>
          <p:cNvSpPr/>
          <p:nvPr/>
        </p:nvSpPr>
        <p:spPr>
          <a:xfrm>
            <a:off x="274320" y="1051560"/>
            <a:ext cx="3840480" cy="89154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1" name="T101"/>
          <p:cNvSpPr/>
          <p:nvPr/>
        </p:nvSpPr>
        <p:spPr>
          <a:xfrm>
            <a:off x="411480" y="1097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Estructura JWT</a:t>
            </a:r>
          </a:p>
        </p:txBody>
      </p:sp>
      <p:sp>
        <p:nvSpPr>
          <p:cNvPr id="102" name="T102"/>
          <p:cNvSpPr/>
          <p:nvPr/>
        </p:nvSpPr>
        <p:spPr>
          <a:xfrm>
            <a:off x="411480" y="132588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Header (algoritmo) + Payload (claims: sub, name, role, exp) + Signature (firma HMAC o RSA). Base64Url codificado.</a:t>
            </a:r>
          </a:p>
        </p:txBody>
      </p:sp>
      <p:sp>
        <p:nvSpPr>
          <p:cNvPr id="103" name="C103"/>
          <p:cNvSpPr/>
          <p:nvPr/>
        </p:nvSpPr>
        <p:spPr>
          <a:xfrm>
            <a:off x="274320" y="1988820"/>
            <a:ext cx="384048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4" name="T104"/>
          <p:cNvSpPr/>
          <p:nvPr/>
        </p:nvSpPr>
        <p:spPr>
          <a:xfrm>
            <a:off x="411480" y="20345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Validación automática</a:t>
            </a:r>
          </a:p>
        </p:txBody>
      </p:sp>
      <p:sp>
        <p:nvSpPr>
          <p:cNvPr id="105" name="T105"/>
          <p:cNvSpPr/>
          <p:nvPr/>
        </p:nvSpPr>
        <p:spPr>
          <a:xfrm>
            <a:off x="411480" y="226314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El middleware valida issuer, audience, lifetime y firma en cada request. Tokens expirados se rechazan con 401.</a:t>
            </a:r>
          </a:p>
        </p:txBody>
      </p:sp>
      <p:sp>
        <p:nvSpPr>
          <p:cNvPr id="106" name="C106"/>
          <p:cNvSpPr/>
          <p:nvPr/>
        </p:nvSpPr>
        <p:spPr>
          <a:xfrm>
            <a:off x="274320" y="2926080"/>
            <a:ext cx="384048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7" name="T107"/>
          <p:cNvSpPr/>
          <p:nvPr/>
        </p:nvSpPr>
        <p:spPr>
          <a:xfrm>
            <a:off x="411480" y="2971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Refresh Tokens</a:t>
            </a:r>
          </a:p>
        </p:txBody>
      </p:sp>
      <p:sp>
        <p:nvSpPr>
          <p:cNvPr id="108" name="T108"/>
          <p:cNvSpPr/>
          <p:nvPr/>
        </p:nvSpPr>
        <p:spPr>
          <a:xfrm>
            <a:off x="411480" y="320040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Tokens de corta vida (15-60min) + refresh token de larga vida para renovar sin re-autenticar al usuario.</a:t>
            </a:r>
          </a:p>
        </p:txBody>
      </p:sp>
      <p:sp>
        <p:nvSpPr>
          <p:cNvPr id="109" name="C109"/>
          <p:cNvSpPr/>
          <p:nvPr/>
        </p:nvSpPr>
        <p:spPr>
          <a:xfrm>
            <a:off x="274320" y="3863340"/>
            <a:ext cx="384048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0" name="T110"/>
          <p:cNvSpPr/>
          <p:nvPr/>
        </p:nvSpPr>
        <p:spPr>
          <a:xfrm>
            <a:off x="411480" y="39090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Seguridad</a:t>
            </a:r>
          </a:p>
        </p:txBody>
      </p:sp>
      <p:sp>
        <p:nvSpPr>
          <p:cNvPr id="111" name="T111"/>
          <p:cNvSpPr/>
          <p:nvPr/>
        </p:nvSpPr>
        <p:spPr>
          <a:xfrm>
            <a:off x="411480" y="413766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Secreto simétrico (HS256) o par de claves (RS256). Nunca almacenar datos sensibles en el payload JWT.</a:t>
            </a:r>
          </a:p>
        </p:txBody>
      </p:sp>
      <p:sp>
        <p:nvSpPr>
          <p:cNvPr id="30" name="S30"/>
          <p:cNvSpPr/>
          <p:nvPr/>
        </p:nvSpPr>
        <p:spPr>
          <a:xfrm>
            <a:off x="4389120" y="1051560"/>
            <a:ext cx="4480560" cy="370332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31"/>
          <p:cNvSpPr/>
          <p:nvPr/>
        </p:nvSpPr>
        <p:spPr>
          <a:xfrm>
            <a:off x="4389120" y="1051560"/>
            <a:ext cx="4480560" cy="274320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32"/>
          <p:cNvSpPr/>
          <p:nvPr/>
        </p:nvSpPr>
        <p:spPr>
          <a:xfrm>
            <a:off x="4526280" y="1051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Program.cs — JWT Config</a:t>
            </a:r>
          </a:p>
        </p:txBody>
      </p:sp>
      <p:sp>
        <p:nvSpPr>
          <p:cNvPr id="33" name="T33"/>
          <p:cNvSpPr/>
          <p:nvPr/>
        </p:nvSpPr>
        <p:spPr>
          <a:xfrm>
            <a:off x="4526280" y="1371600"/>
            <a:ext cx="4206240" cy="331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builder.Services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AddAuthentication(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JwtBearerDefaults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.AuthenticationScheme)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AddJwtBearer(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opt =&gt;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opt.TokenValidationParameters =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new 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TokenValidationParameters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ValidateIssuer =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true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,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ValidIssuer =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        "https://miapp.com"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,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ValidateAudience =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true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,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ValidAudience =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        "miapp-api"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,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ValidateLifetime =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true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,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IssuerSigningKey =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new 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SymmetricSecurityKey(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    Encoding.UTF8.GetBytes(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      config[</a:t>
            </a: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"Jwt:Key"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]))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};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});</a:t>
            </a:r>
          </a:p>
        </p:txBody>
      </p:sp>
      <p:sp>
        <p:nvSpPr>
          <p:cNvPr id="60" name="S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T6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</a:rPr>
              <a:t>.NET Core 8.0 — Autenticación y Autorización: JWT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Práctico — TokenService JWT</a:t>
            </a:r>
          </a:p>
        </p:txBody>
      </p:sp>
      <p:sp>
        <p:nvSpPr>
          <p:cNvPr id="4" name="T2"/>
          <p:cNvSpPr/>
          <p:nvPr/>
        </p:nvSpPr>
        <p:spPr>
          <a:xfrm>
            <a:off x="548640" y="7772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>
                <a:solidFill>
                  <a:srgbClr val="616161"/>
                </a:solidFill>
                <a:latin typeface="Calibri Light" pitchFamily="34" charset="0"/>
              </a:rPr>
              <a:t>Servicio que genera tokens JWT con claims de usuario, roles, firma HMAC y expiración configurable. Se inyecta en el Controller vía DI.</a:t>
            </a:r>
          </a:p>
        </p:txBody>
      </p:sp>
      <p:sp>
        <p:nvSpPr>
          <p:cNvPr id="10" name="S10"/>
          <p:cNvSpPr/>
          <p:nvPr/>
        </p:nvSpPr>
        <p:spPr>
          <a:xfrm>
            <a:off x="274320" y="1051560"/>
            <a:ext cx="4206240" cy="370332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11"/>
          <p:cNvSpPr/>
          <p:nvPr/>
        </p:nvSpPr>
        <p:spPr>
          <a:xfrm>
            <a:off x="274320" y="1051560"/>
            <a:ext cx="4206240" cy="274320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12"/>
          <p:cNvSpPr/>
          <p:nvPr/>
        </p:nvSpPr>
        <p:spPr>
          <a:xfrm>
            <a:off x="41148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TokenService.cs (claims)</a:t>
            </a:r>
          </a:p>
        </p:txBody>
      </p:sp>
      <p:sp>
        <p:nvSpPr>
          <p:cNvPr id="13" name="T13"/>
          <p:cNvSpPr/>
          <p:nvPr/>
        </p:nvSpPr>
        <p:spPr>
          <a:xfrm>
            <a:off x="411480" y="1371600"/>
            <a:ext cx="3931920" cy="331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public class </a:t>
            </a:r>
            <a:r>
              <a:rPr lang="en-US" sz="680">
                <a:solidFill>
                  <a:srgbClr val="60A5FA"/>
                </a:solidFill>
                <a:latin typeface="Consolas" pitchFamily="34" charset="0"/>
              </a:rPr>
              <a:t>TokenService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private readonly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IConfiguration _cfg;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/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public string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GenerateToken(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680">
                <a:solidFill>
                  <a:srgbClr val="60A5FA"/>
                </a:solidFill>
                <a:latin typeface="Consolas" pitchFamily="34" charset="0"/>
              </a:rPr>
              <a:t>AppUser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user,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IList&lt;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string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&gt; roles)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    var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claims =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new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List&lt;</a:t>
            </a:r>
            <a:r>
              <a:rPr lang="en-US" sz="680">
                <a:solidFill>
                  <a:srgbClr val="60A5FA"/>
                </a:solidFill>
                <a:latin typeface="Consolas" pitchFamily="34" charset="0"/>
              </a:rPr>
              <a:t>Claim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 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new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(</a:t>
            </a:r>
            <a:r>
              <a:rPr lang="en-US" sz="680">
                <a:solidFill>
                  <a:srgbClr val="60A5FA"/>
                </a:solidFill>
                <a:latin typeface="Consolas" pitchFamily="34" charset="0"/>
              </a:rPr>
              <a:t>ClaimTypes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.NameIdentifier,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    user.Id),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 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new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(</a:t>
            </a:r>
            <a:r>
              <a:rPr lang="en-US" sz="680">
                <a:solidFill>
                  <a:srgbClr val="60A5FA"/>
                </a:solidFill>
                <a:latin typeface="Consolas" pitchFamily="34" charset="0"/>
              </a:rPr>
              <a:t>ClaimTypes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.Email,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    user.Email!),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 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new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(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"NombreCompleto"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    user.NombreCompleto)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};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/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    // Agregar roles como claims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claims.AddRange(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  roles.Select(r =&gt;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   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new </a:t>
            </a:r>
            <a:r>
              <a:rPr lang="en-US" sz="680">
                <a:solidFill>
                  <a:srgbClr val="60A5FA"/>
                </a:solidFill>
                <a:latin typeface="Consolas" pitchFamily="34" charset="0"/>
              </a:rPr>
              <a:t>Claim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(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      </a:t>
            </a:r>
            <a:r>
              <a:rPr lang="en-US" sz="680">
                <a:solidFill>
                  <a:srgbClr val="60A5FA"/>
                </a:solidFill>
                <a:latin typeface="Consolas" pitchFamily="34" charset="0"/>
              </a:rPr>
              <a:t>ClaimTypes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.Role, r)));</a:t>
            </a:r>
          </a:p>
        </p:txBody>
      </p:sp>
      <p:sp>
        <p:nvSpPr>
          <p:cNvPr id="20" name="S20"/>
          <p:cNvSpPr/>
          <p:nvPr/>
        </p:nvSpPr>
        <p:spPr>
          <a:xfrm>
            <a:off x="4663440" y="1051560"/>
            <a:ext cx="4206240" cy="370332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21"/>
          <p:cNvSpPr/>
          <p:nvPr/>
        </p:nvSpPr>
        <p:spPr>
          <a:xfrm>
            <a:off x="4663440" y="1051560"/>
            <a:ext cx="4206240" cy="274320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22"/>
          <p:cNvSpPr/>
          <p:nvPr/>
        </p:nvSpPr>
        <p:spPr>
          <a:xfrm>
            <a:off x="480060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TokenService.cs (token)</a:t>
            </a:r>
          </a:p>
        </p:txBody>
      </p:sp>
      <p:sp>
        <p:nvSpPr>
          <p:cNvPr id="23" name="T23"/>
          <p:cNvSpPr/>
          <p:nvPr/>
        </p:nvSpPr>
        <p:spPr>
          <a:xfrm>
            <a:off x="4800600" y="1371600"/>
            <a:ext cx="3931920" cy="331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    // Crear el token JWT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    var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key =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new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  </a:t>
            </a:r>
            <a:r>
              <a:rPr lang="en-US" sz="680">
                <a:solidFill>
                  <a:srgbClr val="60A5FA"/>
                </a:solidFill>
                <a:latin typeface="Consolas" pitchFamily="34" charset="0"/>
              </a:rPr>
              <a:t>SymmetricSecurityKey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(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    Encoding.UTF8.GetBytes(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      _cfg[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"Jwt:Key"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]!));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/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    var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creds =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new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  </a:t>
            </a:r>
            <a:r>
              <a:rPr lang="en-US" sz="680">
                <a:solidFill>
                  <a:srgbClr val="60A5FA"/>
                </a:solidFill>
                <a:latin typeface="Consolas" pitchFamily="34" charset="0"/>
              </a:rPr>
              <a:t>SigningCredentials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(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    key, </a:t>
            </a:r>
            <a:r>
              <a:rPr lang="en-US" sz="680">
                <a:solidFill>
                  <a:srgbClr val="60A5FA"/>
                </a:solidFill>
                <a:latin typeface="Consolas" pitchFamily="34" charset="0"/>
              </a:rPr>
              <a:t>SecurityAlgorithms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      .HmacSha256);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/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    var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token = </a:t>
            </a: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new </a:t>
            </a:r>
            <a:r>
              <a:rPr lang="en-US" sz="680">
                <a:solidFill>
                  <a:srgbClr val="60A5FA"/>
                </a:solidFill>
                <a:latin typeface="Consolas" pitchFamily="34" charset="0"/>
              </a:rPr>
              <a:t>JwtSecurityToken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(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  issuer: _cfg[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"Jwt:Issuer"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],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  audience: _cfg[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"Jwt:Audience"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],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  claims: claims,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  expires: DateTime.UtcNow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    .AddMinutes(</a:t>
            </a:r>
            <a:r>
              <a:rPr lang="en-US" sz="680">
                <a:solidFill>
                  <a:srgbClr val="FB923C"/>
                </a:solidFill>
                <a:latin typeface="Consolas" pitchFamily="34" charset="0"/>
              </a:rPr>
              <a:t>30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),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  signingCredentials: creds);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/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    return new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  </a:t>
            </a:r>
            <a:r>
              <a:rPr lang="en-US" sz="680">
                <a:solidFill>
                  <a:srgbClr val="60A5FA"/>
                </a:solidFill>
                <a:latin typeface="Consolas" pitchFamily="34" charset="0"/>
              </a:rPr>
              <a:t>JwtSecurityTokenHandler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()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    .WriteToken(token);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}</a:t>
            </a:r>
          </a:p>
        </p:txBody>
      </p:sp>
      <p:sp>
        <p:nvSpPr>
          <p:cNvPr id="60" name="S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T6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</a:rPr>
              <a:t>.NET Core 8.0 — Autenticación y Autorización: TokenService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1"/>
          <p:cNvSpPr/>
          <p:nvPr/>
        </p:nvSpPr>
        <p:spPr>
          <a:xfrm>
            <a:off x="274320" y="731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>
                <a:solidFill>
                  <a:srgbClr val="FFFFFF"/>
                </a:solidFill>
                <a:latin typeface="Calibri" pitchFamily="34" charset="0"/>
              </a:rPr>
              <a:t>Autenticación Externa (OAuth)</a:t>
            </a:r>
          </a:p>
        </p:txBody>
      </p:sp>
      <p:sp>
        <p:nvSpPr>
          <p:cNvPr id="4" name="T2"/>
          <p:cNvSpPr/>
          <p:nvPr/>
        </p:nvSpPr>
        <p:spPr>
          <a:xfrm>
            <a:off x="274320" y="393192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850">
                <a:solidFill>
                  <a:srgbClr val="B3E5FC"/>
                </a:solidFill>
                <a:latin typeface="Calibri Light" pitchFamily="34" charset="0"/>
              </a:rPr>
              <a:t>Delegar autenticación a proveedores como Google, Microsoft o GitHub. El usuario se autentica externamente y ASP.NET Core recibe los claims.</a:t>
            </a:r>
          </a:p>
        </p:txBody>
      </p:sp>
      <p:sp>
        <p:nvSpPr>
          <p:cNvPr id="5" name="T3"/>
          <p:cNvSpPr/>
          <p:nvPr/>
        </p:nvSpPr>
        <p:spPr>
          <a:xfrm>
            <a:off x="4937760" y="73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B3E5FC"/>
                </a:solidFill>
                <a:latin typeface="Consolas" pitchFamily="34" charset="0"/>
              </a:rPr>
              <a:t>Program.cs</a:t>
            </a:r>
          </a:p>
        </p:txBody>
      </p:sp>
      <p:sp>
        <p:nvSpPr>
          <p:cNvPr id="100" name="C100"/>
          <p:cNvSpPr/>
          <p:nvPr/>
        </p:nvSpPr>
        <p:spPr>
          <a:xfrm>
            <a:off x="274320" y="1051560"/>
            <a:ext cx="3840480" cy="89154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1" name="T101"/>
          <p:cNvSpPr/>
          <p:nvPr/>
        </p:nvSpPr>
        <p:spPr>
          <a:xfrm>
            <a:off x="411480" y="1097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Flujo OAuth 2.0 / OpenID Connect</a:t>
            </a:r>
          </a:p>
        </p:txBody>
      </p:sp>
      <p:sp>
        <p:nvSpPr>
          <p:cNvPr id="102" name="T102"/>
          <p:cNvSpPr/>
          <p:nvPr/>
        </p:nvSpPr>
        <p:spPr>
          <a:xfrm>
            <a:off x="411480" y="132588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El usuario es redirigido al proveedor, se autentica allí, y vuelve con un código de autorización que se intercambia por tokens.</a:t>
            </a:r>
          </a:p>
        </p:txBody>
      </p:sp>
      <p:sp>
        <p:nvSpPr>
          <p:cNvPr id="103" name="C103"/>
          <p:cNvSpPr/>
          <p:nvPr/>
        </p:nvSpPr>
        <p:spPr>
          <a:xfrm>
            <a:off x="274320" y="1988820"/>
            <a:ext cx="384048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4" name="T104"/>
          <p:cNvSpPr/>
          <p:nvPr/>
        </p:nvSpPr>
        <p:spPr>
          <a:xfrm>
            <a:off x="411480" y="20345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Proveedores Integrados</a:t>
            </a:r>
          </a:p>
        </p:txBody>
      </p:sp>
      <p:sp>
        <p:nvSpPr>
          <p:cNvPr id="105" name="T105"/>
          <p:cNvSpPr/>
          <p:nvPr/>
        </p:nvSpPr>
        <p:spPr>
          <a:xfrm>
            <a:off x="411480" y="226314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NuGet packages para Google, Microsoft, Facebook, Twitter. Cada proveedor requiere ClientId y ClientSecret registrados en su portal.</a:t>
            </a:r>
          </a:p>
        </p:txBody>
      </p:sp>
      <p:sp>
        <p:nvSpPr>
          <p:cNvPr id="106" name="C106"/>
          <p:cNvSpPr/>
          <p:nvPr/>
        </p:nvSpPr>
        <p:spPr>
          <a:xfrm>
            <a:off x="274320" y="2926080"/>
            <a:ext cx="384048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7" name="T107"/>
          <p:cNvSpPr/>
          <p:nvPr/>
        </p:nvSpPr>
        <p:spPr>
          <a:xfrm>
            <a:off x="411480" y="2971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Claims Externos</a:t>
            </a:r>
          </a:p>
        </p:txBody>
      </p:sp>
      <p:sp>
        <p:nvSpPr>
          <p:cNvPr id="108" name="T108"/>
          <p:cNvSpPr/>
          <p:nvPr/>
        </p:nvSpPr>
        <p:spPr>
          <a:xfrm>
            <a:off x="411480" y="320040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El proveedor devuelve claims (email, nombre, foto). ExternalLoginInfo los mapea al IdentityUser local automáticamente.</a:t>
            </a:r>
          </a:p>
        </p:txBody>
      </p:sp>
      <p:sp>
        <p:nvSpPr>
          <p:cNvPr id="109" name="C109"/>
          <p:cNvSpPr/>
          <p:nvPr/>
        </p:nvSpPr>
        <p:spPr>
          <a:xfrm>
            <a:off x="274320" y="3863340"/>
            <a:ext cx="384048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0" name="T110"/>
          <p:cNvSpPr/>
          <p:nvPr/>
        </p:nvSpPr>
        <p:spPr>
          <a:xfrm>
            <a:off x="411480" y="39090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Registro Mixto</a:t>
            </a:r>
          </a:p>
        </p:txBody>
      </p:sp>
      <p:sp>
        <p:nvSpPr>
          <p:cNvPr id="111" name="T111"/>
          <p:cNvSpPr/>
          <p:nvPr/>
        </p:nvSpPr>
        <p:spPr>
          <a:xfrm>
            <a:off x="411480" y="413766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Primera vez: se crea la cuenta local vinculada al login externo. Próximas veces: login directo sin contraseña. Se pueden vincular múltiples proveedores.</a:t>
            </a:r>
          </a:p>
        </p:txBody>
      </p:sp>
      <p:sp>
        <p:nvSpPr>
          <p:cNvPr id="30" name="S30"/>
          <p:cNvSpPr/>
          <p:nvPr/>
        </p:nvSpPr>
        <p:spPr>
          <a:xfrm>
            <a:off x="4389120" y="1051560"/>
            <a:ext cx="4480560" cy="370332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31"/>
          <p:cNvSpPr/>
          <p:nvPr/>
        </p:nvSpPr>
        <p:spPr>
          <a:xfrm>
            <a:off x="4389120" y="1051560"/>
            <a:ext cx="4480560" cy="274320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32"/>
          <p:cNvSpPr/>
          <p:nvPr/>
        </p:nvSpPr>
        <p:spPr>
          <a:xfrm>
            <a:off x="4526280" y="1051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Program.cs — Proveedores externos</a:t>
            </a:r>
          </a:p>
        </p:txBody>
      </p:sp>
      <p:sp>
        <p:nvSpPr>
          <p:cNvPr id="33" name="T33"/>
          <p:cNvSpPr/>
          <p:nvPr/>
        </p:nvSpPr>
        <p:spPr>
          <a:xfrm>
            <a:off x="4526280" y="1371600"/>
            <a:ext cx="4206240" cy="331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NuGet necesarios: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Microsoft.AspNetCore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  .Authentication.Google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Microsoft.AspNetCore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  .Authentication.MicrosoftAccount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builder.Services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AddAuthentication()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AddGoogle(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opt =&gt;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opt.ClientId =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config[</a:t>
            </a: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"Google:ClientId"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]!;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opt.ClientSecret =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config[</a:t>
            </a: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"Google:Secret"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]!;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})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AddMicrosoftAccount(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opt =&gt;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opt.ClientId =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config[</a:t>
            </a: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"MS:ClientId"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]!;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opt.ClientSecret =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config[</a:t>
            </a: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"MS:Secret"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]!;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});</a:t>
            </a:r>
          </a:p>
        </p:txBody>
      </p:sp>
      <p:sp>
        <p:nvSpPr>
          <p:cNvPr id="60" name="S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T6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</a:rPr>
              <a:t>.NET Core 8.0 — Autenticación y Autorización: OAuth Externo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1"/>
          <p:cNvSpPr/>
          <p:nvPr/>
        </p:nvSpPr>
        <p:spPr>
          <a:xfrm>
            <a:off x="274320" y="731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>
                <a:solidFill>
                  <a:srgbClr val="FFFFFF"/>
                </a:solidFill>
                <a:latin typeface="Calibri" pitchFamily="34" charset="0"/>
              </a:rPr>
              <a:t>Controller Login/Logout</a:t>
            </a:r>
          </a:p>
        </p:txBody>
      </p:sp>
      <p:sp>
        <p:nvSpPr>
          <p:cNvPr id="4" name="T2"/>
          <p:cNvSpPr/>
          <p:nvPr/>
        </p:nvSpPr>
        <p:spPr>
          <a:xfrm>
            <a:off x="274320" y="393192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850">
                <a:solidFill>
                  <a:srgbClr val="B3E5FC"/>
                </a:solidFill>
                <a:latin typeface="Calibri Light" pitchFamily="34" charset="0"/>
              </a:rPr>
              <a:t>Ejemplo práctico de autenticación con Identity y cookies. SignInManager gestiona la sesión; UserManager busca y valida usuarios.</a:t>
            </a:r>
          </a:p>
        </p:txBody>
      </p:sp>
      <p:sp>
        <p:nvSpPr>
          <p:cNvPr id="5" name="T3"/>
          <p:cNvSpPr/>
          <p:nvPr/>
        </p:nvSpPr>
        <p:spPr>
          <a:xfrm>
            <a:off x="4937760" y="73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B3E5FC"/>
                </a:solidFill>
                <a:latin typeface="Consolas" pitchFamily="34" charset="0"/>
              </a:rPr>
              <a:t>AccountController.cs</a:t>
            </a:r>
          </a:p>
        </p:txBody>
      </p:sp>
      <p:sp>
        <p:nvSpPr>
          <p:cNvPr id="100" name="C100"/>
          <p:cNvSpPr/>
          <p:nvPr/>
        </p:nvSpPr>
        <p:spPr>
          <a:xfrm>
            <a:off x="274320" y="1051560"/>
            <a:ext cx="3840480" cy="89154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1" name="T101"/>
          <p:cNvSpPr/>
          <p:nvPr/>
        </p:nvSpPr>
        <p:spPr>
          <a:xfrm>
            <a:off x="411480" y="1097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SignInManager + Cookies</a:t>
            </a:r>
          </a:p>
        </p:txBody>
      </p:sp>
      <p:sp>
        <p:nvSpPr>
          <p:cNvPr id="102" name="T102"/>
          <p:cNvSpPr/>
          <p:nvPr/>
        </p:nvSpPr>
        <p:spPr>
          <a:xfrm>
            <a:off x="411480" y="132588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PasswordSignInAsync valida credenciales y crea la cookie de autenticación automáticamente. Soporta RememberMe y lockout por intentos fallidos.</a:t>
            </a:r>
          </a:p>
        </p:txBody>
      </p:sp>
      <p:sp>
        <p:nvSpPr>
          <p:cNvPr id="103" name="C103"/>
          <p:cNvSpPr/>
          <p:nvPr/>
        </p:nvSpPr>
        <p:spPr>
          <a:xfrm>
            <a:off x="274320" y="1988820"/>
            <a:ext cx="384048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4" name="T104"/>
          <p:cNvSpPr/>
          <p:nvPr/>
        </p:nvSpPr>
        <p:spPr>
          <a:xfrm>
            <a:off x="411480" y="20345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Logout con SignOutAsync</a:t>
            </a:r>
          </a:p>
        </p:txBody>
      </p:sp>
      <p:sp>
        <p:nvSpPr>
          <p:cNvPr id="105" name="T105"/>
          <p:cNvSpPr/>
          <p:nvPr/>
        </p:nvSpPr>
        <p:spPr>
          <a:xfrm>
            <a:off x="411480" y="226314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SignOutAsync elimina la cookie de sesión y redirige al usuario. Se decora con [HttpPost] para prevenir ataques CSRF de cierre de sesión.</a:t>
            </a:r>
          </a:p>
        </p:txBody>
      </p:sp>
      <p:sp>
        <p:nvSpPr>
          <p:cNvPr id="106" name="C106"/>
          <p:cNvSpPr/>
          <p:nvPr/>
        </p:nvSpPr>
        <p:spPr>
          <a:xfrm>
            <a:off x="274320" y="2926080"/>
            <a:ext cx="384048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7" name="T107"/>
          <p:cNvSpPr/>
          <p:nvPr/>
        </p:nvSpPr>
        <p:spPr>
          <a:xfrm>
            <a:off x="411480" y="2971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Remember Me</a:t>
            </a:r>
          </a:p>
        </p:txBody>
      </p:sp>
      <p:sp>
        <p:nvSpPr>
          <p:cNvPr id="108" name="T108"/>
          <p:cNvSpPr/>
          <p:nvPr/>
        </p:nvSpPr>
        <p:spPr>
          <a:xfrm>
            <a:off x="411480" y="320040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Si RememberMe es true, la cookie persiste más allá de la sesión del navegador. La duración se configura en CookieAuthenticationOptions.ExpireTimeSpan.</a:t>
            </a:r>
          </a:p>
        </p:txBody>
      </p:sp>
      <p:sp>
        <p:nvSpPr>
          <p:cNvPr id="109" name="C109"/>
          <p:cNvSpPr/>
          <p:nvPr/>
        </p:nvSpPr>
        <p:spPr>
          <a:xfrm>
            <a:off x="274320" y="3863340"/>
            <a:ext cx="384048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0" name="T110"/>
          <p:cNvSpPr/>
          <p:nvPr/>
        </p:nvSpPr>
        <p:spPr>
          <a:xfrm>
            <a:off x="411480" y="39090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Lockout de Cuenta</a:t>
            </a:r>
          </a:p>
        </p:txBody>
      </p:sp>
      <p:sp>
        <p:nvSpPr>
          <p:cNvPr id="111" name="T111"/>
          <p:cNvSpPr/>
          <p:nvPr/>
        </p:nvSpPr>
        <p:spPr>
          <a:xfrm>
            <a:off x="411480" y="413766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lockoutOnFailure: true activa el bloqueo temporal tras N intentos fallidos. Se configura con MaxFailedAccessAttempts y DefaultLockoutTimeSpan en Identity.</a:t>
            </a:r>
          </a:p>
        </p:txBody>
      </p:sp>
      <p:sp>
        <p:nvSpPr>
          <p:cNvPr id="30" name="S30"/>
          <p:cNvSpPr/>
          <p:nvPr/>
        </p:nvSpPr>
        <p:spPr>
          <a:xfrm>
            <a:off x="4389120" y="1051560"/>
            <a:ext cx="4480560" cy="370332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31"/>
          <p:cNvSpPr/>
          <p:nvPr/>
        </p:nvSpPr>
        <p:spPr>
          <a:xfrm>
            <a:off x="4389120" y="1051560"/>
            <a:ext cx="4480560" cy="274320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32"/>
          <p:cNvSpPr/>
          <p:nvPr/>
        </p:nvSpPr>
        <p:spPr>
          <a:xfrm>
            <a:off x="4526280" y="1051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AccountController.cs — Login + Logout</a:t>
            </a:r>
          </a:p>
        </p:txBody>
      </p:sp>
      <p:sp>
        <p:nvSpPr>
          <p:cNvPr id="33" name="T33"/>
          <p:cNvSpPr/>
          <p:nvPr/>
        </p:nvSpPr>
        <p:spPr>
          <a:xfrm>
            <a:off x="4526280" y="1371600"/>
            <a:ext cx="4206240" cy="331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 class 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AccountController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: 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Controller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  private readonly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SignInManager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&lt;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AppUser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&gt; _signIn;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  private readonly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UserManager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&lt;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AppUser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&gt; _userMgr;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[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HttpPost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  public async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Task&lt;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IActionResult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&gt;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Login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LoginVM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model)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    var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result =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await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_signIn.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PasswordSignInAsync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  model.Email,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  model.Password,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  model.RememberMe,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  lockoutOnFailure: </a:t>
            </a:r>
            <a:r>
              <a:rPr lang="en-US" sz="750">
                <a:solidFill>
                  <a:srgbClr val="FB923C"/>
                </a:solidFill>
                <a:latin typeface="Consolas" pitchFamily="34" charset="0"/>
              </a:rPr>
              <a:t>true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);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    if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(result.Succeeded)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      return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RedirectToAction(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  </a:t>
            </a: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"Index"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, </a:t>
            </a: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"Home"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);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ModelState.AddModelError(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</a:t>
            </a: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""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, </a:t>
            </a: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"Login inv\u00e1lido"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    return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View(model);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}</a:t>
            </a:r>
          </a:p>
        </p:txBody>
      </p:sp>
      <p:sp>
        <p:nvSpPr>
          <p:cNvPr id="60" name="S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T6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</a:rPr>
              <a:t>.NET Core 8.0 — Autenticación y Autorización: Login/Logout Controller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Pipeline — Orden y Fallos Comunes</a:t>
            </a:r>
          </a:p>
        </p:txBody>
      </p:sp>
      <p:sp>
        <p:nvSpPr>
          <p:cNvPr id="4" name="T2"/>
          <p:cNvSpPr/>
          <p:nvPr/>
        </p:nvSpPr>
        <p:spPr>
          <a:xfrm>
            <a:off x="548640" y="7772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>
                <a:solidFill>
                  <a:srgbClr val="616161"/>
                </a:solidFill>
                <a:latin typeface="Calibri Light" pitchFamily="34" charset="0"/>
              </a:rPr>
              <a:t>El orden del middleware en Program.cs es crítico. Authentication debe ir antes de Authorization, y ambos antes de MapControllerRoute.</a:t>
            </a:r>
          </a:p>
        </p:txBody>
      </p:sp>
      <p:sp>
        <p:nvSpPr>
          <p:cNvPr id="10" name="S10"/>
          <p:cNvSpPr/>
          <p:nvPr/>
        </p:nvSpPr>
        <p:spPr>
          <a:xfrm>
            <a:off x="274320" y="1051560"/>
            <a:ext cx="4206240" cy="370332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11"/>
          <p:cNvSpPr/>
          <p:nvPr/>
        </p:nvSpPr>
        <p:spPr>
          <a:xfrm>
            <a:off x="274320" y="1051560"/>
            <a:ext cx="4206240" cy="274320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12"/>
          <p:cNvSpPr/>
          <p:nvPr/>
        </p:nvSpPr>
        <p:spPr>
          <a:xfrm>
            <a:off x="41148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Program.cs — Orden correcto</a:t>
            </a:r>
          </a:p>
        </p:txBody>
      </p:sp>
      <p:sp>
        <p:nvSpPr>
          <p:cNvPr id="13" name="T13"/>
          <p:cNvSpPr/>
          <p:nvPr/>
        </p:nvSpPr>
        <p:spPr>
          <a:xfrm>
            <a:off x="411480" y="1371600"/>
            <a:ext cx="3931920" cy="331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// Program.cs — Orden CORRECTO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// El orden del middleware importa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/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C084FC"/>
                </a:solidFill>
                <a:latin typeface="Consolas" pitchFamily="34" charset="0"/>
              </a:rPr>
              <a:t>var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app = builder.Build();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/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// 1. Manejo de excepciones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app.</a:t>
            </a: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UseExceptionHandler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(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"/Home/Error"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);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/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// 2. HTTPS y archivos estáticos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app.</a:t>
            </a: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UseHttpsRedirection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();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app.</a:t>
            </a: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UseStaticFiles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();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/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// 3. Enrutamiento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app.</a:t>
            </a: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UseRouting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();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/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// 4. Autenticación (¿quién eres?)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app.</a:t>
            </a: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UseAuthentication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();</a:t>
            </a: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 // ←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/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// 5. Autorización (¿qué puedes?)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app.</a:t>
            </a: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UseAuthorization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();</a:t>
            </a: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  // ←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/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// 6. Mapear rutas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app.</a:t>
            </a: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MapControllerRoute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(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name: 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"default"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  pattern: </a:t>
            </a:r>
            <a:r>
              <a:rPr lang="en-US" sz="680">
                <a:solidFill>
                  <a:srgbClr val="4ADE80"/>
                </a:solidFill>
                <a:latin typeface="Consolas" pitchFamily="34" charset="0"/>
              </a:rPr>
              <a:t>"{controller}/{action}"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);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/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app.</a:t>
            </a:r>
            <a:r>
              <a:rPr lang="en-US" sz="680">
                <a:solidFill>
                  <a:srgbClr val="FBBF24"/>
                </a:solidFill>
                <a:latin typeface="Consolas" pitchFamily="34" charset="0"/>
              </a:rPr>
              <a:t>Run</a:t>
            </a: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();</a:t>
            </a:r>
          </a:p>
        </p:txBody>
      </p:sp>
      <p:sp>
        <p:nvSpPr>
          <p:cNvPr id="20" name="S20"/>
          <p:cNvSpPr/>
          <p:nvPr/>
        </p:nvSpPr>
        <p:spPr>
          <a:xfrm>
            <a:off x="4663440" y="1051560"/>
            <a:ext cx="4206240" cy="370332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21"/>
          <p:cNvSpPr/>
          <p:nvPr/>
        </p:nvSpPr>
        <p:spPr>
          <a:xfrm>
            <a:off x="4663440" y="1051560"/>
            <a:ext cx="4206240" cy="274320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22"/>
          <p:cNvSpPr/>
          <p:nvPr/>
        </p:nvSpPr>
        <p:spPr>
          <a:xfrm>
            <a:off x="480060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Errores comunes</a:t>
            </a:r>
          </a:p>
        </p:txBody>
      </p:sp>
      <p:sp>
        <p:nvSpPr>
          <p:cNvPr id="23" name="T23"/>
          <p:cNvSpPr/>
          <p:nvPr/>
        </p:nvSpPr>
        <p:spPr>
          <a:xfrm>
            <a:off x="4800600" y="1371600"/>
            <a:ext cx="3931920" cy="331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FB923C"/>
                </a:solidFill>
                <a:latin typeface="Consolas" pitchFamily="34" charset="0"/>
              </a:rPr>
              <a:t>// ERRORES COMUNES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/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// Error 1: Orden invertido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// Authorization antes de Authentication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app.UseAuthorization();</a:t>
            </a: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  // ✗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app.UseAuthentication();</a:t>
            </a: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 // ✗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// → [Authorize] siempre rechaza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//   porque el usuario no se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//   autenticó todavía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/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// Error 2: Olvidar middleware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// Solo poner [Authorize] sin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// UseAuthentication/UseAuthorization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// → Atributo ignorado silenciosamente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/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// Error 3: Auth después de Map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app.MapControllerRoute(...);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E2E8F0"/>
                </a:solidFill>
                <a:latin typeface="Consolas" pitchFamily="34" charset="0"/>
              </a:rPr>
              <a:t>app.UseAuthentication();</a:t>
            </a: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 // ✗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// → Middleware no se ejecuta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//   en el request pipeline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/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// Error 4: UseStaticFiles()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//   después de UseAuthorization()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// → Archivos CSS/JS requieren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64748B"/>
                </a:solidFill>
                <a:latin typeface="Consolas" pitchFamily="34" charset="0"/>
              </a:rPr>
              <a:t>//   autenticación para cargarse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80"/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FB923C"/>
                </a:solidFill>
                <a:latin typeface="Consolas" pitchFamily="34" charset="0"/>
              </a:rPr>
              <a:t>// Regla: el orden SIEMPRE 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80">
                <a:solidFill>
                  <a:srgbClr val="FB923C"/>
                </a:solidFill>
                <a:latin typeface="Consolas" pitchFamily="34" charset="0"/>
              </a:rPr>
              <a:t>// Authentication → Authorization</a:t>
            </a:r>
          </a:p>
        </p:txBody>
      </p:sp>
      <p:sp>
        <p:nvSpPr>
          <p:cNvPr id="60" name="S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T6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</a:rPr>
              <a:t>.NET Core 8.0 — Autenticación y Autorización: Middleware Pipeline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1"/>
          <p:cNvSpPr/>
          <p:nvPr/>
        </p:nvSpPr>
        <p:spPr>
          <a:xfrm>
            <a:off x="274320" y="731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>
                <a:solidFill>
                  <a:srgbClr val="FFFFFF"/>
                </a:solidFill>
                <a:latin typeface="Calibri" pitchFamily="34" charset="0"/>
              </a:rPr>
              <a:t>Autenticación de Dos Factores (2FA)</a:t>
            </a:r>
          </a:p>
        </p:txBody>
      </p:sp>
      <p:sp>
        <p:nvSpPr>
          <p:cNvPr id="4" name="T2"/>
          <p:cNvSpPr/>
          <p:nvPr/>
        </p:nvSpPr>
        <p:spPr>
          <a:xfrm>
            <a:off x="274320" y="393192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850">
                <a:solidFill>
                  <a:srgbClr val="B3E5FC"/>
                </a:solidFill>
                <a:latin typeface="Calibri Light" pitchFamily="34" charset="0"/>
              </a:rPr>
              <a:t>Identity incluye soporte nativo para TOTP. El usuario escanea un QR con Google Authenticator y valida con códigos de 6 dígitos.</a:t>
            </a:r>
          </a:p>
        </p:txBody>
      </p:sp>
      <p:sp>
        <p:nvSpPr>
          <p:cNvPr id="5" name="T3"/>
          <p:cNvSpPr/>
          <p:nvPr/>
        </p:nvSpPr>
        <p:spPr>
          <a:xfrm>
            <a:off x="4937760" y="73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B3E5FC"/>
                </a:solidFill>
                <a:latin typeface="Consolas" pitchFamily="34" charset="0"/>
              </a:rPr>
              <a:t>ManageController.cs</a:t>
            </a:r>
          </a:p>
        </p:txBody>
      </p:sp>
      <p:sp>
        <p:nvSpPr>
          <p:cNvPr id="100" name="C100"/>
          <p:cNvSpPr/>
          <p:nvPr/>
        </p:nvSpPr>
        <p:spPr>
          <a:xfrm>
            <a:off x="274320" y="1051560"/>
            <a:ext cx="3840480" cy="89154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1" name="T101"/>
          <p:cNvSpPr/>
          <p:nvPr/>
        </p:nvSpPr>
        <p:spPr>
          <a:xfrm>
            <a:off x="411480" y="1097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TOTP (Time-based One-Time Password)</a:t>
            </a:r>
          </a:p>
        </p:txBody>
      </p:sp>
      <p:sp>
        <p:nvSpPr>
          <p:cNvPr id="102" name="T102"/>
          <p:cNvSpPr/>
          <p:nvPr/>
        </p:nvSpPr>
        <p:spPr>
          <a:xfrm>
            <a:off x="411480" y="132588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Identity genera una clave secreta por usuario. Apps como Google Authenticator o Microsoft Authenticator generan códigos de 6 dígitos que cambian cada 30 segundos.</a:t>
            </a:r>
          </a:p>
        </p:txBody>
      </p:sp>
      <p:sp>
        <p:nvSpPr>
          <p:cNvPr id="103" name="C103"/>
          <p:cNvSpPr/>
          <p:nvPr/>
        </p:nvSpPr>
        <p:spPr>
          <a:xfrm>
            <a:off x="274320" y="1988820"/>
            <a:ext cx="384048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4" name="T104"/>
          <p:cNvSpPr/>
          <p:nvPr/>
        </p:nvSpPr>
        <p:spPr>
          <a:xfrm>
            <a:off x="411480" y="20345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Flujo de Activación</a:t>
            </a:r>
          </a:p>
        </p:txBody>
      </p:sp>
      <p:sp>
        <p:nvSpPr>
          <p:cNvPr id="105" name="T105"/>
          <p:cNvSpPr/>
          <p:nvPr/>
        </p:nvSpPr>
        <p:spPr>
          <a:xfrm>
            <a:off x="411480" y="226314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1. El usuario solicita habilitar 2FA. 2. Se genera la clave y se muestra como QR. 3. El usuario escanea con su app. 4. Valida ingresando el código TOTP actual.</a:t>
            </a:r>
          </a:p>
        </p:txBody>
      </p:sp>
      <p:sp>
        <p:nvSpPr>
          <p:cNvPr id="106" name="C106"/>
          <p:cNvSpPr/>
          <p:nvPr/>
        </p:nvSpPr>
        <p:spPr>
          <a:xfrm>
            <a:off x="274320" y="2926080"/>
            <a:ext cx="384048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7" name="T107"/>
          <p:cNvSpPr/>
          <p:nvPr/>
        </p:nvSpPr>
        <p:spPr>
          <a:xfrm>
            <a:off x="411480" y="2971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Verificación en Login</a:t>
            </a:r>
          </a:p>
        </p:txBody>
      </p:sp>
      <p:sp>
        <p:nvSpPr>
          <p:cNvPr id="108" name="T108"/>
          <p:cNvSpPr/>
          <p:nvPr/>
        </p:nvSpPr>
        <p:spPr>
          <a:xfrm>
            <a:off x="411480" y="320040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Tras login con contraseña, si 2FA está activo, SignInManager retorna RequiresTwoFactor. Se redirige a una página donde ingresa el código de su app autenticadora.</a:t>
            </a:r>
          </a:p>
        </p:txBody>
      </p:sp>
      <p:sp>
        <p:nvSpPr>
          <p:cNvPr id="109" name="C109"/>
          <p:cNvSpPr/>
          <p:nvPr/>
        </p:nvSpPr>
        <p:spPr>
          <a:xfrm>
            <a:off x="274320" y="3863340"/>
            <a:ext cx="384048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0" name="T110"/>
          <p:cNvSpPr/>
          <p:nvPr/>
        </p:nvSpPr>
        <p:spPr>
          <a:xfrm>
            <a:off x="411480" y="39090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Códigos de Recuperación</a:t>
            </a:r>
          </a:p>
        </p:txBody>
      </p:sp>
      <p:sp>
        <p:nvSpPr>
          <p:cNvPr id="111" name="T111"/>
          <p:cNvSpPr/>
          <p:nvPr/>
        </p:nvSpPr>
        <p:spPr>
          <a:xfrm>
            <a:off x="411480" y="413766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GenerateNewTwoFactorRecoveryCodesAsync genera códigos de un solo uso. Si el usuario pierde su dispositivo, puede acceder con estos códigos de respaldo.</a:t>
            </a:r>
          </a:p>
        </p:txBody>
      </p:sp>
      <p:sp>
        <p:nvSpPr>
          <p:cNvPr id="30" name="S30"/>
          <p:cNvSpPr/>
          <p:nvPr/>
        </p:nvSpPr>
        <p:spPr>
          <a:xfrm>
            <a:off x="4389120" y="1051560"/>
            <a:ext cx="4480560" cy="370332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31"/>
          <p:cNvSpPr/>
          <p:nvPr/>
        </p:nvSpPr>
        <p:spPr>
          <a:xfrm>
            <a:off x="4389120" y="1051560"/>
            <a:ext cx="4480560" cy="274320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32"/>
          <p:cNvSpPr/>
          <p:nvPr/>
        </p:nvSpPr>
        <p:spPr>
          <a:xfrm>
            <a:off x="4526280" y="1051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ManageController.cs — Habilitar 2FA</a:t>
            </a:r>
          </a:p>
        </p:txBody>
      </p:sp>
      <p:sp>
        <p:nvSpPr>
          <p:cNvPr id="33" name="T33"/>
          <p:cNvSpPr/>
          <p:nvPr/>
        </p:nvSpPr>
        <p:spPr>
          <a:xfrm>
            <a:off x="4526280" y="1371600"/>
            <a:ext cx="4206240" cy="331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Habilitar 2FA en el controller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[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HttpPost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 async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Task&lt;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IActionResult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&gt;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EnableTwoFactor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  var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user =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await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_userMgr.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GetUserAsync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(User);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  // Generar clave TOTP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  var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key =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await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_userMgr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GetAuthenticatorKeyAsync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(user!);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  if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(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string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.IsNullOrEmpty(key))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    await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_userMgr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ResetAuthenticatorKeyAsync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(user!);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key =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await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_userMgr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GetAuthenticatorKeyAsync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(user!);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}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  // URI para Google Authenticator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  var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uri =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GenerateQrCodeUri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(user!.Email!, key!);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  return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View(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new 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TwoFactorVM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{ SharedKey = key, AuthUri = uri });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}</a:t>
            </a:r>
          </a:p>
        </p:txBody>
      </p:sp>
      <p:sp>
        <p:nvSpPr>
          <p:cNvPr id="60" name="S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T6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</a:rPr>
              <a:t>.NET Core 8.0 — Autenticación y Autorización: 2FA con Identity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1"/>
          <p:cNvSpPr/>
          <p:nvPr/>
        </p:nvSpPr>
        <p:spPr>
          <a:xfrm>
            <a:off x="274320" y="731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[Authorize] y [AllowAnonymous]</a:t>
            </a:r>
          </a:p>
        </p:txBody>
      </p:sp>
      <p:sp>
        <p:nvSpPr>
          <p:cNvPr id="4" name="T2"/>
          <p:cNvSpPr/>
          <p:nvPr/>
        </p:nvSpPr>
        <p:spPr>
          <a:xfrm>
            <a:off x="274320" y="393192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850">
                <a:solidFill>
                  <a:srgbClr val="B3E5FC"/>
                </a:solidFill>
                <a:latin typeface="Calibri Light" pitchFamily="34" charset="0"/>
              </a:rPr>
              <a:t>[Authorize] restringe el acceso a usuarios autenticados. Se aplica a controladores, acciones o globalmente. [AllowAnonymous] crea excepciones.</a:t>
            </a:r>
          </a:p>
        </p:txBody>
      </p:sp>
      <p:sp>
        <p:nvSpPr>
          <p:cNvPr id="5" name="T3"/>
          <p:cNvSpPr/>
          <p:nvPr/>
        </p:nvSpPr>
        <p:spPr>
          <a:xfrm>
            <a:off x="4937760" y="73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B3E5FC"/>
                </a:solidFill>
                <a:latin typeface="Consolas" pitchFamily="34" charset="0"/>
              </a:rPr>
              <a:t>Controllers</a:t>
            </a:r>
          </a:p>
        </p:txBody>
      </p:sp>
      <p:sp>
        <p:nvSpPr>
          <p:cNvPr id="100" name="C100"/>
          <p:cNvSpPr/>
          <p:nvPr/>
        </p:nvSpPr>
        <p:spPr>
          <a:xfrm>
            <a:off x="274320" y="1051560"/>
            <a:ext cx="3840480" cy="89154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1" name="T101"/>
          <p:cNvSpPr/>
          <p:nvPr/>
        </p:nvSpPr>
        <p:spPr>
          <a:xfrm>
            <a:off x="411480" y="1097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[Authorize] básico</a:t>
            </a:r>
          </a:p>
        </p:txBody>
      </p:sp>
      <p:sp>
        <p:nvSpPr>
          <p:cNvPr id="102" name="T102"/>
          <p:cNvSpPr/>
          <p:nvPr/>
        </p:nvSpPr>
        <p:spPr>
          <a:xfrm>
            <a:off x="411480" y="132588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Sin parámetros, solo requiere autenticación. Aplica a nivel de controlador o acción individual.</a:t>
            </a:r>
          </a:p>
        </p:txBody>
      </p:sp>
      <p:sp>
        <p:nvSpPr>
          <p:cNvPr id="103" name="C103"/>
          <p:cNvSpPr/>
          <p:nvPr/>
        </p:nvSpPr>
        <p:spPr>
          <a:xfrm>
            <a:off x="274320" y="1988820"/>
            <a:ext cx="384048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4" name="T104"/>
          <p:cNvSpPr/>
          <p:nvPr/>
        </p:nvSpPr>
        <p:spPr>
          <a:xfrm>
            <a:off x="411480" y="20345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[Authorize(Roles)]</a:t>
            </a:r>
          </a:p>
        </p:txBody>
      </p:sp>
      <p:sp>
        <p:nvSpPr>
          <p:cNvPr id="105" name="T105"/>
          <p:cNvSpPr/>
          <p:nvPr/>
        </p:nvSpPr>
        <p:spPr>
          <a:xfrm>
            <a:off x="411480" y="226314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Restringe a usuarios con rol específico. Roles = "Admin,Editor" admite múltiples roles separados por coma.</a:t>
            </a:r>
          </a:p>
        </p:txBody>
      </p:sp>
      <p:sp>
        <p:nvSpPr>
          <p:cNvPr id="106" name="C106"/>
          <p:cNvSpPr/>
          <p:nvPr/>
        </p:nvSpPr>
        <p:spPr>
          <a:xfrm>
            <a:off x="274320" y="2926080"/>
            <a:ext cx="384048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7" name="T107"/>
          <p:cNvSpPr/>
          <p:nvPr/>
        </p:nvSpPr>
        <p:spPr>
          <a:xfrm>
            <a:off x="411480" y="2971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[Authorize(Policy)]</a:t>
            </a:r>
          </a:p>
        </p:txBody>
      </p:sp>
      <p:sp>
        <p:nvSpPr>
          <p:cNvPr id="108" name="T108"/>
          <p:cNvSpPr/>
          <p:nvPr/>
        </p:nvSpPr>
        <p:spPr>
          <a:xfrm>
            <a:off x="411480" y="320040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Usa políticas nombradas para reglas complejas. Policy = "MinAge18" evalúa un handler personalizado.</a:t>
            </a:r>
          </a:p>
        </p:txBody>
      </p:sp>
      <p:sp>
        <p:nvSpPr>
          <p:cNvPr id="109" name="C109"/>
          <p:cNvSpPr/>
          <p:nvPr/>
        </p:nvSpPr>
        <p:spPr>
          <a:xfrm>
            <a:off x="274320" y="3863340"/>
            <a:ext cx="384048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0" name="T110"/>
          <p:cNvSpPr/>
          <p:nvPr/>
        </p:nvSpPr>
        <p:spPr>
          <a:xfrm>
            <a:off x="411480" y="39090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[AllowAnonymous]</a:t>
            </a:r>
          </a:p>
        </p:txBody>
      </p:sp>
      <p:sp>
        <p:nvSpPr>
          <p:cNvPr id="111" name="T111"/>
          <p:cNvSpPr/>
          <p:nvPr/>
        </p:nvSpPr>
        <p:spPr>
          <a:xfrm>
            <a:off x="411480" y="413766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Permite acceso público a acciones dentro de un controlador protegido. Ideal para Login, Register, endpoints públicos.</a:t>
            </a:r>
          </a:p>
        </p:txBody>
      </p:sp>
      <p:sp>
        <p:nvSpPr>
          <p:cNvPr id="30" name="S30"/>
          <p:cNvSpPr/>
          <p:nvPr/>
        </p:nvSpPr>
        <p:spPr>
          <a:xfrm>
            <a:off x="4389120" y="1051560"/>
            <a:ext cx="4480560" cy="370332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31"/>
          <p:cNvSpPr/>
          <p:nvPr/>
        </p:nvSpPr>
        <p:spPr>
          <a:xfrm>
            <a:off x="4389120" y="1051560"/>
            <a:ext cx="4480560" cy="274320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32"/>
          <p:cNvSpPr/>
          <p:nvPr/>
        </p:nvSpPr>
        <p:spPr>
          <a:xfrm>
            <a:off x="4526280" y="1051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Ejemplos de uso</a:t>
            </a:r>
          </a:p>
        </p:txBody>
      </p:sp>
      <p:sp>
        <p:nvSpPr>
          <p:cNvPr id="33" name="T33"/>
          <p:cNvSpPr/>
          <p:nvPr/>
        </p:nvSpPr>
        <p:spPr>
          <a:xfrm>
            <a:off x="4526280" y="1371600"/>
            <a:ext cx="4206240" cy="331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Solo usuarios autenticados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[Authorize]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 class 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DashboardController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: Controller { ... }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Solo rol Admin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[Authorize(Roles = </a:t>
            </a: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"Admin"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)]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IActionResult Panel() =&gt;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View();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Política personalizada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[Authorize(Policy = </a:t>
            </a: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"RequireAdmin"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)]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IActionResult Config()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=&gt; View();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Excepción pública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[AllowAnonymous]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IActionResult Login()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=&gt; View();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Múltiples roles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[Authorize(Roles =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  "Admin,Editor"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)]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IActionResult Edit()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=&gt; View();</a:t>
            </a:r>
          </a:p>
        </p:txBody>
      </p:sp>
      <p:sp>
        <p:nvSpPr>
          <p:cNvPr id="60" name="S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T6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</a:rPr>
              <a:t>.NET Core 8.0 — Autenticación y Autorización: [Authorize]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1"/>
          <p:cNvSpPr/>
          <p:nvPr/>
        </p:nvSpPr>
        <p:spPr>
          <a:xfrm>
            <a:off x="274320" y="731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Claims</a:t>
            </a:r>
          </a:p>
        </p:txBody>
      </p:sp>
      <p:sp>
        <p:nvSpPr>
          <p:cNvPr id="4" name="T2"/>
          <p:cNvSpPr/>
          <p:nvPr/>
        </p:nvSpPr>
        <p:spPr>
          <a:xfrm>
            <a:off x="274320" y="393192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850">
                <a:solidFill>
                  <a:srgbClr val="B3E5FC"/>
                </a:solidFill>
                <a:latin typeface="Calibri Light" pitchFamily="34" charset="0"/>
              </a:rPr>
              <a:t>Los roles agrupan permisos por nombre. Los claims son pares clave-valor que describen atributos del usuario. Ambos se almacenan en la cookie/token.</a:t>
            </a:r>
          </a:p>
        </p:txBody>
      </p:sp>
      <p:sp>
        <p:nvSpPr>
          <p:cNvPr id="5" name="T3"/>
          <p:cNvSpPr/>
          <p:nvPr/>
        </p:nvSpPr>
        <p:spPr>
          <a:xfrm>
            <a:off x="4937760" y="73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B3E5FC"/>
                </a:solidFill>
                <a:latin typeface="Consolas" pitchFamily="34" charset="0"/>
              </a:rPr>
              <a:t>SeedData.cs + Controller</a:t>
            </a:r>
          </a:p>
        </p:txBody>
      </p:sp>
      <p:sp>
        <p:nvSpPr>
          <p:cNvPr id="100" name="C100"/>
          <p:cNvSpPr/>
          <p:nvPr/>
        </p:nvSpPr>
        <p:spPr>
          <a:xfrm>
            <a:off x="274320" y="1051560"/>
            <a:ext cx="3840480" cy="89154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1" name="T101"/>
          <p:cNvSpPr/>
          <p:nvPr/>
        </p:nvSpPr>
        <p:spPr>
          <a:xfrm>
            <a:off x="411480" y="1097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Roles</a:t>
            </a:r>
          </a:p>
        </p:txBody>
      </p:sp>
      <p:sp>
        <p:nvSpPr>
          <p:cNvPr id="102" name="T102"/>
          <p:cNvSpPr/>
          <p:nvPr/>
        </p:nvSpPr>
        <p:spPr>
          <a:xfrm>
            <a:off x="411480" y="132588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Grupos de permisos (Admin, Editor, User). RoleManager crea roles. UserManager.AddToRoleAsync asigna usuarios.</a:t>
            </a:r>
          </a:p>
        </p:txBody>
      </p:sp>
      <p:sp>
        <p:nvSpPr>
          <p:cNvPr id="103" name="C103"/>
          <p:cNvSpPr/>
          <p:nvPr/>
        </p:nvSpPr>
        <p:spPr>
          <a:xfrm>
            <a:off x="274320" y="1988820"/>
            <a:ext cx="384048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4" name="T104"/>
          <p:cNvSpPr/>
          <p:nvPr/>
        </p:nvSpPr>
        <p:spPr>
          <a:xfrm>
            <a:off x="411480" y="20345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Claims</a:t>
            </a:r>
          </a:p>
        </p:txBody>
      </p:sp>
      <p:sp>
        <p:nvSpPr>
          <p:cNvPr id="105" name="T105"/>
          <p:cNvSpPr/>
          <p:nvPr/>
        </p:nvSpPr>
        <p:spPr>
          <a:xfrm>
            <a:off x="411480" y="226314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Atributos del usuario: Departamento, NivelAcceso, Permisos individuales. Más flexibles que los roles para reglas complejas.</a:t>
            </a:r>
          </a:p>
        </p:txBody>
      </p:sp>
      <p:sp>
        <p:nvSpPr>
          <p:cNvPr id="106" name="C106"/>
          <p:cNvSpPr/>
          <p:nvPr/>
        </p:nvSpPr>
        <p:spPr>
          <a:xfrm>
            <a:off x="274320" y="2926080"/>
            <a:ext cx="384048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7" name="T107"/>
          <p:cNvSpPr/>
          <p:nvPr/>
        </p:nvSpPr>
        <p:spPr>
          <a:xfrm>
            <a:off x="411480" y="2971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ClaimsPrincipal</a:t>
            </a:r>
          </a:p>
        </p:txBody>
      </p:sp>
      <p:sp>
        <p:nvSpPr>
          <p:cNvPr id="108" name="T108"/>
          <p:cNvSpPr/>
          <p:nvPr/>
        </p:nvSpPr>
        <p:spPr>
          <a:xfrm>
            <a:off x="411480" y="320040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User.Identity contiene los claims. User.IsInRole() verifica roles. User.FindFirst() obtiene un claim específico.</a:t>
            </a:r>
          </a:p>
        </p:txBody>
      </p:sp>
      <p:sp>
        <p:nvSpPr>
          <p:cNvPr id="109" name="C109"/>
          <p:cNvSpPr/>
          <p:nvPr/>
        </p:nvSpPr>
        <p:spPr>
          <a:xfrm>
            <a:off x="274320" y="3863340"/>
            <a:ext cx="384048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0" name="T110"/>
          <p:cNvSpPr/>
          <p:nvPr/>
        </p:nvSpPr>
        <p:spPr>
          <a:xfrm>
            <a:off x="411480" y="39090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Claims en Token/Cookie</a:t>
            </a:r>
          </a:p>
        </p:txBody>
      </p:sp>
      <p:sp>
        <p:nvSpPr>
          <p:cNvPr id="111" name="T111"/>
          <p:cNvSpPr/>
          <p:nvPr/>
        </p:nvSpPr>
        <p:spPr>
          <a:xfrm>
            <a:off x="411480" y="413766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Los claims se serializan en el JWT payload o en la cookie cifrada. Se leen automáticamente en cada request.</a:t>
            </a:r>
          </a:p>
        </p:txBody>
      </p:sp>
      <p:sp>
        <p:nvSpPr>
          <p:cNvPr id="30" name="S30"/>
          <p:cNvSpPr/>
          <p:nvPr/>
        </p:nvSpPr>
        <p:spPr>
          <a:xfrm>
            <a:off x="4389120" y="1051560"/>
            <a:ext cx="4480560" cy="370332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31"/>
          <p:cNvSpPr/>
          <p:nvPr/>
        </p:nvSpPr>
        <p:spPr>
          <a:xfrm>
            <a:off x="4389120" y="1051560"/>
            <a:ext cx="4480560" cy="274320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32"/>
          <p:cNvSpPr/>
          <p:nvPr/>
        </p:nvSpPr>
        <p:spPr>
          <a:xfrm>
            <a:off x="4526280" y="1051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Gestión de Roles y Claims</a:t>
            </a:r>
          </a:p>
        </p:txBody>
      </p:sp>
      <p:sp>
        <p:nvSpPr>
          <p:cNvPr id="33" name="T33"/>
          <p:cNvSpPr/>
          <p:nvPr/>
        </p:nvSpPr>
        <p:spPr>
          <a:xfrm>
            <a:off x="4526280" y="1371600"/>
            <a:ext cx="4206240" cy="331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Crear roles al iniciar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var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roleMgr = scope.ServiceProvider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.GetRequiredService&lt;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RoleManager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&lt;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IdentityRole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&gt;&gt;();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string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[] roles =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{ </a:t>
            </a: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"Admin"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, </a:t>
            </a: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"Editor"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, </a:t>
            </a: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"User"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};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foreach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(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var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rol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in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roles)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if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(!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await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roleMgr.RoleExistsAsync(rol))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await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roleMgr.CreateAsync(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new 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IdentityRole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(rol));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Asignar rol y claims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await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_userMgr.AddToRoleAsync(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user, </a:t>
            </a: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"Admin"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await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_userMgr.AddClaimAsync(user,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new 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Claim(</a:t>
            </a: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"Depto"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, </a:t>
            </a: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"TI"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)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);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Leer en un Controller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var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depto = User.FindFirst(</a:t>
            </a: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"Depto"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?.Value;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bool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esAdmin = User.IsInRole(</a:t>
            </a: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"Admin"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);</a:t>
            </a:r>
          </a:p>
        </p:txBody>
      </p:sp>
      <p:sp>
        <p:nvSpPr>
          <p:cNvPr id="60" name="S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T6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</a:rPr>
              <a:t>.NET Core 8.0 — Autenticación y Autorización: Roles y Claims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1"/>
          <p:cNvSpPr/>
          <p:nvPr/>
        </p:nvSpPr>
        <p:spPr>
          <a:xfrm>
            <a:off x="274320" y="731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de Autorización</a:t>
            </a:r>
          </a:p>
        </p:txBody>
      </p:sp>
      <p:sp>
        <p:nvSpPr>
          <p:cNvPr id="4" name="T2"/>
          <p:cNvSpPr/>
          <p:nvPr/>
        </p:nvSpPr>
        <p:spPr>
          <a:xfrm>
            <a:off x="274320" y="393192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850">
                <a:solidFill>
                  <a:srgbClr val="B3E5FC"/>
                </a:solidFill>
                <a:latin typeface="Calibri Light" pitchFamily="34" charset="0"/>
              </a:rPr>
              <a:t>Las políticas definen reglas complejas de autorización reutilizables. Combinan roles, claims y lógica personalizada mediante Requirements y Handlers.</a:t>
            </a:r>
          </a:p>
        </p:txBody>
      </p:sp>
      <p:sp>
        <p:nvSpPr>
          <p:cNvPr id="5" name="T3"/>
          <p:cNvSpPr/>
          <p:nvPr/>
        </p:nvSpPr>
        <p:spPr>
          <a:xfrm>
            <a:off x="4937760" y="73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B3E5FC"/>
                </a:solidFill>
                <a:latin typeface="Consolas" pitchFamily="34" charset="0"/>
              </a:rPr>
              <a:t>Program.cs + Handler</a:t>
            </a:r>
          </a:p>
        </p:txBody>
      </p:sp>
      <p:sp>
        <p:nvSpPr>
          <p:cNvPr id="100" name="C100"/>
          <p:cNvSpPr/>
          <p:nvPr/>
        </p:nvSpPr>
        <p:spPr>
          <a:xfrm>
            <a:off x="274320" y="1051560"/>
            <a:ext cx="3840480" cy="89154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1" name="T101"/>
          <p:cNvSpPr/>
          <p:nvPr/>
        </p:nvSpPr>
        <p:spPr>
          <a:xfrm>
            <a:off x="411480" y="1097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Policy Builder</a:t>
            </a:r>
          </a:p>
        </p:txBody>
      </p:sp>
      <p:sp>
        <p:nvSpPr>
          <p:cNvPr id="102" name="T102"/>
          <p:cNvSpPr/>
          <p:nvPr/>
        </p:nvSpPr>
        <p:spPr>
          <a:xfrm>
            <a:off x="411480" y="132588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AddPolicy define reglas con RequireRole, RequireClaim, RequireAuthenticatedUser y combinaciones lógicas.</a:t>
            </a:r>
          </a:p>
        </p:txBody>
      </p:sp>
      <p:sp>
        <p:nvSpPr>
          <p:cNvPr id="103" name="C103"/>
          <p:cNvSpPr/>
          <p:nvPr/>
        </p:nvSpPr>
        <p:spPr>
          <a:xfrm>
            <a:off x="274320" y="1988820"/>
            <a:ext cx="384048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4" name="T104"/>
          <p:cNvSpPr/>
          <p:nvPr/>
        </p:nvSpPr>
        <p:spPr>
          <a:xfrm>
            <a:off x="411480" y="20345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IAuthorizationRequirement</a:t>
            </a:r>
          </a:p>
        </p:txBody>
      </p:sp>
      <p:sp>
        <p:nvSpPr>
          <p:cNvPr id="105" name="T105"/>
          <p:cNvSpPr/>
          <p:nvPr/>
        </p:nvSpPr>
        <p:spPr>
          <a:xfrm>
            <a:off x="411480" y="226314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Interfaz marcadora para definir un requisito personalizado. Contiene los datos necesarios para evaluar.</a:t>
            </a:r>
          </a:p>
        </p:txBody>
      </p:sp>
      <p:sp>
        <p:nvSpPr>
          <p:cNvPr id="106" name="C106"/>
          <p:cNvSpPr/>
          <p:nvPr/>
        </p:nvSpPr>
        <p:spPr>
          <a:xfrm>
            <a:off x="274320" y="2926080"/>
            <a:ext cx="384048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7" name="T107"/>
          <p:cNvSpPr/>
          <p:nvPr/>
        </p:nvSpPr>
        <p:spPr>
          <a:xfrm>
            <a:off x="411480" y="2971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AuthorizationHandler&lt;T&gt;</a:t>
            </a:r>
          </a:p>
        </p:txBody>
      </p:sp>
      <p:sp>
        <p:nvSpPr>
          <p:cNvPr id="108" name="T108"/>
          <p:cNvSpPr/>
          <p:nvPr/>
        </p:nvSpPr>
        <p:spPr>
          <a:xfrm>
            <a:off x="411480" y="320040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Clase que implementa la lógica de evaluación. HandleRequirementAsync decide si el usuario cumple el requisito.</a:t>
            </a:r>
          </a:p>
        </p:txBody>
      </p:sp>
      <p:sp>
        <p:nvSpPr>
          <p:cNvPr id="109" name="C109"/>
          <p:cNvSpPr/>
          <p:nvPr/>
        </p:nvSpPr>
        <p:spPr>
          <a:xfrm>
            <a:off x="274320" y="3863340"/>
            <a:ext cx="384048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0" name="T110"/>
          <p:cNvSpPr/>
          <p:nvPr/>
        </p:nvSpPr>
        <p:spPr>
          <a:xfrm>
            <a:off x="411480" y="39090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Resource-Based Auth</a:t>
            </a:r>
          </a:p>
        </p:txBody>
      </p:sp>
      <p:sp>
        <p:nvSpPr>
          <p:cNvPr id="111" name="T111"/>
          <p:cNvSpPr/>
          <p:nvPr/>
        </p:nvSpPr>
        <p:spPr>
          <a:xfrm>
            <a:off x="411480" y="413766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IAuthorizationService.AuthorizeAsync evalúa políticas contra un recurso específico dentro de la acción.</a:t>
            </a:r>
          </a:p>
        </p:txBody>
      </p:sp>
      <p:sp>
        <p:nvSpPr>
          <p:cNvPr id="30" name="S30"/>
          <p:cNvSpPr/>
          <p:nvPr/>
        </p:nvSpPr>
        <p:spPr>
          <a:xfrm>
            <a:off x="4389120" y="1051560"/>
            <a:ext cx="4480560" cy="370332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31"/>
          <p:cNvSpPr/>
          <p:nvPr/>
        </p:nvSpPr>
        <p:spPr>
          <a:xfrm>
            <a:off x="4389120" y="1051560"/>
            <a:ext cx="4480560" cy="274320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32"/>
          <p:cNvSpPr/>
          <p:nvPr/>
        </p:nvSpPr>
        <p:spPr>
          <a:xfrm>
            <a:off x="4526280" y="1051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Política personalizada</a:t>
            </a:r>
          </a:p>
        </p:txBody>
      </p:sp>
      <p:sp>
        <p:nvSpPr>
          <p:cNvPr id="33" name="T33"/>
          <p:cNvSpPr/>
          <p:nvPr/>
        </p:nvSpPr>
        <p:spPr>
          <a:xfrm>
            <a:off x="4526280" y="1371600"/>
            <a:ext cx="4206240" cy="331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Registrar políticas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builder.Services.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AddAuthorization(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opt =&gt;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opt.AddPolicy(</a:t>
            </a: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"AdminOnly"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,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p =&gt; p.RequireRole(</a:t>
            </a: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"Admin"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));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opt.AddPolicy(</a:t>
            </a: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"DeptoTI"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,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p =&gt; p.RequireClaim(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      "Depto"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, </a:t>
            </a: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"TI"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));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});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Requirement personalizado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 class 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MinAgeRequirement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: 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IAuthorizationRequirement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{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 int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MinAge { get; set; } }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 class 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MinAgeHandler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: 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AuthorizationHandler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&lt;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MinAgeRequirement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&gt;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protected override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Task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HandleRequirementAsync(...)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{ </a:t>
            </a: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/* verificar edad */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}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}</a:t>
            </a:r>
          </a:p>
        </p:txBody>
      </p:sp>
      <p:sp>
        <p:nvSpPr>
          <p:cNvPr id="60" name="S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T6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</a:rPr>
              <a:t>.NET Core 8.0 — Autenticación y Autorización: Políticas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1"/>
          <p:cNvSpPr/>
          <p:nvPr/>
        </p:nvSpPr>
        <p:spPr>
          <a:xfrm>
            <a:off x="274320" y="731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API Endpoints (.NET 8)</a:t>
            </a:r>
          </a:p>
        </p:txBody>
      </p:sp>
      <p:sp>
        <p:nvSpPr>
          <p:cNvPr id="4" name="T2"/>
          <p:cNvSpPr/>
          <p:nvPr/>
        </p:nvSpPr>
        <p:spPr>
          <a:xfrm>
            <a:off x="274320" y="393192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850">
                <a:solidFill>
                  <a:srgbClr val="B3E5FC"/>
                </a:solidFill>
                <a:latin typeface="Calibri Light" pitchFamily="34" charset="0"/>
              </a:rPr>
              <a:t>ASP.NET Core 8 introduce MapIdentityApi&lt;T&gt; que expone endpoints REST listos para registro, login y gestión de tokens sin crear controladores.</a:t>
            </a:r>
          </a:p>
        </p:txBody>
      </p:sp>
      <p:sp>
        <p:nvSpPr>
          <p:cNvPr id="5" name="T3"/>
          <p:cNvSpPr/>
          <p:nvPr/>
        </p:nvSpPr>
        <p:spPr>
          <a:xfrm>
            <a:off x="4937760" y="73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B3E5FC"/>
                </a:solidFill>
                <a:latin typeface="Consolas" pitchFamily="34" charset="0"/>
              </a:rPr>
              <a:t>Program.cs — Minimal API</a:t>
            </a:r>
          </a:p>
        </p:txBody>
      </p:sp>
      <p:sp>
        <p:nvSpPr>
          <p:cNvPr id="100" name="C100"/>
          <p:cNvSpPr/>
          <p:nvPr/>
        </p:nvSpPr>
        <p:spPr>
          <a:xfrm>
            <a:off x="274320" y="1051560"/>
            <a:ext cx="3840480" cy="89154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1" name="T101"/>
          <p:cNvSpPr/>
          <p:nvPr/>
        </p:nvSpPr>
        <p:spPr>
          <a:xfrm>
            <a:off x="411480" y="1097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MapIdentityApi&lt;T&gt;</a:t>
            </a:r>
          </a:p>
        </p:txBody>
      </p:sp>
      <p:sp>
        <p:nvSpPr>
          <p:cNvPr id="102" name="T102"/>
          <p:cNvSpPr/>
          <p:nvPr/>
        </p:nvSpPr>
        <p:spPr>
          <a:xfrm>
            <a:off x="411480" y="132588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Una sola línea genera endpoints POST /register, POST /login, POST /refresh, POST /manage/*. Ideal para SPAs y apps móviles.</a:t>
            </a:r>
          </a:p>
        </p:txBody>
      </p:sp>
      <p:sp>
        <p:nvSpPr>
          <p:cNvPr id="103" name="C103"/>
          <p:cNvSpPr/>
          <p:nvPr/>
        </p:nvSpPr>
        <p:spPr>
          <a:xfrm>
            <a:off x="274320" y="1988820"/>
            <a:ext cx="384048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4" name="T104"/>
          <p:cNvSpPr/>
          <p:nvPr/>
        </p:nvSpPr>
        <p:spPr>
          <a:xfrm>
            <a:off x="411480" y="20345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Bearer Token Provider</a:t>
            </a:r>
          </a:p>
        </p:txBody>
      </p:sp>
      <p:sp>
        <p:nvSpPr>
          <p:cNvPr id="105" name="T105"/>
          <p:cNvSpPr/>
          <p:nvPr/>
        </p:nvSpPr>
        <p:spPr>
          <a:xfrm>
            <a:off x="411480" y="226314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Identity en .NET 8 incluye un proveedor de bearer tokens propio (no JWT). Tokens opacos con refresh automático.</a:t>
            </a:r>
          </a:p>
        </p:txBody>
      </p:sp>
      <p:sp>
        <p:nvSpPr>
          <p:cNvPr id="106" name="C106"/>
          <p:cNvSpPr/>
          <p:nvPr/>
        </p:nvSpPr>
        <p:spPr>
          <a:xfrm>
            <a:off x="274320" y="2926080"/>
            <a:ext cx="384048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7" name="T107"/>
          <p:cNvSpPr/>
          <p:nvPr/>
        </p:nvSpPr>
        <p:spPr>
          <a:xfrm>
            <a:off x="411480" y="2971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Endpoints Generados</a:t>
            </a:r>
          </a:p>
        </p:txBody>
      </p:sp>
      <p:sp>
        <p:nvSpPr>
          <p:cNvPr id="108" name="T108"/>
          <p:cNvSpPr/>
          <p:nvPr/>
        </p:nvSpPr>
        <p:spPr>
          <a:xfrm>
            <a:off x="411480" y="320040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POST /register, POST /login, POST /refresh, POST /confirmEmail, POST /forgotPassword, POST /resetPassword.</a:t>
            </a:r>
          </a:p>
        </p:txBody>
      </p:sp>
      <p:sp>
        <p:nvSpPr>
          <p:cNvPr id="109" name="C109"/>
          <p:cNvSpPr/>
          <p:nvPr/>
        </p:nvSpPr>
        <p:spPr>
          <a:xfrm>
            <a:off x="274320" y="3863340"/>
            <a:ext cx="384048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0" name="T110"/>
          <p:cNvSpPr/>
          <p:nvPr/>
        </p:nvSpPr>
        <p:spPr>
          <a:xfrm>
            <a:off x="411480" y="39090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Personalización</a:t>
            </a:r>
          </a:p>
        </p:txBody>
      </p:sp>
      <p:sp>
        <p:nvSpPr>
          <p:cNvPr id="111" name="T111"/>
          <p:cNvSpPr/>
          <p:nvPr/>
        </p:nvSpPr>
        <p:spPr>
          <a:xfrm>
            <a:off x="411480" y="4137660"/>
            <a:ext cx="3566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Se pueden extender los endpoints con filtros, modificar las respuestas o combinar con autenticación externa (Google, Microsoft).</a:t>
            </a:r>
          </a:p>
        </p:txBody>
      </p:sp>
      <p:sp>
        <p:nvSpPr>
          <p:cNvPr id="30" name="S30"/>
          <p:cNvSpPr/>
          <p:nvPr/>
        </p:nvSpPr>
        <p:spPr>
          <a:xfrm>
            <a:off x="4389120" y="1051560"/>
            <a:ext cx="4480560" cy="370332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31"/>
          <p:cNvSpPr/>
          <p:nvPr/>
        </p:nvSpPr>
        <p:spPr>
          <a:xfrm>
            <a:off x="4389120" y="1051560"/>
            <a:ext cx="4480560" cy="274320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32"/>
          <p:cNvSpPr/>
          <p:nvPr/>
        </p:nvSpPr>
        <p:spPr>
          <a:xfrm>
            <a:off x="4526280" y="1051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Program.cs — Identity API</a:t>
            </a:r>
          </a:p>
        </p:txBody>
      </p:sp>
      <p:sp>
        <p:nvSpPr>
          <p:cNvPr id="33" name="T33"/>
          <p:cNvSpPr/>
          <p:nvPr/>
        </p:nvSpPr>
        <p:spPr>
          <a:xfrm>
            <a:off x="4526280" y="1371600"/>
            <a:ext cx="4206240" cy="331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Registrar Identity con tokens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builder.Services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AddIdentityApiEndpoints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&lt;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AppUser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&gt;()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AddEntityFrameworkStores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&lt;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AppDbContext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&gt;();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var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app = builder.Build();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Mapear endpoints automáticos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app.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MapIdentityApi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&lt;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AppUser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&gt;();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Endpoints generados: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POST /register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  { "email":"...", "password":"..." }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POST /login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  → { "accessToken":"...", 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      "refreshToken":"..." }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POST /refresh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  { "refreshToken":"..." }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Proteger un endpoint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app.MapGet(</a:t>
            </a: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"/api/secreto"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,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() =&gt; </a:t>
            </a: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"Datos privados"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RequireAuthorization()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;</a:t>
            </a:r>
          </a:p>
        </p:txBody>
      </p:sp>
      <p:sp>
        <p:nvSpPr>
          <p:cNvPr id="60" name="S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T6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</a:rPr>
              <a:t>.NET Core 8.0 — Autenticación y Autorización: Identity API (.NET 8)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1645920"/>
          </a:xfrm>
          <a:prstGeom prst="rect">
            <a:avLst/>
          </a:prstGeom>
          <a:solidFill>
            <a:srgbClr val="1565C0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949440" y="457200"/>
            <a:ext cx="2194560" cy="914400"/>
          </a:xfrm>
          <a:prstGeom prst="rect">
            <a:avLst/>
          </a:prstGeom>
          <a:solidFill>
            <a:srgbClr val="42A5F5">
              <a:alpha val="6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y Pruebas</a:t>
            </a:r>
            <a:endParaRPr lang="en-US" sz="460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Estrategia y procesos de aseguramiento de calidad</a:t>
            </a:r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731520" y="3383280"/>
            <a:ext cx="2743200" cy="0"/>
          </a:xfrm>
          <a:prstGeom prst="line">
            <a:avLst/>
          </a:prstGeom>
          <a:noFill/>
          <a:ln w="254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Pruebas unitarias, de integración, rendimiento y mejores prácticas en .NET Core 8</a:t>
            </a:r>
            <a:endParaRPr lang="en-US" sz="16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1"/>
          <p:cNvSpPr/>
          <p:nvPr/>
        </p:nvSpPr>
        <p:spPr>
          <a:xfrm>
            <a:off x="274320" y="731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 las Pruebas y Tipos Recomendados</a:t>
            </a:r>
          </a:p>
        </p:txBody>
      </p:sp>
      <p:sp>
        <p:nvSpPr>
          <p:cNvPr id="4" name="T2"/>
          <p:cNvSpPr/>
          <p:nvPr/>
        </p:nvSpPr>
        <p:spPr>
          <a:xfrm>
            <a:off x="274320" y="393192"/>
            <a:ext cx="8595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850">
                <a:solidFill>
                  <a:srgbClr val="B3E5FC"/>
                </a:solidFill>
                <a:latin typeface="Calibri Light" pitchFamily="34" charset="0"/>
              </a:rPr>
              <a:t>Las pruebas garantizan la fiabilidad, mantenibilidad y calidad del software. ASP.NET Core 8 ofrece soporte nativo para múltiples estrategias de testing.</a:t>
            </a:r>
          </a:p>
        </p:txBody>
      </p:sp>
      <p:sp>
        <p:nvSpPr>
          <p:cNvPr id="10" name="C10"/>
          <p:cNvSpPr/>
          <p:nvPr/>
        </p:nvSpPr>
        <p:spPr>
          <a:xfrm>
            <a:off x="274320" y="914400"/>
            <a:ext cx="4114800" cy="137160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11"/>
          <p:cNvSpPr/>
          <p:nvPr/>
        </p:nvSpPr>
        <p:spPr>
          <a:xfrm>
            <a:off x="411480" y="960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>
                <a:solidFill>
                  <a:srgbClr val="0D47A1"/>
                </a:solidFill>
                <a:latin typeface="Calibri" pitchFamily="34" charset="0"/>
              </a:rPr>
              <a:t>Objetivo de las Pruebas</a:t>
            </a:r>
          </a:p>
        </p:txBody>
      </p:sp>
      <p:sp>
        <p:nvSpPr>
          <p:cNvPr id="12" name="T12"/>
          <p:cNvSpPr/>
          <p:nvPr/>
        </p:nvSpPr>
        <p:spPr>
          <a:xfrm>
            <a:off x="411480" y="123444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ES" sz="900">
                <a:solidFill>
                  <a:srgbClr val="424242"/>
                </a:solidFill>
                <a:latin typeface="Calibri Light" pitchFamily="34" charset="0"/>
              </a:rPr>
              <a:t>Detectar defectos antes de llegar a producción, validar que el código cumple los requisitos funcionales y no funcionales, facilitar el refactoring con confianza y documentar el comportamiento esperado del sistema. En ASP.NET Core 8, el framework de testing integrado reduce la fricción para adoptar estas prácticas.</a:t>
            </a:r>
          </a:p>
        </p:txBody>
      </p:sp>
      <p:sp>
        <p:nvSpPr>
          <p:cNvPr id="20" name="C20"/>
          <p:cNvSpPr/>
          <p:nvPr/>
        </p:nvSpPr>
        <p:spPr>
          <a:xfrm>
            <a:off x="274320" y="2468880"/>
            <a:ext cx="411480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A21"/>
          <p:cNvSpPr/>
          <p:nvPr/>
        </p:nvSpPr>
        <p:spPr>
          <a:xfrm>
            <a:off x="274320" y="2468880"/>
            <a:ext cx="45720" cy="89154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22"/>
          <p:cNvSpPr/>
          <p:nvPr/>
        </p:nvSpPr>
        <p:spPr>
          <a:xfrm>
            <a:off x="457200" y="251460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Pruebas Unitarias</a:t>
            </a:r>
          </a:p>
        </p:txBody>
      </p:sp>
      <p:sp>
        <p:nvSpPr>
          <p:cNvPr id="23" name="T23"/>
          <p:cNvSpPr/>
          <p:nvPr/>
        </p:nvSpPr>
        <p:spPr>
          <a:xfrm>
            <a:off x="457200" y="2743200"/>
            <a:ext cx="37947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Validan métodos y clases de forma aislada. Frameworks: xUnit, NUnit, MSTest. Se usa Moq o NSubstitute para simular dependencias. Rápidas y deterministas.</a:t>
            </a:r>
          </a:p>
        </p:txBody>
      </p:sp>
      <p:sp>
        <p:nvSpPr>
          <p:cNvPr id="30" name="C30"/>
          <p:cNvSpPr/>
          <p:nvPr/>
        </p:nvSpPr>
        <p:spPr>
          <a:xfrm>
            <a:off x="274320" y="3520440"/>
            <a:ext cx="411480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A31"/>
          <p:cNvSpPr/>
          <p:nvPr/>
        </p:nvSpPr>
        <p:spPr>
          <a:xfrm>
            <a:off x="274320" y="3520440"/>
            <a:ext cx="45720" cy="891540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32"/>
          <p:cNvSpPr/>
          <p:nvPr/>
        </p:nvSpPr>
        <p:spPr>
          <a:xfrm>
            <a:off x="457200" y="356616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Pruebas de Integración</a:t>
            </a:r>
          </a:p>
        </p:txBody>
      </p:sp>
      <p:sp>
        <p:nvSpPr>
          <p:cNvPr id="33" name="T33"/>
          <p:cNvSpPr/>
          <p:nvPr/>
        </p:nvSpPr>
        <p:spPr>
          <a:xfrm>
            <a:off x="457200" y="3794760"/>
            <a:ext cx="37947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Verifican la interacción entre componentes reales: base de datos, APIs, middleware. WebApplicationFactory&lt;T&gt; permite probar el pipeline HTTP completo en memoria.</a:t>
            </a:r>
          </a:p>
        </p:txBody>
      </p:sp>
      <p:sp>
        <p:nvSpPr>
          <p:cNvPr id="40" name="C40"/>
          <p:cNvSpPr/>
          <p:nvPr/>
        </p:nvSpPr>
        <p:spPr>
          <a:xfrm>
            <a:off x="4572000" y="914400"/>
            <a:ext cx="429768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" name="A41"/>
          <p:cNvSpPr/>
          <p:nvPr/>
        </p:nvSpPr>
        <p:spPr>
          <a:xfrm>
            <a:off x="4572000" y="914400"/>
            <a:ext cx="45720" cy="89154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T42"/>
          <p:cNvSpPr/>
          <p:nvPr/>
        </p:nvSpPr>
        <p:spPr>
          <a:xfrm>
            <a:off x="4754880" y="96012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Pruebas Funcionales / E2E</a:t>
            </a:r>
          </a:p>
        </p:txBody>
      </p:sp>
      <p:sp>
        <p:nvSpPr>
          <p:cNvPr id="43" name="T43"/>
          <p:cNvSpPr/>
          <p:nvPr/>
        </p:nvSpPr>
        <p:spPr>
          <a:xfrm>
            <a:off x="4754880" y="1188720"/>
            <a:ext cx="39776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Simulan el flujo completo del usuario desde la UI hasta la base de datos. Herramientas: Selenium, Playwright. Validan escenarios de negocio reales end-to-end.</a:t>
            </a:r>
          </a:p>
        </p:txBody>
      </p:sp>
      <p:sp>
        <p:nvSpPr>
          <p:cNvPr id="50" name="C50"/>
          <p:cNvSpPr/>
          <p:nvPr/>
        </p:nvSpPr>
        <p:spPr>
          <a:xfrm>
            <a:off x="4572000" y="1966596"/>
            <a:ext cx="429768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1" name="A51"/>
          <p:cNvSpPr/>
          <p:nvPr/>
        </p:nvSpPr>
        <p:spPr>
          <a:xfrm>
            <a:off x="4572000" y="1966596"/>
            <a:ext cx="45720" cy="891540"/>
          </a:xfrm>
          <a:prstGeom prst="rect">
            <a:avLst/>
          </a:prstGeom>
          <a:solidFill>
            <a:srgbClr val="F4433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2" name="T52"/>
          <p:cNvSpPr/>
          <p:nvPr/>
        </p:nvSpPr>
        <p:spPr>
          <a:xfrm>
            <a:off x="4754880" y="201231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Pruebas de Rendimiento</a:t>
            </a:r>
          </a:p>
        </p:txBody>
      </p:sp>
      <p:sp>
        <p:nvSpPr>
          <p:cNvPr id="53" name="T53"/>
          <p:cNvSpPr/>
          <p:nvPr/>
        </p:nvSpPr>
        <p:spPr>
          <a:xfrm>
            <a:off x="4754880" y="2240916"/>
            <a:ext cx="39776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Miden tiempos de respuesta, throughput y uso de recursos bajo carga. Herramientas: BenchmarkDotNet, k6, JMeter. Críticas para APIs de alto tráfico.</a:t>
            </a:r>
          </a:p>
        </p:txBody>
      </p:sp>
      <p:sp>
        <p:nvSpPr>
          <p:cNvPr id="60" name="C60"/>
          <p:cNvSpPr/>
          <p:nvPr/>
        </p:nvSpPr>
        <p:spPr>
          <a:xfrm>
            <a:off x="4572000" y="3018792"/>
            <a:ext cx="4297680" cy="8915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A61"/>
          <p:cNvSpPr/>
          <p:nvPr/>
        </p:nvSpPr>
        <p:spPr>
          <a:xfrm>
            <a:off x="4572000" y="3018792"/>
            <a:ext cx="45720" cy="891540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2" name="T62"/>
          <p:cNvSpPr/>
          <p:nvPr/>
        </p:nvSpPr>
        <p:spPr>
          <a:xfrm>
            <a:off x="4754880" y="306451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Pruebas de Seguridad</a:t>
            </a:r>
          </a:p>
        </p:txBody>
      </p:sp>
      <p:sp>
        <p:nvSpPr>
          <p:cNvPr id="63" name="T63"/>
          <p:cNvSpPr/>
          <p:nvPr/>
        </p:nvSpPr>
        <p:spPr>
          <a:xfrm>
            <a:off x="4754880" y="3293112"/>
            <a:ext cx="39776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Detectan vulnerabilidades como inyección SQL, XSS y CSRF. Validan autenticación, autorización y protección de datos sensibles. Herramientas: OWASP ZAP, dotnet-security.</a:t>
            </a:r>
          </a:p>
        </p:txBody>
      </p:sp>
      <p:sp>
        <p:nvSpPr>
          <p:cNvPr id="70" name="C70"/>
          <p:cNvSpPr/>
          <p:nvPr/>
        </p:nvSpPr>
        <p:spPr>
          <a:xfrm>
            <a:off x="4572000" y="4070988"/>
            <a:ext cx="4297680" cy="64008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1" name="T71"/>
          <p:cNvSpPr/>
          <p:nvPr/>
        </p:nvSpPr>
        <p:spPr>
          <a:xfrm>
            <a:off x="4709160" y="411670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850" b="1">
                <a:solidFill>
                  <a:srgbClr val="0D47A1"/>
                </a:solidFill>
                <a:latin typeface="Calibri" pitchFamily="34" charset="0"/>
              </a:rPr>
              <a:t>Mejor práctica: </a:t>
            </a: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Combinar los tipos de pruebas siguiendo la pirámide de testing: muchas unitarias, menos de integración, pocas E2E. Integrar con CI/CD para ejecución automática.</a:t>
            </a:r>
          </a:p>
        </p:txBody>
      </p:sp>
      <p:sp>
        <p:nvSpPr>
          <p:cNvPr id="80" name="S8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1" name="T8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</a:rPr>
              <a:t>.NET Core 8.0 — Calidad y Pruebas: Objetivo y Tipos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1"/>
          <p:cNvSpPr/>
          <p:nvPr/>
        </p:nvSpPr>
        <p:spPr>
          <a:xfrm>
            <a:off x="274320" y="731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>
                <a:solidFill>
                  <a:srgbClr val="FFFFFF"/>
                </a:solidFill>
                <a:latin typeface="Calibri" pitchFamily="34" charset="0"/>
              </a:rPr>
              <a:t>xUnit — Pruebas Unitarias</a:t>
            </a:r>
          </a:p>
        </p:txBody>
      </p:sp>
      <p:sp>
        <p:nvSpPr>
          <p:cNvPr id="4" name="T2"/>
          <p:cNvSpPr/>
          <p:nvPr/>
        </p:nvSpPr>
        <p:spPr>
          <a:xfrm>
            <a:off x="274320" y="393192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850">
                <a:solidFill>
                  <a:srgbClr val="B3E5FC"/>
                </a:solidFill>
                <a:latin typeface="Calibri Light" pitchFamily="34" charset="0"/>
              </a:rPr>
              <a:t>Framework recomendado por Microsoft para pruebas unitarias en .NET Core 8. Ligero, extensible y con ejecución paralela por defecto.</a:t>
            </a:r>
          </a:p>
        </p:txBody>
      </p:sp>
      <p:sp>
        <p:nvSpPr>
          <p:cNvPr id="5" name="T3"/>
          <p:cNvSpPr/>
          <p:nvPr/>
        </p:nvSpPr>
        <p:spPr>
          <a:xfrm>
            <a:off x="4937760" y="73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B3E5FC"/>
                </a:solidFill>
                <a:latin typeface="Consolas" pitchFamily="34" charset="0"/>
              </a:rPr>
              <a:t>CalculadoraTests.cs</a:t>
            </a:r>
          </a:p>
        </p:txBody>
      </p:sp>
      <p:sp>
        <p:nvSpPr>
          <p:cNvPr id="100" name="C100"/>
          <p:cNvSpPr/>
          <p:nvPr/>
        </p:nvSpPr>
        <p:spPr>
          <a:xfrm>
            <a:off x="274320" y="1005840"/>
            <a:ext cx="3840480" cy="82296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1" name="T101"/>
          <p:cNvSpPr/>
          <p:nvPr/>
        </p:nvSpPr>
        <p:spPr>
          <a:xfrm>
            <a:off x="411480" y="10515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Características principales</a:t>
            </a:r>
          </a:p>
        </p:txBody>
      </p:sp>
      <p:sp>
        <p:nvSpPr>
          <p:cNvPr id="102" name="T102"/>
          <p:cNvSpPr/>
          <p:nvPr/>
        </p:nvSpPr>
        <p:spPr>
          <a:xfrm>
            <a:off x="411480" y="1280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Ejecución paralela por defecto. Usa [Fact] para pruebas simples y [Theory] con [InlineData] para pruebas parametrizadas. Inyección de dependencias nativa con IClassFixture&lt;T&gt;.</a:t>
            </a:r>
          </a:p>
        </p:txBody>
      </p:sp>
      <p:sp>
        <p:nvSpPr>
          <p:cNvPr id="103" name="C103"/>
          <p:cNvSpPr/>
          <p:nvPr/>
        </p:nvSpPr>
        <p:spPr>
          <a:xfrm>
            <a:off x="274320" y="1920240"/>
            <a:ext cx="3840480" cy="8229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4" name="T104"/>
          <p:cNvSpPr/>
          <p:nvPr/>
        </p:nvSpPr>
        <p:spPr>
          <a:xfrm>
            <a:off x="411480" y="19659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Tipo de prueba</a:t>
            </a:r>
          </a:p>
        </p:txBody>
      </p:sp>
      <p:sp>
        <p:nvSpPr>
          <p:cNvPr id="105" name="T105"/>
          <p:cNvSpPr/>
          <p:nvPr/>
        </p:nvSpPr>
        <p:spPr>
          <a:xfrm>
            <a:off x="411480" y="21945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 b="1">
                <a:solidFill>
                  <a:srgbClr val="4CAF50"/>
                </a:solidFill>
                <a:latin typeface="Calibri" pitchFamily="34" charset="0"/>
              </a:rPr>
              <a:t>Pruebas Unitarias</a:t>
            </a: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 — Ideal para validar lógica de negocio aislada: servicios, utilidades, validadores. Cada clase de test es instancia nueva.</a:t>
            </a:r>
          </a:p>
        </p:txBody>
      </p:sp>
      <p:sp>
        <p:nvSpPr>
          <p:cNvPr id="106" name="C106"/>
          <p:cNvSpPr/>
          <p:nvPr/>
        </p:nvSpPr>
        <p:spPr>
          <a:xfrm>
            <a:off x="274320" y="2834640"/>
            <a:ext cx="3840480" cy="8229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7" name="T107"/>
          <p:cNvSpPr/>
          <p:nvPr/>
        </p:nvSpPr>
        <p:spPr>
          <a:xfrm>
            <a:off x="411480" y="2880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Instalación</a:t>
            </a:r>
          </a:p>
        </p:txBody>
      </p:sp>
      <p:sp>
        <p:nvSpPr>
          <p:cNvPr id="108" name="T108"/>
          <p:cNvSpPr/>
          <p:nvPr/>
        </p:nvSpPr>
        <p:spPr>
          <a:xfrm>
            <a:off x="411480" y="31089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>
                <a:solidFill>
                  <a:srgbClr val="424242"/>
                </a:solidFill>
                <a:latin typeface="Consolas" pitchFamily="34" charset="0"/>
              </a:rPr>
              <a:t>dotnet new xunit -n MiApp.Tests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Paquetes: xunit, xunit.runner.visualstudio, Microsoft.NET.Test.Sdk</a:t>
            </a:r>
          </a:p>
        </p:txBody>
      </p:sp>
      <p:sp>
        <p:nvSpPr>
          <p:cNvPr id="109" name="C109"/>
          <p:cNvSpPr/>
          <p:nvPr/>
        </p:nvSpPr>
        <p:spPr>
          <a:xfrm>
            <a:off x="274320" y="3749040"/>
            <a:ext cx="3840480" cy="8229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0" name="T110"/>
          <p:cNvSpPr/>
          <p:nvPr/>
        </p:nvSpPr>
        <p:spPr>
          <a:xfrm>
            <a:off x="411480" y="3794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Patrón Arrange-Act-Assert</a:t>
            </a:r>
          </a:p>
        </p:txBody>
      </p:sp>
      <p:sp>
        <p:nvSpPr>
          <p:cNvPr id="111" name="T111"/>
          <p:cNvSpPr/>
          <p:nvPr/>
        </p:nvSpPr>
        <p:spPr>
          <a:xfrm>
            <a:off x="411480" y="40233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Estructura recomendada: preparar datos (Arrange), ejecutar la acción (Act) y verificar el resultado (Assert). El código de ejemplo sigue este patrón.</a:t>
            </a:r>
          </a:p>
        </p:txBody>
      </p:sp>
      <p:sp>
        <p:nvSpPr>
          <p:cNvPr id="30" name="S30"/>
          <p:cNvSpPr/>
          <p:nvPr/>
        </p:nvSpPr>
        <p:spPr>
          <a:xfrm>
            <a:off x="4389120" y="1005840"/>
            <a:ext cx="4480560" cy="356616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31"/>
          <p:cNvSpPr/>
          <p:nvPr/>
        </p:nvSpPr>
        <p:spPr>
          <a:xfrm>
            <a:off x="4389120" y="1005840"/>
            <a:ext cx="4480560" cy="274320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32"/>
          <p:cNvSpPr/>
          <p:nvPr/>
        </p:nvSpPr>
        <p:spPr>
          <a:xfrm>
            <a:off x="4526280" y="1005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CalculadoraTests.cs</a:t>
            </a:r>
          </a:p>
        </p:txBody>
      </p:sp>
      <p:sp>
        <p:nvSpPr>
          <p:cNvPr id="33" name="T33"/>
          <p:cNvSpPr/>
          <p:nvPr/>
        </p:nvSpPr>
        <p:spPr>
          <a:xfrm>
            <a:off x="4526280" y="1325880"/>
            <a:ext cx="4206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using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Xunit;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 class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 CalculadoraTests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[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Fact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 void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 Sumar_DosNumeros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    // Arrange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    var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calc =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new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 Calculadora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    // Act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    var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result = calc.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Sumar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(3, 5);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    // Assert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    Assert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Equal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(8, result);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}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[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Theory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[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InlineData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(2, 3, 5)]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[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InlineData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(-1, 1, 0)]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 void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 Sumar_Params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int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a,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int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b,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int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exp)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    var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c =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new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 Calculadora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    Assert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Equal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(exp, c.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Sumar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(a, b));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}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}</a:t>
            </a:r>
          </a:p>
        </p:txBody>
      </p:sp>
      <p:sp>
        <p:nvSpPr>
          <p:cNvPr id="90" name="S9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1" name="T9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</a:rPr>
              <a:t>.NET Core 8.0 — Calidad y Pruebas: xUnit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1"/>
          <p:cNvSpPr/>
          <p:nvPr/>
        </p:nvSpPr>
        <p:spPr>
          <a:xfrm>
            <a:off x="274320" y="731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>
                <a:solidFill>
                  <a:srgbClr val="FFFFFF"/>
                </a:solidFill>
                <a:latin typeface="Calibri" pitchFamily="34" charset="0"/>
              </a:rPr>
              <a:t>NUnit — Pruebas Unitarias e Integración</a:t>
            </a:r>
          </a:p>
        </p:txBody>
      </p:sp>
      <p:sp>
        <p:nvSpPr>
          <p:cNvPr id="4" name="T2"/>
          <p:cNvSpPr/>
          <p:nvPr/>
        </p:nvSpPr>
        <p:spPr>
          <a:xfrm>
            <a:off x="274320" y="393192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850">
                <a:solidFill>
                  <a:srgbClr val="B3E5FC"/>
                </a:solidFill>
                <a:latin typeface="Calibri Light" pitchFamily="34" charset="0"/>
              </a:rPr>
              <a:t>Framework maduro y flexible con amplio ecosistema de extensiones. Modelo de aserciones basado en constraints.</a:t>
            </a:r>
          </a:p>
        </p:txBody>
      </p:sp>
      <p:sp>
        <p:nvSpPr>
          <p:cNvPr id="5" name="T3"/>
          <p:cNvSpPr/>
          <p:nvPr/>
        </p:nvSpPr>
        <p:spPr>
          <a:xfrm>
            <a:off x="4937760" y="73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B3E5FC"/>
                </a:solidFill>
                <a:latin typeface="Consolas" pitchFamily="34" charset="0"/>
              </a:rPr>
              <a:t>ServicioTests.cs</a:t>
            </a:r>
          </a:p>
        </p:txBody>
      </p:sp>
      <p:sp>
        <p:nvSpPr>
          <p:cNvPr id="100" name="C100"/>
          <p:cNvSpPr/>
          <p:nvPr/>
        </p:nvSpPr>
        <p:spPr>
          <a:xfrm>
            <a:off x="274320" y="1005840"/>
            <a:ext cx="3840480" cy="82296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1" name="T101"/>
          <p:cNvSpPr/>
          <p:nvPr/>
        </p:nvSpPr>
        <p:spPr>
          <a:xfrm>
            <a:off x="411480" y="10515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Características principales</a:t>
            </a:r>
          </a:p>
        </p:txBody>
      </p:sp>
      <p:sp>
        <p:nvSpPr>
          <p:cNvPr id="102" name="T102"/>
          <p:cNvSpPr/>
          <p:nvPr/>
        </p:nvSpPr>
        <p:spPr>
          <a:xfrm>
            <a:off x="411480" y="1280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Atributos [Test], [TestCase], [SetUp] y [TearDown]. Soporte para pruebas parametrizadas con [TestCaseSource]. Compatible con .NET 8 mediante NUnit3TestAdapter.</a:t>
            </a:r>
          </a:p>
        </p:txBody>
      </p:sp>
      <p:sp>
        <p:nvSpPr>
          <p:cNvPr id="103" name="C103"/>
          <p:cNvSpPr/>
          <p:nvPr/>
        </p:nvSpPr>
        <p:spPr>
          <a:xfrm>
            <a:off x="274320" y="1920240"/>
            <a:ext cx="3840480" cy="8229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4" name="T104"/>
          <p:cNvSpPr/>
          <p:nvPr/>
        </p:nvSpPr>
        <p:spPr>
          <a:xfrm>
            <a:off x="411480" y="19659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Tipo de prueba</a:t>
            </a:r>
          </a:p>
        </p:txBody>
      </p:sp>
      <p:sp>
        <p:nvSpPr>
          <p:cNvPr id="105" name="T105"/>
          <p:cNvSpPr/>
          <p:nvPr/>
        </p:nvSpPr>
        <p:spPr>
          <a:xfrm>
            <a:off x="411480" y="21945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 b="1">
                <a:solidFill>
                  <a:srgbClr val="2196F3"/>
                </a:solidFill>
                <a:latin typeface="Calibri" pitchFamily="34" charset="0"/>
              </a:rPr>
              <a:t>Pruebas Unitarias e Integración</a:t>
            </a: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 — Flexible para ambos niveles. [SetUp]/[TearDown] facilitan la inicialización de contextos compartidos como bases de datos en memoria.</a:t>
            </a:r>
          </a:p>
        </p:txBody>
      </p:sp>
      <p:sp>
        <p:nvSpPr>
          <p:cNvPr id="106" name="C106"/>
          <p:cNvSpPr/>
          <p:nvPr/>
        </p:nvSpPr>
        <p:spPr>
          <a:xfrm>
            <a:off x="274320" y="2834640"/>
            <a:ext cx="3840480" cy="8229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7" name="T107"/>
          <p:cNvSpPr/>
          <p:nvPr/>
        </p:nvSpPr>
        <p:spPr>
          <a:xfrm>
            <a:off x="411480" y="2880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Instalación</a:t>
            </a:r>
          </a:p>
        </p:txBody>
      </p:sp>
      <p:sp>
        <p:nvSpPr>
          <p:cNvPr id="108" name="T108"/>
          <p:cNvSpPr/>
          <p:nvPr/>
        </p:nvSpPr>
        <p:spPr>
          <a:xfrm>
            <a:off x="411480" y="31089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>
                <a:solidFill>
                  <a:srgbClr val="424242"/>
                </a:solidFill>
                <a:latin typeface="Consolas" pitchFamily="34" charset="0"/>
              </a:rPr>
              <a:t>dotnet add package NUnit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Paquetes: NUnit, NUnit3TestAdapter, Microsoft.NET.Test.Sdk</a:t>
            </a:r>
          </a:p>
        </p:txBody>
      </p:sp>
      <p:sp>
        <p:nvSpPr>
          <p:cNvPr id="109" name="C109"/>
          <p:cNvSpPr/>
          <p:nvPr/>
        </p:nvSpPr>
        <p:spPr>
          <a:xfrm>
            <a:off x="274320" y="3749040"/>
            <a:ext cx="3840480" cy="8229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0" name="T110"/>
          <p:cNvSpPr/>
          <p:nvPr/>
        </p:nvSpPr>
        <p:spPr>
          <a:xfrm>
            <a:off x="411480" y="3794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Aserciones ricas</a:t>
            </a:r>
          </a:p>
        </p:txBody>
      </p:sp>
      <p:sp>
        <p:nvSpPr>
          <p:cNvPr id="111" name="T111"/>
          <p:cNvSpPr/>
          <p:nvPr/>
        </p:nvSpPr>
        <p:spPr>
          <a:xfrm>
            <a:off x="411480" y="40233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Assert.That() con modelo de constraints: Is.EqualTo(), Is.GreaterThan(), Has.Member(). Mensajes de error descriptivos y encadenamiento fluido.</a:t>
            </a:r>
          </a:p>
        </p:txBody>
      </p:sp>
      <p:sp>
        <p:nvSpPr>
          <p:cNvPr id="30" name="S30"/>
          <p:cNvSpPr/>
          <p:nvPr/>
        </p:nvSpPr>
        <p:spPr>
          <a:xfrm>
            <a:off x="4389120" y="1005840"/>
            <a:ext cx="4480560" cy="379476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31"/>
          <p:cNvSpPr/>
          <p:nvPr/>
        </p:nvSpPr>
        <p:spPr>
          <a:xfrm>
            <a:off x="4389120" y="1005840"/>
            <a:ext cx="4480560" cy="274320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32"/>
          <p:cNvSpPr/>
          <p:nvPr/>
        </p:nvSpPr>
        <p:spPr>
          <a:xfrm>
            <a:off x="4526280" y="1005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ServicioTests.cs</a:t>
            </a:r>
          </a:p>
        </p:txBody>
      </p:sp>
      <p:sp>
        <p:nvSpPr>
          <p:cNvPr id="33" name="T33"/>
          <p:cNvSpPr/>
          <p:nvPr/>
        </p:nvSpPr>
        <p:spPr>
          <a:xfrm>
            <a:off x="4526280" y="1325880"/>
            <a:ext cx="4206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using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NUnit.Framework;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[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TestFixture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 class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 ServicioTests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private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 Calculadora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_calc;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[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SetUp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 void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 Setup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_calc =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new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 Calculadora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}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[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Test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 void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 Sumar_Retorna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var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result = _calc.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Sumar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(3, 5);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    Assert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That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(result,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Is.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EqualTo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(8));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}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[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TestCase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(2, 3, 5)]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[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TestCase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(-1, 1, 0)]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 void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 Sumar_Params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int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a,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int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b,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int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exp)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    Assert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That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(_calc.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Sumar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(a,b),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Is.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EqualTo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(exp));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}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}</a:t>
            </a:r>
          </a:p>
        </p:txBody>
      </p:sp>
      <p:sp>
        <p:nvSpPr>
          <p:cNvPr id="90" name="S9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1" name="T9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</a:rPr>
              <a:t>.NET Core 8.0 — Calidad y Pruebas: NUnit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1"/>
          <p:cNvSpPr/>
          <p:nvPr/>
        </p:nvSpPr>
        <p:spPr>
          <a:xfrm>
            <a:off x="274320" y="731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>
                <a:solidFill>
                  <a:srgbClr val="FFFFFF"/>
                </a:solidFill>
                <a:latin typeface="Calibri" pitchFamily="34" charset="0"/>
              </a:rPr>
              <a:t>MSTest + WebApplicationFactory</a:t>
            </a:r>
          </a:p>
        </p:txBody>
      </p:sp>
      <p:sp>
        <p:nvSpPr>
          <p:cNvPr id="4" name="T2"/>
          <p:cNvSpPr/>
          <p:nvPr/>
        </p:nvSpPr>
        <p:spPr>
          <a:xfrm>
            <a:off x="274320" y="393192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850">
                <a:solidFill>
                  <a:srgbClr val="B3E5FC"/>
                </a:solidFill>
                <a:latin typeface="Calibri Light" pitchFamily="34" charset="0"/>
              </a:rPr>
              <a:t>MSTest es el framework oficial de Microsoft. WebApplicationFactory permite probar el pipeline HTTP completo en memoria sin servidor externo.</a:t>
            </a:r>
          </a:p>
        </p:txBody>
      </p:sp>
      <p:sp>
        <p:nvSpPr>
          <p:cNvPr id="5" name="T3"/>
          <p:cNvSpPr/>
          <p:nvPr/>
        </p:nvSpPr>
        <p:spPr>
          <a:xfrm>
            <a:off x="4937760" y="73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B3E5FC"/>
                </a:solidFill>
                <a:latin typeface="Consolas" pitchFamily="34" charset="0"/>
              </a:rPr>
              <a:t>ApiIntegrationTests.cs</a:t>
            </a:r>
          </a:p>
        </p:txBody>
      </p:sp>
      <p:sp>
        <p:nvSpPr>
          <p:cNvPr id="100" name="C100"/>
          <p:cNvSpPr/>
          <p:nvPr/>
        </p:nvSpPr>
        <p:spPr>
          <a:xfrm>
            <a:off x="274320" y="1005840"/>
            <a:ext cx="3840480" cy="82296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1" name="T101"/>
          <p:cNvSpPr/>
          <p:nvPr/>
        </p:nvSpPr>
        <p:spPr>
          <a:xfrm>
            <a:off x="411480" y="10515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Características principales</a:t>
            </a:r>
          </a:p>
        </p:txBody>
      </p:sp>
      <p:sp>
        <p:nvSpPr>
          <p:cNvPr id="102" name="T102"/>
          <p:cNvSpPr/>
          <p:nvPr/>
        </p:nvSpPr>
        <p:spPr>
          <a:xfrm>
            <a:off x="411480" y="1280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Framework integrado en Visual Studio. Atributos [TestClass] y [TestMethod]. Soporte para [DataRow] en pruebas parametrizadas. Ciclo de vida con [TestInitialize] y [TestCleanup].</a:t>
            </a:r>
          </a:p>
        </p:txBody>
      </p:sp>
      <p:sp>
        <p:nvSpPr>
          <p:cNvPr id="103" name="C103"/>
          <p:cNvSpPr/>
          <p:nvPr/>
        </p:nvSpPr>
        <p:spPr>
          <a:xfrm>
            <a:off x="274320" y="1920240"/>
            <a:ext cx="3840480" cy="8229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4" name="T104"/>
          <p:cNvSpPr/>
          <p:nvPr/>
        </p:nvSpPr>
        <p:spPr>
          <a:xfrm>
            <a:off x="411480" y="19659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Tipo de prueba</a:t>
            </a:r>
          </a:p>
        </p:txBody>
      </p:sp>
      <p:sp>
        <p:nvSpPr>
          <p:cNvPr id="105" name="T105"/>
          <p:cNvSpPr/>
          <p:nvPr/>
        </p:nvSpPr>
        <p:spPr>
          <a:xfrm>
            <a:off x="411480" y="21945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 b="1">
                <a:solidFill>
                  <a:srgbClr val="2196F3"/>
                </a:solidFill>
                <a:latin typeface="Calibri" pitchFamily="34" charset="0"/>
              </a:rPr>
              <a:t>Pruebas de Integración</a:t>
            </a: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 — WebApplicationFactory&lt;T&gt; crea un TestServer en memoria. Permite probar controllers, middleware, DI y base de datos con contexto real.</a:t>
            </a:r>
          </a:p>
        </p:txBody>
      </p:sp>
      <p:sp>
        <p:nvSpPr>
          <p:cNvPr id="106" name="C106"/>
          <p:cNvSpPr/>
          <p:nvPr/>
        </p:nvSpPr>
        <p:spPr>
          <a:xfrm>
            <a:off x="274320" y="2834640"/>
            <a:ext cx="3840480" cy="8229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7" name="T107"/>
          <p:cNvSpPr/>
          <p:nvPr/>
        </p:nvSpPr>
        <p:spPr>
          <a:xfrm>
            <a:off x="411480" y="2880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Instalación</a:t>
            </a:r>
          </a:p>
        </p:txBody>
      </p:sp>
      <p:sp>
        <p:nvSpPr>
          <p:cNvPr id="108" name="T108"/>
          <p:cNvSpPr/>
          <p:nvPr/>
        </p:nvSpPr>
        <p:spPr>
          <a:xfrm>
            <a:off x="411480" y="31089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>
                <a:solidFill>
                  <a:srgbClr val="424242"/>
                </a:solidFill>
                <a:latin typeface="Consolas" pitchFamily="34" charset="0"/>
              </a:rPr>
              <a:t>dotnet new mstest -n MiApp.Tests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Paquetes: MSTest, Microsoft.AspNetCore.Mvc.Testing</a:t>
            </a:r>
          </a:p>
        </p:txBody>
      </p:sp>
      <p:sp>
        <p:nvSpPr>
          <p:cNvPr id="109" name="C109"/>
          <p:cNvSpPr/>
          <p:nvPr/>
        </p:nvSpPr>
        <p:spPr>
          <a:xfrm>
            <a:off x="274320" y="3749040"/>
            <a:ext cx="3840480" cy="8229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0" name="T110"/>
          <p:cNvSpPr/>
          <p:nvPr/>
        </p:nvSpPr>
        <p:spPr>
          <a:xfrm>
            <a:off x="411480" y="3794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Ventajas para integración</a:t>
            </a:r>
          </a:p>
        </p:txBody>
      </p:sp>
      <p:sp>
        <p:nvSpPr>
          <p:cNvPr id="111" name="T111"/>
          <p:cNvSpPr/>
          <p:nvPr/>
        </p:nvSpPr>
        <p:spPr>
          <a:xfrm>
            <a:off x="411480" y="40233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No requiere servidor externo. HttpClient configurado automáticamente. Se pueden reemplazar servicios con mocks en el pipeline DI. Ideal para probar APIs REST.</a:t>
            </a:r>
          </a:p>
        </p:txBody>
      </p:sp>
      <p:sp>
        <p:nvSpPr>
          <p:cNvPr id="30" name="S30"/>
          <p:cNvSpPr/>
          <p:nvPr/>
        </p:nvSpPr>
        <p:spPr>
          <a:xfrm>
            <a:off x="4389120" y="1005840"/>
            <a:ext cx="4480560" cy="384048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31"/>
          <p:cNvSpPr/>
          <p:nvPr/>
        </p:nvSpPr>
        <p:spPr>
          <a:xfrm>
            <a:off x="4389120" y="1005840"/>
            <a:ext cx="4480560" cy="274320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32"/>
          <p:cNvSpPr/>
          <p:nvPr/>
        </p:nvSpPr>
        <p:spPr>
          <a:xfrm>
            <a:off x="4526280" y="1005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ApiIntegrationTests.cs</a:t>
            </a:r>
          </a:p>
        </p:txBody>
      </p:sp>
      <p:sp>
        <p:nvSpPr>
          <p:cNvPr id="33" name="T33"/>
          <p:cNvSpPr/>
          <p:nvPr/>
        </p:nvSpPr>
        <p:spPr>
          <a:xfrm>
            <a:off x="4526280" y="1221372"/>
            <a:ext cx="4206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C084FC"/>
                </a:solidFill>
                <a:latin typeface="Consolas" pitchFamily="34" charset="0"/>
              </a:rPr>
              <a:t>using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</a:t>
            </a:r>
            <a:r>
              <a:rPr lang="en-US" sz="750" dirty="0" err="1">
                <a:solidFill>
                  <a:srgbClr val="E2E8F0"/>
                </a:solidFill>
                <a:latin typeface="Consolas" pitchFamily="34" charset="0"/>
              </a:rPr>
              <a:t>Microsoft.AspNetCore</a:t>
            </a:r>
            <a:endParaRPr lang="en-US" sz="750" dirty="0">
              <a:solidFill>
                <a:srgbClr val="E2E8F0"/>
              </a:solidFill>
              <a:latin typeface="Consolas" pitchFamily="34" charset="0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.</a:t>
            </a:r>
            <a:r>
              <a:rPr lang="en-US" sz="750" dirty="0" err="1">
                <a:solidFill>
                  <a:srgbClr val="E2E8F0"/>
                </a:solidFill>
                <a:latin typeface="Consolas" pitchFamily="34" charset="0"/>
              </a:rPr>
              <a:t>Mvc.Testing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C084FC"/>
                </a:solidFill>
                <a:latin typeface="Consolas" pitchFamily="34" charset="0"/>
              </a:rPr>
              <a:t>using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</a:t>
            </a:r>
            <a:r>
              <a:rPr lang="en-US" sz="750" dirty="0" err="1">
                <a:solidFill>
                  <a:srgbClr val="E2E8F0"/>
                </a:solidFill>
                <a:latin typeface="Consolas" pitchFamily="34" charset="0"/>
              </a:rPr>
              <a:t>Microsoft.VisualStudio</a:t>
            </a:r>
            <a:endParaRPr lang="en-US" sz="750" dirty="0">
              <a:solidFill>
                <a:srgbClr val="E2E8F0"/>
              </a:solidFill>
              <a:latin typeface="Consolas" pitchFamily="34" charset="0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.</a:t>
            </a:r>
            <a:r>
              <a:rPr lang="en-US" sz="750" dirty="0" err="1">
                <a:solidFill>
                  <a:srgbClr val="E2E8F0"/>
                </a:solidFill>
                <a:latin typeface="Consolas" pitchFamily="34" charset="0"/>
              </a:rPr>
              <a:t>TestTools.UnitTesting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[</a:t>
            </a:r>
            <a:r>
              <a:rPr lang="en-US" sz="750" dirty="0">
                <a:solidFill>
                  <a:srgbClr val="FBBF24"/>
                </a:solidFill>
                <a:latin typeface="Consolas" pitchFamily="34" charset="0"/>
              </a:rPr>
              <a:t>TestClass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C084FC"/>
                </a:solidFill>
                <a:latin typeface="Consolas" pitchFamily="34" charset="0"/>
              </a:rPr>
              <a:t>public class</a:t>
            </a:r>
            <a:r>
              <a:rPr lang="en-US" sz="750" dirty="0">
                <a:solidFill>
                  <a:srgbClr val="60A5FA"/>
                </a:solidFill>
                <a:latin typeface="Consolas" pitchFamily="34" charset="0"/>
              </a:rPr>
              <a:t> </a:t>
            </a:r>
            <a:r>
              <a:rPr lang="en-US" sz="750" dirty="0" err="1">
                <a:solidFill>
                  <a:srgbClr val="60A5FA"/>
                </a:solidFill>
                <a:latin typeface="Consolas" pitchFamily="34" charset="0"/>
              </a:rPr>
              <a:t>ApiTests</a:t>
            </a:r>
            <a:endParaRPr lang="en-US" sz="750" dirty="0">
              <a:solidFill>
                <a:srgbClr val="60A5FA"/>
              </a:solidFill>
              <a:latin typeface="Consolas" pitchFamily="34" charset="0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 dirty="0">
                <a:solidFill>
                  <a:srgbClr val="C084FC"/>
                </a:solidFill>
                <a:latin typeface="Consolas" pitchFamily="34" charset="0"/>
              </a:rPr>
              <a:t>private</a:t>
            </a:r>
            <a:r>
              <a:rPr lang="en-US" sz="750" dirty="0">
                <a:solidFill>
                  <a:srgbClr val="60A5FA"/>
                </a:solidFill>
                <a:latin typeface="Consolas" pitchFamily="34" charset="0"/>
              </a:rPr>
              <a:t> </a:t>
            </a:r>
            <a:r>
              <a:rPr lang="en-US" sz="750" dirty="0" err="1">
                <a:solidFill>
                  <a:srgbClr val="60A5FA"/>
                </a:solidFill>
                <a:latin typeface="Consolas" pitchFamily="34" charset="0"/>
              </a:rPr>
              <a:t>WebApplicationFactory</a:t>
            </a:r>
            <a:endParaRPr lang="en-US" sz="750" dirty="0">
              <a:solidFill>
                <a:srgbClr val="60A5FA"/>
              </a:solidFill>
              <a:latin typeface="Consolas" pitchFamily="34" charset="0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  &lt;Program&gt; _factory;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 dirty="0">
                <a:solidFill>
                  <a:srgbClr val="C084FC"/>
                </a:solidFill>
                <a:latin typeface="Consolas" pitchFamily="34" charset="0"/>
              </a:rPr>
              <a:t>private</a:t>
            </a:r>
            <a:r>
              <a:rPr lang="en-US" sz="750" dirty="0">
                <a:solidFill>
                  <a:srgbClr val="60A5FA"/>
                </a:solidFill>
                <a:latin typeface="Consolas" pitchFamily="34" charset="0"/>
              </a:rPr>
              <a:t> </a:t>
            </a:r>
            <a:r>
              <a:rPr lang="en-US" sz="750" dirty="0" err="1">
                <a:solidFill>
                  <a:srgbClr val="60A5FA"/>
                </a:solidFill>
                <a:latin typeface="Consolas" pitchFamily="34" charset="0"/>
              </a:rPr>
              <a:t>HttpClient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_client;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[</a:t>
            </a:r>
            <a:r>
              <a:rPr lang="en-US" sz="750" dirty="0" err="1">
                <a:solidFill>
                  <a:srgbClr val="FBBF24"/>
                </a:solidFill>
                <a:latin typeface="Consolas" pitchFamily="34" charset="0"/>
              </a:rPr>
              <a:t>TestInitialize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 dirty="0">
                <a:solidFill>
                  <a:srgbClr val="C084FC"/>
                </a:solidFill>
                <a:latin typeface="Consolas" pitchFamily="34" charset="0"/>
              </a:rPr>
              <a:t>public void</a:t>
            </a:r>
            <a:r>
              <a:rPr lang="en-US" sz="750" dirty="0">
                <a:solidFill>
                  <a:srgbClr val="FBBF24"/>
                </a:solidFill>
                <a:latin typeface="Consolas" pitchFamily="34" charset="0"/>
              </a:rPr>
              <a:t> Setup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()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  _factory = </a:t>
            </a:r>
            <a:r>
              <a:rPr lang="en-US" sz="750" dirty="0">
                <a:solidFill>
                  <a:srgbClr val="C084FC"/>
                </a:solidFill>
                <a:latin typeface="Consolas" pitchFamily="34" charset="0"/>
              </a:rPr>
              <a:t>new</a:t>
            </a:r>
            <a:r>
              <a:rPr lang="en-US" sz="750" dirty="0">
                <a:solidFill>
                  <a:srgbClr val="60A5FA"/>
                </a:solidFill>
                <a:latin typeface="Consolas" pitchFamily="34" charset="0"/>
              </a:rPr>
              <a:t> </a:t>
            </a:r>
            <a:r>
              <a:rPr lang="en-US" sz="750" dirty="0" err="1">
                <a:solidFill>
                  <a:srgbClr val="60A5FA"/>
                </a:solidFill>
                <a:latin typeface="Consolas" pitchFamily="34" charset="0"/>
              </a:rPr>
              <a:t>WebApplicationFactory</a:t>
            </a:r>
            <a:endParaRPr lang="en-US" sz="750" dirty="0">
              <a:solidFill>
                <a:srgbClr val="60A5FA"/>
              </a:solidFill>
              <a:latin typeface="Consolas" pitchFamily="34" charset="0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    &lt;Program&gt;();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  _client = _factory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    .</a:t>
            </a:r>
            <a:r>
              <a:rPr lang="en-US" sz="750" dirty="0" err="1">
                <a:solidFill>
                  <a:srgbClr val="FBBF24"/>
                </a:solidFill>
                <a:latin typeface="Consolas" pitchFamily="34" charset="0"/>
              </a:rPr>
              <a:t>CreateClient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();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}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[</a:t>
            </a:r>
            <a:r>
              <a:rPr lang="en-US" sz="750" dirty="0" err="1">
                <a:solidFill>
                  <a:srgbClr val="FBBF24"/>
                </a:solidFill>
                <a:latin typeface="Consolas" pitchFamily="34" charset="0"/>
              </a:rPr>
              <a:t>TestMethod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 dirty="0">
                <a:solidFill>
                  <a:srgbClr val="C084FC"/>
                </a:solidFill>
                <a:latin typeface="Consolas" pitchFamily="34" charset="0"/>
              </a:rPr>
              <a:t>public async</a:t>
            </a:r>
            <a:r>
              <a:rPr lang="en-US" sz="750" dirty="0">
                <a:solidFill>
                  <a:srgbClr val="60A5FA"/>
                </a:solidFill>
                <a:latin typeface="Consolas" pitchFamily="34" charset="0"/>
              </a:rPr>
              <a:t> Task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750" dirty="0" err="1">
                <a:solidFill>
                  <a:srgbClr val="FBBF24"/>
                </a:solidFill>
                <a:latin typeface="Consolas" pitchFamily="34" charset="0"/>
              </a:rPr>
              <a:t>GetProductos_RetornaOk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()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750" dirty="0">
                <a:solidFill>
                  <a:srgbClr val="C084FC"/>
                </a:solidFill>
                <a:latin typeface="Consolas" pitchFamily="34" charset="0"/>
              </a:rPr>
              <a:t>var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response = </a:t>
            </a:r>
            <a:r>
              <a:rPr lang="en-US" sz="750" dirty="0">
                <a:solidFill>
                  <a:srgbClr val="C084FC"/>
                </a:solidFill>
                <a:latin typeface="Consolas" pitchFamily="34" charset="0"/>
              </a:rPr>
              <a:t>await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_client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    .</a:t>
            </a:r>
            <a:r>
              <a:rPr lang="en-US" sz="750" dirty="0" err="1">
                <a:solidFill>
                  <a:srgbClr val="FBBF24"/>
                </a:solidFill>
                <a:latin typeface="Consolas" pitchFamily="34" charset="0"/>
              </a:rPr>
              <a:t>GetAsync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(</a:t>
            </a:r>
            <a:r>
              <a:rPr lang="en-US" sz="750" dirty="0">
                <a:solidFill>
                  <a:srgbClr val="4ADE80"/>
                </a:solidFill>
                <a:latin typeface="Consolas" pitchFamily="34" charset="0"/>
              </a:rPr>
              <a:t>"/</a:t>
            </a:r>
            <a:r>
              <a:rPr lang="en-US" sz="750" dirty="0" err="1">
                <a:solidFill>
                  <a:srgbClr val="4ADE80"/>
                </a:solidFill>
                <a:latin typeface="Consolas" pitchFamily="34" charset="0"/>
              </a:rPr>
              <a:t>api</a:t>
            </a:r>
            <a:r>
              <a:rPr lang="en-US" sz="750" dirty="0">
                <a:solidFill>
                  <a:srgbClr val="4ADE80"/>
                </a:solidFill>
                <a:latin typeface="Consolas" pitchFamily="34" charset="0"/>
              </a:rPr>
              <a:t>/</a:t>
            </a:r>
            <a:r>
              <a:rPr lang="en-US" sz="750" dirty="0" err="1">
                <a:solidFill>
                  <a:srgbClr val="4ADE80"/>
                </a:solidFill>
                <a:latin typeface="Consolas" pitchFamily="34" charset="0"/>
              </a:rPr>
              <a:t>productos</a:t>
            </a:r>
            <a:r>
              <a:rPr lang="en-US" sz="750" dirty="0">
                <a:solidFill>
                  <a:srgbClr val="4ADE80"/>
                </a:solidFill>
                <a:latin typeface="Consolas" pitchFamily="34" charset="0"/>
              </a:rPr>
              <a:t>"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);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750" dirty="0" err="1">
                <a:solidFill>
                  <a:srgbClr val="E2E8F0"/>
                </a:solidFill>
                <a:latin typeface="Consolas" pitchFamily="34" charset="0"/>
              </a:rPr>
              <a:t>response.</a:t>
            </a:r>
            <a:r>
              <a:rPr lang="en-US" sz="750" dirty="0" err="1">
                <a:solidFill>
                  <a:srgbClr val="FBBF24"/>
                </a:solidFill>
                <a:latin typeface="Consolas" pitchFamily="34" charset="0"/>
              </a:rPr>
              <a:t>EnsureSuccessStatusCode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();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}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}</a:t>
            </a:r>
          </a:p>
        </p:txBody>
      </p:sp>
      <p:sp>
        <p:nvSpPr>
          <p:cNvPr id="90" name="S9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1" name="T9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</a:rPr>
              <a:t>.NET Core 8.0 — Calidad y Pruebas: MSTest + WebApplicationFactory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1"/>
          <p:cNvSpPr/>
          <p:nvPr/>
        </p:nvSpPr>
        <p:spPr>
          <a:xfrm>
            <a:off x="274320" y="731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>
                <a:solidFill>
                  <a:srgbClr val="FFFFFF"/>
                </a:solidFill>
                <a:latin typeface="Calibri" pitchFamily="34" charset="0"/>
              </a:rPr>
              <a:t>Herramientas Complementarias de Testing</a:t>
            </a:r>
          </a:p>
        </p:txBody>
      </p:sp>
      <p:sp>
        <p:nvSpPr>
          <p:cNvPr id="4" name="T2"/>
          <p:cNvSpPr/>
          <p:nvPr/>
        </p:nvSpPr>
        <p:spPr>
          <a:xfrm>
            <a:off x="274320" y="393192"/>
            <a:ext cx="8595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850">
                <a:solidFill>
                  <a:srgbClr val="B3E5FC"/>
                </a:solidFill>
                <a:latin typeface="Calibri Light" pitchFamily="34" charset="0"/>
              </a:rPr>
              <a:t>Bibliotecas y herramientas que potencian los frameworks de pruebas en .NET Core 8, alineadas con cada tipo de prueba.</a:t>
            </a:r>
          </a:p>
        </p:txBody>
      </p:sp>
      <p:sp>
        <p:nvSpPr>
          <p:cNvPr id="10" name="C10"/>
          <p:cNvSpPr/>
          <p:nvPr/>
        </p:nvSpPr>
        <p:spPr>
          <a:xfrm>
            <a:off x="274320" y="914400"/>
            <a:ext cx="4114800" cy="8229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A13"/>
          <p:cNvSpPr/>
          <p:nvPr/>
        </p:nvSpPr>
        <p:spPr>
          <a:xfrm>
            <a:off x="274320" y="914400"/>
            <a:ext cx="45720" cy="82296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11"/>
          <p:cNvSpPr/>
          <p:nvPr/>
        </p:nvSpPr>
        <p:spPr>
          <a:xfrm>
            <a:off x="457200" y="9601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Moq / NSubstitute</a:t>
            </a:r>
          </a:p>
        </p:txBody>
      </p:sp>
      <p:sp>
        <p:nvSpPr>
          <p:cNvPr id="12" name="T12"/>
          <p:cNvSpPr/>
          <p:nvPr/>
        </p:nvSpPr>
        <p:spPr>
          <a:xfrm>
            <a:off x="457200" y="11887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 b="1">
                <a:solidFill>
                  <a:srgbClr val="4CAF50"/>
                </a:solidFill>
                <a:latin typeface="Calibri" pitchFamily="34" charset="0"/>
              </a:rPr>
              <a:t>Tipo: Pruebas Unitarias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Crean objetos simulados (mocks) de interfaces y clases abstractas. Permiten verificar llamadas a métodos y configurar comportamientos.</a:t>
            </a:r>
          </a:p>
        </p:txBody>
      </p:sp>
      <p:sp>
        <p:nvSpPr>
          <p:cNvPr id="20" name="C20"/>
          <p:cNvSpPr/>
          <p:nvPr/>
        </p:nvSpPr>
        <p:spPr>
          <a:xfrm>
            <a:off x="4663440" y="914400"/>
            <a:ext cx="4114800" cy="8229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A23"/>
          <p:cNvSpPr/>
          <p:nvPr/>
        </p:nvSpPr>
        <p:spPr>
          <a:xfrm>
            <a:off x="4663440" y="914400"/>
            <a:ext cx="45720" cy="822960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21"/>
          <p:cNvSpPr/>
          <p:nvPr/>
        </p:nvSpPr>
        <p:spPr>
          <a:xfrm>
            <a:off x="4846320" y="9601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FluentAssertions</a:t>
            </a:r>
          </a:p>
        </p:txBody>
      </p:sp>
      <p:sp>
        <p:nvSpPr>
          <p:cNvPr id="22" name="T22"/>
          <p:cNvSpPr/>
          <p:nvPr/>
        </p:nvSpPr>
        <p:spPr>
          <a:xfrm>
            <a:off x="4846320" y="11887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 b="1">
                <a:solidFill>
                  <a:srgbClr val="2196F3"/>
                </a:solidFill>
                <a:latin typeface="Calibri" pitchFamily="34" charset="0"/>
              </a:rPr>
              <a:t>Tipo: Unitarias e Integración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Aserciones legibles con sintaxis fluida: result.Should().Be(8). Mensajes de error claros. Compatible con xUnit, NUnit y MSTest.</a:t>
            </a:r>
          </a:p>
        </p:txBody>
      </p:sp>
      <p:sp>
        <p:nvSpPr>
          <p:cNvPr id="30" name="C30"/>
          <p:cNvSpPr/>
          <p:nvPr/>
        </p:nvSpPr>
        <p:spPr>
          <a:xfrm>
            <a:off x="274320" y="1874520"/>
            <a:ext cx="4114800" cy="8229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A33"/>
          <p:cNvSpPr/>
          <p:nvPr/>
        </p:nvSpPr>
        <p:spPr>
          <a:xfrm>
            <a:off x="274320" y="1874520"/>
            <a:ext cx="45720" cy="82296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31"/>
          <p:cNvSpPr/>
          <p:nvPr/>
        </p:nvSpPr>
        <p:spPr>
          <a:xfrm>
            <a:off x="457200" y="19202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Playwright / Selenium</a:t>
            </a:r>
          </a:p>
        </p:txBody>
      </p:sp>
      <p:sp>
        <p:nvSpPr>
          <p:cNvPr id="32" name="T32"/>
          <p:cNvSpPr/>
          <p:nvPr/>
        </p:nvSpPr>
        <p:spPr>
          <a:xfrm>
            <a:off x="457200" y="2148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 b="1">
                <a:solidFill>
                  <a:srgbClr val="FF9800"/>
                </a:solidFill>
                <a:latin typeface="Calibri" pitchFamily="34" charset="0"/>
              </a:rPr>
              <a:t>Tipo: Pruebas Funcionales / E2E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Automatizan navegadores reales para pruebas end-to-end. Playwright soporta Chromium, Firefox y WebKit.</a:t>
            </a:r>
          </a:p>
        </p:txBody>
      </p:sp>
      <p:sp>
        <p:nvSpPr>
          <p:cNvPr id="40" name="C40"/>
          <p:cNvSpPr/>
          <p:nvPr/>
        </p:nvSpPr>
        <p:spPr>
          <a:xfrm>
            <a:off x="4663440" y="1874520"/>
            <a:ext cx="4114800" cy="8229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3" name="A43"/>
          <p:cNvSpPr/>
          <p:nvPr/>
        </p:nvSpPr>
        <p:spPr>
          <a:xfrm>
            <a:off x="4663440" y="1874520"/>
            <a:ext cx="45720" cy="822960"/>
          </a:xfrm>
          <a:prstGeom prst="rect">
            <a:avLst/>
          </a:prstGeom>
          <a:solidFill>
            <a:srgbClr val="F4433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" name="T41"/>
          <p:cNvSpPr/>
          <p:nvPr/>
        </p:nvSpPr>
        <p:spPr>
          <a:xfrm>
            <a:off x="4846320" y="19202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BenchmarkDotNet</a:t>
            </a:r>
          </a:p>
        </p:txBody>
      </p:sp>
      <p:sp>
        <p:nvSpPr>
          <p:cNvPr id="42" name="T42"/>
          <p:cNvSpPr/>
          <p:nvPr/>
        </p:nvSpPr>
        <p:spPr>
          <a:xfrm>
            <a:off x="4846320" y="2148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 b="1">
                <a:solidFill>
                  <a:srgbClr val="F44336"/>
                </a:solidFill>
                <a:latin typeface="Calibri" pitchFamily="34" charset="0"/>
              </a:rPr>
              <a:t>Tipo: Pruebas de Rendimiento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Micro-benchmarks precisos con análisis estadístico. Mide throughput, latencia y uso de memoria. Genera reportes comparativos.</a:t>
            </a:r>
          </a:p>
        </p:txBody>
      </p:sp>
      <p:sp>
        <p:nvSpPr>
          <p:cNvPr id="50" name="C50"/>
          <p:cNvSpPr/>
          <p:nvPr/>
        </p:nvSpPr>
        <p:spPr>
          <a:xfrm>
            <a:off x="274320" y="2834640"/>
            <a:ext cx="4114800" cy="8229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3" name="A53"/>
          <p:cNvSpPr/>
          <p:nvPr/>
        </p:nvSpPr>
        <p:spPr>
          <a:xfrm>
            <a:off x="274320" y="2834640"/>
            <a:ext cx="45720" cy="822960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1" name="T51"/>
          <p:cNvSpPr/>
          <p:nvPr/>
        </p:nvSpPr>
        <p:spPr>
          <a:xfrm>
            <a:off x="457200" y="2880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OWASP ZAP</a:t>
            </a:r>
          </a:p>
        </p:txBody>
      </p:sp>
      <p:sp>
        <p:nvSpPr>
          <p:cNvPr id="52" name="T52"/>
          <p:cNvSpPr/>
          <p:nvPr/>
        </p:nvSpPr>
        <p:spPr>
          <a:xfrm>
            <a:off x="457200" y="31089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 b="1">
                <a:solidFill>
                  <a:srgbClr val="9C27B0"/>
                </a:solidFill>
                <a:latin typeface="Calibri" pitchFamily="34" charset="0"/>
              </a:rPr>
              <a:t>Tipo: Pruebas de Seguridad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Escáner de vulnerabilidades automatizado. Detecta inyección SQL, XSS, CSRF y configuraciones inseguras. Integrable en CI/CD.</a:t>
            </a:r>
          </a:p>
        </p:txBody>
      </p:sp>
      <p:sp>
        <p:nvSpPr>
          <p:cNvPr id="60" name="C60"/>
          <p:cNvSpPr/>
          <p:nvPr/>
        </p:nvSpPr>
        <p:spPr>
          <a:xfrm>
            <a:off x="4663440" y="2834640"/>
            <a:ext cx="4114800" cy="82296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T61"/>
          <p:cNvSpPr/>
          <p:nvPr/>
        </p:nvSpPr>
        <p:spPr>
          <a:xfrm>
            <a:off x="4800600" y="288036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Estrategia recomendada</a:t>
            </a:r>
          </a:p>
        </p:txBody>
      </p:sp>
      <p:sp>
        <p:nvSpPr>
          <p:cNvPr id="62" name="T62"/>
          <p:cNvSpPr/>
          <p:nvPr/>
        </p:nvSpPr>
        <p:spPr>
          <a:xfrm>
            <a:off x="4800600" y="310896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Combinar xUnit + Moq + FluentAssertions para unitarias. MSTest + WebApplicationFactory para integración. Playwright para E2E. BenchmarkDotNet para rendimiento. Integrar todo con dotnet test en CI/CD.</a:t>
            </a:r>
          </a:p>
        </p:txBody>
      </p:sp>
      <p:sp>
        <p:nvSpPr>
          <p:cNvPr id="90" name="S9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1" name="T9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</a:rPr>
              <a:t>.NET Core 8.0 — Calidad y Pruebas: Herramientas Complementarias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1"/>
          <p:cNvSpPr/>
          <p:nvPr/>
        </p:nvSpPr>
        <p:spPr>
          <a:xfrm>
            <a:off x="274320" y="731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>
                <a:solidFill>
                  <a:srgbClr val="FFFFFF"/>
                </a:solidFill>
                <a:latin typeface="Calibri" pitchFamily="34" charset="0"/>
              </a:rPr>
              <a:t>xUnit — Mocking con Moq</a:t>
            </a:r>
          </a:p>
        </p:txBody>
      </p:sp>
      <p:sp>
        <p:nvSpPr>
          <p:cNvPr id="4" name="T2"/>
          <p:cNvSpPr/>
          <p:nvPr/>
        </p:nvSpPr>
        <p:spPr>
          <a:xfrm>
            <a:off x="274320" y="393192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850">
                <a:solidFill>
                  <a:srgbClr val="B3E5FC"/>
                </a:solidFill>
                <a:latin typeface="Calibri Light" pitchFamily="34" charset="0"/>
              </a:rPr>
              <a:t>Ejemplo avanzado de pruebas unitarias con inyección de dependencias simuladas usando Moq para aislar servicios.</a:t>
            </a:r>
          </a:p>
        </p:txBody>
      </p:sp>
      <p:sp>
        <p:nvSpPr>
          <p:cNvPr id="5" name="T3"/>
          <p:cNvSpPr/>
          <p:nvPr/>
        </p:nvSpPr>
        <p:spPr>
          <a:xfrm>
            <a:off x="4937760" y="73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B3E5FC"/>
                </a:solidFill>
                <a:latin typeface="Consolas" pitchFamily="34" charset="0"/>
              </a:rPr>
              <a:t>PedidoServiceTests.cs</a:t>
            </a:r>
          </a:p>
        </p:txBody>
      </p:sp>
      <p:sp>
        <p:nvSpPr>
          <p:cNvPr id="100" name="C100"/>
          <p:cNvSpPr/>
          <p:nvPr/>
        </p:nvSpPr>
        <p:spPr>
          <a:xfrm>
            <a:off x="274320" y="1005840"/>
            <a:ext cx="3840480" cy="82296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1" name="T101"/>
          <p:cNvSpPr/>
          <p:nvPr/>
        </p:nvSpPr>
        <p:spPr>
          <a:xfrm>
            <a:off x="411480" y="10515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Mocking con Moq</a:t>
            </a:r>
          </a:p>
        </p:txBody>
      </p:sp>
      <p:sp>
        <p:nvSpPr>
          <p:cNvPr id="102" name="T102"/>
          <p:cNvSpPr/>
          <p:nvPr/>
        </p:nvSpPr>
        <p:spPr>
          <a:xfrm>
            <a:off x="411480" y="1280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Moq permite simular dependencias (interfaces) para aislar la unidad bajo prueba. Se configura el comportamiento esperado con Setup() y se verifican las llamadas con Verify().</a:t>
            </a:r>
          </a:p>
        </p:txBody>
      </p:sp>
      <p:sp>
        <p:nvSpPr>
          <p:cNvPr id="103" name="C103"/>
          <p:cNvSpPr/>
          <p:nvPr/>
        </p:nvSpPr>
        <p:spPr>
          <a:xfrm>
            <a:off x="274320" y="1920239"/>
            <a:ext cx="3840480" cy="1027617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4" name="T104"/>
          <p:cNvSpPr/>
          <p:nvPr/>
        </p:nvSpPr>
        <p:spPr>
          <a:xfrm>
            <a:off x="411480" y="19659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Patrón de uso</a:t>
            </a:r>
          </a:p>
        </p:txBody>
      </p:sp>
      <p:sp>
        <p:nvSpPr>
          <p:cNvPr id="105" name="T105"/>
          <p:cNvSpPr/>
          <p:nvPr/>
        </p:nvSpPr>
        <p:spPr>
          <a:xfrm>
            <a:off x="411480" y="21945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 dirty="0">
                <a:solidFill>
                  <a:srgbClr val="424242"/>
                </a:solidFill>
                <a:latin typeface="Calibri Light" pitchFamily="34" charset="0"/>
              </a:rPr>
              <a:t>1. Crear Mock&lt;</a:t>
            </a:r>
            <a:r>
              <a:rPr lang="es-ES" sz="850" dirty="0" err="1">
                <a:solidFill>
                  <a:srgbClr val="424242"/>
                </a:solidFill>
                <a:latin typeface="Calibri Light" pitchFamily="34" charset="0"/>
              </a:rPr>
              <a:t>IServicio</a:t>
            </a:r>
            <a:r>
              <a:rPr lang="es-ES" sz="850" dirty="0">
                <a:solidFill>
                  <a:srgbClr val="424242"/>
                </a:solidFill>
                <a:latin typeface="Calibri Light" pitchFamily="34" charset="0"/>
              </a:rPr>
              <a:t>&gt;()
2. Configurar .</a:t>
            </a:r>
            <a:r>
              <a:rPr lang="es-ES" sz="850" dirty="0" err="1">
                <a:solidFill>
                  <a:srgbClr val="424242"/>
                </a:solidFill>
                <a:latin typeface="Calibri Light" pitchFamily="34" charset="0"/>
              </a:rPr>
              <a:t>Setup</a:t>
            </a:r>
            <a:r>
              <a:rPr lang="es-ES" sz="850" dirty="0">
                <a:solidFill>
                  <a:srgbClr val="424242"/>
                </a:solidFill>
                <a:latin typeface="Calibri Light" pitchFamily="34" charset="0"/>
              </a:rPr>
              <a:t>(s =&gt; </a:t>
            </a:r>
            <a:r>
              <a:rPr lang="es-ES" sz="850" dirty="0" err="1">
                <a:solidFill>
                  <a:srgbClr val="424242"/>
                </a:solidFill>
                <a:latin typeface="Calibri Light" pitchFamily="34" charset="0"/>
              </a:rPr>
              <a:t>s.Metodo</a:t>
            </a:r>
            <a:r>
              <a:rPr lang="es-ES" sz="850" dirty="0">
                <a:solidFill>
                  <a:srgbClr val="424242"/>
                </a:solidFill>
                <a:latin typeface="Calibri Light" pitchFamily="34" charset="0"/>
              </a:rPr>
              <a:t>())
3. Inyectar </a:t>
            </a:r>
            <a:r>
              <a:rPr lang="es-ES" sz="850" dirty="0" err="1">
                <a:solidFill>
                  <a:srgbClr val="424242"/>
                </a:solidFill>
                <a:latin typeface="Calibri Light" pitchFamily="34" charset="0"/>
              </a:rPr>
              <a:t>mock.Object</a:t>
            </a:r>
            <a:r>
              <a:rPr lang="es-ES" sz="850" dirty="0">
                <a:solidFill>
                  <a:srgbClr val="424242"/>
                </a:solidFill>
                <a:latin typeface="Calibri Light" pitchFamily="34" charset="0"/>
              </a:rPr>
              <a:t> en la clase
4. Ejecutar y </a:t>
            </a:r>
            <a:r>
              <a:rPr lang="es-ES" sz="850" dirty="0" err="1">
                <a:solidFill>
                  <a:srgbClr val="424242"/>
                </a:solidFill>
                <a:latin typeface="Calibri Light" pitchFamily="34" charset="0"/>
              </a:rPr>
              <a:t>Assert</a:t>
            </a:r>
            <a:r>
              <a:rPr lang="es-ES" sz="850" dirty="0">
                <a:solidFill>
                  <a:srgbClr val="424242"/>
                </a:solidFill>
                <a:latin typeface="Calibri Light" pitchFamily="34" charset="0"/>
              </a:rPr>
              <a:t>
5. Verificar con </a:t>
            </a:r>
            <a:r>
              <a:rPr lang="es-ES" sz="850" dirty="0" err="1">
                <a:solidFill>
                  <a:srgbClr val="424242"/>
                </a:solidFill>
                <a:latin typeface="Calibri Light" pitchFamily="34" charset="0"/>
              </a:rPr>
              <a:t>mock.Verify</a:t>
            </a:r>
            <a:r>
              <a:rPr lang="es-ES" sz="850" dirty="0">
                <a:solidFill>
                  <a:srgbClr val="424242"/>
                </a:solidFill>
                <a:latin typeface="Calibri Light" pitchFamily="34" charset="0"/>
              </a:rPr>
              <a:t>()</a:t>
            </a:r>
          </a:p>
        </p:txBody>
      </p:sp>
      <p:sp>
        <p:nvSpPr>
          <p:cNvPr id="106" name="C106"/>
          <p:cNvSpPr/>
          <p:nvPr/>
        </p:nvSpPr>
        <p:spPr>
          <a:xfrm>
            <a:off x="274320" y="3008820"/>
            <a:ext cx="3840480" cy="613947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7" name="T107"/>
          <p:cNvSpPr/>
          <p:nvPr/>
        </p:nvSpPr>
        <p:spPr>
          <a:xfrm>
            <a:off x="411480" y="2993577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dirty="0" err="1">
                <a:solidFill>
                  <a:srgbClr val="0D47A1"/>
                </a:solidFill>
                <a:latin typeface="Calibri" pitchFamily="34" charset="0"/>
              </a:rPr>
              <a:t>IClassFixture</a:t>
            </a:r>
            <a:r>
              <a:rPr lang="es-ES" sz="1100" b="1" dirty="0">
                <a:solidFill>
                  <a:srgbClr val="0D47A1"/>
                </a:solidFill>
                <a:latin typeface="Calibri" pitchFamily="34" charset="0"/>
              </a:rPr>
              <a:t>&lt;T&gt;</a:t>
            </a:r>
          </a:p>
        </p:txBody>
      </p:sp>
      <p:sp>
        <p:nvSpPr>
          <p:cNvPr id="108" name="T108"/>
          <p:cNvSpPr/>
          <p:nvPr/>
        </p:nvSpPr>
        <p:spPr>
          <a:xfrm>
            <a:off x="411480" y="323088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 dirty="0">
                <a:solidFill>
                  <a:srgbClr val="424242"/>
                </a:solidFill>
                <a:latin typeface="Calibri Light" pitchFamily="34" charset="0"/>
              </a:rPr>
              <a:t>Permite compartir contexto entre </a:t>
            </a:r>
            <a:r>
              <a:rPr lang="es-ES" sz="850" dirty="0" err="1">
                <a:solidFill>
                  <a:srgbClr val="424242"/>
                </a:solidFill>
                <a:latin typeface="Calibri Light" pitchFamily="34" charset="0"/>
              </a:rPr>
              <a:t>tests</a:t>
            </a:r>
            <a:r>
              <a:rPr lang="es-ES" sz="850" dirty="0">
                <a:solidFill>
                  <a:srgbClr val="424242"/>
                </a:solidFill>
                <a:latin typeface="Calibri Light" pitchFamily="34" charset="0"/>
              </a:rPr>
              <a:t> de una misma clase. Útil para inicializar recursos costosos una sola vez (conexiones, configuraciones).</a:t>
            </a:r>
          </a:p>
        </p:txBody>
      </p:sp>
      <p:sp>
        <p:nvSpPr>
          <p:cNvPr id="109" name="C109"/>
          <p:cNvSpPr/>
          <p:nvPr/>
        </p:nvSpPr>
        <p:spPr>
          <a:xfrm>
            <a:off x="274320" y="3749040"/>
            <a:ext cx="3840480" cy="8229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0" name="T110"/>
          <p:cNvSpPr/>
          <p:nvPr/>
        </p:nvSpPr>
        <p:spPr>
          <a:xfrm>
            <a:off x="411480" y="3794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Buenas prácticas</a:t>
            </a:r>
          </a:p>
        </p:txBody>
      </p:sp>
      <p:sp>
        <p:nvSpPr>
          <p:cNvPr id="111" name="T111"/>
          <p:cNvSpPr/>
          <p:nvPr/>
        </p:nvSpPr>
        <p:spPr>
          <a:xfrm>
            <a:off x="411480" y="40233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Nombrar tests con Metodo_Escenario_Resultado. Un Assert por test. Evitar lógica en tests. Usar AutoFixture para generar datos de prueba automáticamente.</a:t>
            </a:r>
          </a:p>
        </p:txBody>
      </p:sp>
      <p:sp>
        <p:nvSpPr>
          <p:cNvPr id="30" name="S30"/>
          <p:cNvSpPr/>
          <p:nvPr/>
        </p:nvSpPr>
        <p:spPr>
          <a:xfrm>
            <a:off x="4389120" y="796824"/>
            <a:ext cx="4480560" cy="4271554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31"/>
          <p:cNvSpPr/>
          <p:nvPr/>
        </p:nvSpPr>
        <p:spPr>
          <a:xfrm>
            <a:off x="4389120" y="492009"/>
            <a:ext cx="4480560" cy="274320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32"/>
          <p:cNvSpPr/>
          <p:nvPr/>
        </p:nvSpPr>
        <p:spPr>
          <a:xfrm>
            <a:off x="4526280" y="492009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PedidoServiceTests.cs</a:t>
            </a:r>
          </a:p>
        </p:txBody>
      </p:sp>
      <p:sp>
        <p:nvSpPr>
          <p:cNvPr id="33" name="T33"/>
          <p:cNvSpPr/>
          <p:nvPr/>
        </p:nvSpPr>
        <p:spPr>
          <a:xfrm>
            <a:off x="4526280" y="812049"/>
            <a:ext cx="4206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C084FC"/>
                </a:solidFill>
                <a:latin typeface="Consolas" pitchFamily="34" charset="0"/>
              </a:rPr>
              <a:t>using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</a:t>
            </a:r>
            <a:r>
              <a:rPr lang="en-US" sz="750" dirty="0" err="1">
                <a:solidFill>
                  <a:srgbClr val="E2E8F0"/>
                </a:solidFill>
                <a:latin typeface="Consolas" pitchFamily="34" charset="0"/>
              </a:rPr>
              <a:t>Moq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C084FC"/>
                </a:solidFill>
                <a:latin typeface="Consolas" pitchFamily="34" charset="0"/>
              </a:rPr>
              <a:t>using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Xunit;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C084FC"/>
                </a:solidFill>
                <a:latin typeface="Consolas" pitchFamily="34" charset="0"/>
              </a:rPr>
              <a:t>public class</a:t>
            </a:r>
            <a:r>
              <a:rPr lang="en-US" sz="750" dirty="0">
                <a:solidFill>
                  <a:srgbClr val="60A5FA"/>
                </a:solidFill>
                <a:latin typeface="Consolas" pitchFamily="34" charset="0"/>
              </a:rPr>
              <a:t> </a:t>
            </a:r>
            <a:r>
              <a:rPr lang="en-US" sz="750" dirty="0" err="1">
                <a:solidFill>
                  <a:srgbClr val="60A5FA"/>
                </a:solidFill>
                <a:latin typeface="Consolas" pitchFamily="34" charset="0"/>
              </a:rPr>
              <a:t>PedidoServiceTests</a:t>
            </a:r>
            <a:endParaRPr lang="en-US" sz="750" dirty="0">
              <a:solidFill>
                <a:srgbClr val="60A5FA"/>
              </a:solidFill>
              <a:latin typeface="Consolas" pitchFamily="34" charset="0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 dirty="0">
                <a:solidFill>
                  <a:srgbClr val="C084FC"/>
                </a:solidFill>
                <a:latin typeface="Consolas" pitchFamily="34" charset="0"/>
              </a:rPr>
              <a:t>private </a:t>
            </a:r>
            <a:r>
              <a:rPr lang="en-US" sz="750" dirty="0" err="1">
                <a:solidFill>
                  <a:srgbClr val="C084FC"/>
                </a:solidFill>
                <a:latin typeface="Consolas" pitchFamily="34" charset="0"/>
              </a:rPr>
              <a:t>readonly</a:t>
            </a:r>
            <a:r>
              <a:rPr lang="en-US" sz="750" dirty="0">
                <a:solidFill>
                  <a:srgbClr val="60A5FA"/>
                </a:solidFill>
                <a:latin typeface="Consolas" pitchFamily="34" charset="0"/>
              </a:rPr>
              <a:t> Mock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&lt;</a:t>
            </a:r>
            <a:r>
              <a:rPr lang="en-US" sz="750" dirty="0" err="1">
                <a:solidFill>
                  <a:srgbClr val="60A5FA"/>
                </a:solidFill>
                <a:latin typeface="Consolas" pitchFamily="34" charset="0"/>
              </a:rPr>
              <a:t>IRepositorio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&gt;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  _</a:t>
            </a:r>
            <a:r>
              <a:rPr lang="en-US" sz="750" dirty="0" err="1">
                <a:solidFill>
                  <a:srgbClr val="E2E8F0"/>
                </a:solidFill>
                <a:latin typeface="Consolas" pitchFamily="34" charset="0"/>
              </a:rPr>
              <a:t>repoMock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= </a:t>
            </a:r>
            <a:r>
              <a:rPr lang="en-US" sz="750" dirty="0">
                <a:solidFill>
                  <a:srgbClr val="C084FC"/>
                </a:solidFill>
                <a:latin typeface="Consolas" pitchFamily="34" charset="0"/>
              </a:rPr>
              <a:t>new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();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 dirty="0">
                <a:solidFill>
                  <a:srgbClr val="C084FC"/>
                </a:solidFill>
                <a:latin typeface="Consolas" pitchFamily="34" charset="0"/>
              </a:rPr>
              <a:t>private </a:t>
            </a:r>
            <a:r>
              <a:rPr lang="en-US" sz="750" dirty="0" err="1">
                <a:solidFill>
                  <a:srgbClr val="C084FC"/>
                </a:solidFill>
                <a:latin typeface="Consolas" pitchFamily="34" charset="0"/>
              </a:rPr>
              <a:t>readonly</a:t>
            </a:r>
            <a:r>
              <a:rPr lang="en-US" sz="750" dirty="0">
                <a:solidFill>
                  <a:srgbClr val="60A5FA"/>
                </a:solidFill>
                <a:latin typeface="Consolas" pitchFamily="34" charset="0"/>
              </a:rPr>
              <a:t> </a:t>
            </a:r>
            <a:r>
              <a:rPr lang="en-US" sz="750" dirty="0" err="1">
                <a:solidFill>
                  <a:srgbClr val="60A5FA"/>
                </a:solidFill>
                <a:latin typeface="Consolas" pitchFamily="34" charset="0"/>
              </a:rPr>
              <a:t>PedidoService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_svc;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 dirty="0">
                <a:solidFill>
                  <a:srgbClr val="C084FC"/>
                </a:solidFill>
                <a:latin typeface="Consolas" pitchFamily="34" charset="0"/>
              </a:rPr>
              <a:t>public</a:t>
            </a:r>
            <a:r>
              <a:rPr lang="en-US" sz="750" dirty="0">
                <a:solidFill>
                  <a:srgbClr val="FBBF24"/>
                </a:solidFill>
                <a:latin typeface="Consolas" pitchFamily="34" charset="0"/>
              </a:rPr>
              <a:t> </a:t>
            </a:r>
            <a:r>
              <a:rPr lang="en-US" sz="750" dirty="0" err="1">
                <a:solidFill>
                  <a:srgbClr val="FBBF24"/>
                </a:solidFill>
                <a:latin typeface="Consolas" pitchFamily="34" charset="0"/>
              </a:rPr>
              <a:t>PedidoServiceTests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()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  _svc = </a:t>
            </a:r>
            <a:r>
              <a:rPr lang="en-US" sz="750" dirty="0">
                <a:solidFill>
                  <a:srgbClr val="C084FC"/>
                </a:solidFill>
                <a:latin typeface="Consolas" pitchFamily="34" charset="0"/>
              </a:rPr>
              <a:t>new</a:t>
            </a:r>
            <a:r>
              <a:rPr lang="en-US" sz="750" dirty="0">
                <a:solidFill>
                  <a:srgbClr val="60A5FA"/>
                </a:solidFill>
                <a:latin typeface="Consolas" pitchFamily="34" charset="0"/>
              </a:rPr>
              <a:t> </a:t>
            </a:r>
            <a:r>
              <a:rPr lang="en-US" sz="750" dirty="0" err="1">
                <a:solidFill>
                  <a:srgbClr val="60A5FA"/>
                </a:solidFill>
                <a:latin typeface="Consolas" pitchFamily="34" charset="0"/>
              </a:rPr>
              <a:t>PedidoService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(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    _</a:t>
            </a:r>
            <a:r>
              <a:rPr lang="en-US" sz="750" dirty="0" err="1">
                <a:solidFill>
                  <a:srgbClr val="E2E8F0"/>
                </a:solidFill>
                <a:latin typeface="Consolas" pitchFamily="34" charset="0"/>
              </a:rPr>
              <a:t>repoMock.Object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}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[</a:t>
            </a:r>
            <a:r>
              <a:rPr lang="en-US" sz="750" dirty="0">
                <a:solidFill>
                  <a:srgbClr val="FBBF24"/>
                </a:solidFill>
                <a:latin typeface="Consolas" pitchFamily="34" charset="0"/>
              </a:rPr>
              <a:t>Fact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 dirty="0">
                <a:solidFill>
                  <a:srgbClr val="C084FC"/>
                </a:solidFill>
                <a:latin typeface="Consolas" pitchFamily="34" charset="0"/>
              </a:rPr>
              <a:t>public void</a:t>
            </a:r>
            <a:r>
              <a:rPr lang="en-US" sz="750" dirty="0">
                <a:solidFill>
                  <a:srgbClr val="FBBF24"/>
                </a:solidFill>
                <a:latin typeface="Consolas" pitchFamily="34" charset="0"/>
              </a:rPr>
              <a:t> </a:t>
            </a:r>
            <a:r>
              <a:rPr lang="en-US" sz="750" dirty="0" err="1">
                <a:solidFill>
                  <a:srgbClr val="FBBF24"/>
                </a:solidFill>
                <a:latin typeface="Consolas" pitchFamily="34" charset="0"/>
              </a:rPr>
              <a:t>Crear_GuardaPedido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()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</a:rPr>
              <a:t>    // Arrange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  _</a:t>
            </a:r>
            <a:r>
              <a:rPr lang="en-US" sz="750" dirty="0" err="1">
                <a:solidFill>
                  <a:srgbClr val="E2E8F0"/>
                </a:solidFill>
                <a:latin typeface="Consolas" pitchFamily="34" charset="0"/>
              </a:rPr>
              <a:t>repoMock.</a:t>
            </a:r>
            <a:r>
              <a:rPr lang="en-US" sz="750" dirty="0" err="1">
                <a:solidFill>
                  <a:srgbClr val="FBBF24"/>
                </a:solidFill>
                <a:latin typeface="Consolas" pitchFamily="34" charset="0"/>
              </a:rPr>
              <a:t>Setup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(r =&gt;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    </a:t>
            </a:r>
            <a:r>
              <a:rPr lang="en-US" sz="750" dirty="0" err="1">
                <a:solidFill>
                  <a:srgbClr val="E2E8F0"/>
                </a:solidFill>
                <a:latin typeface="Consolas" pitchFamily="34" charset="0"/>
              </a:rPr>
              <a:t>r.</a:t>
            </a:r>
            <a:r>
              <a:rPr lang="en-US" sz="750" dirty="0" err="1">
                <a:solidFill>
                  <a:srgbClr val="FBBF24"/>
                </a:solidFill>
                <a:latin typeface="Consolas" pitchFamily="34" charset="0"/>
              </a:rPr>
              <a:t>Guardar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(</a:t>
            </a:r>
            <a:r>
              <a:rPr lang="en-US" sz="750" dirty="0" err="1">
                <a:solidFill>
                  <a:srgbClr val="60A5FA"/>
                </a:solidFill>
                <a:latin typeface="Consolas" pitchFamily="34" charset="0"/>
              </a:rPr>
              <a:t>It</a:t>
            </a:r>
            <a:r>
              <a:rPr lang="en-US" sz="750" dirty="0" err="1">
                <a:solidFill>
                  <a:srgbClr val="E2E8F0"/>
                </a:solidFill>
                <a:latin typeface="Consolas" pitchFamily="34" charset="0"/>
              </a:rPr>
              <a:t>.IsAny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&lt;</a:t>
            </a:r>
            <a:r>
              <a:rPr lang="en-US" sz="750" dirty="0" err="1">
                <a:solidFill>
                  <a:srgbClr val="60A5FA"/>
                </a:solidFill>
                <a:latin typeface="Consolas" pitchFamily="34" charset="0"/>
              </a:rPr>
              <a:t>Pedido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&gt;()))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    .Returns(</a:t>
            </a:r>
            <a:r>
              <a:rPr lang="en-US" sz="750" dirty="0">
                <a:solidFill>
                  <a:srgbClr val="C084FC"/>
                </a:solidFill>
                <a:latin typeface="Consolas" pitchFamily="34" charset="0"/>
              </a:rPr>
              <a:t>true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);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</a:rPr>
              <a:t>    // Act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750" dirty="0">
                <a:solidFill>
                  <a:srgbClr val="C084FC"/>
                </a:solidFill>
                <a:latin typeface="Consolas" pitchFamily="34" charset="0"/>
              </a:rPr>
              <a:t>var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ok = _</a:t>
            </a:r>
            <a:r>
              <a:rPr lang="en-US" sz="750" dirty="0" err="1">
                <a:solidFill>
                  <a:srgbClr val="E2E8F0"/>
                </a:solidFill>
                <a:latin typeface="Consolas" pitchFamily="34" charset="0"/>
              </a:rPr>
              <a:t>svc.</a:t>
            </a:r>
            <a:r>
              <a:rPr lang="en-US" sz="750" dirty="0" err="1">
                <a:solidFill>
                  <a:srgbClr val="FBBF24"/>
                </a:solidFill>
                <a:latin typeface="Consolas" pitchFamily="34" charset="0"/>
              </a:rPr>
              <a:t>CrearPedido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(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4ADE80"/>
                </a:solidFill>
                <a:latin typeface="Consolas" pitchFamily="34" charset="0"/>
              </a:rPr>
              <a:t>      "</a:t>
            </a:r>
            <a:r>
              <a:rPr lang="en-US" sz="750" dirty="0" err="1">
                <a:solidFill>
                  <a:srgbClr val="4ADE80"/>
                </a:solidFill>
                <a:latin typeface="Consolas" pitchFamily="34" charset="0"/>
              </a:rPr>
              <a:t>Producto</a:t>
            </a:r>
            <a:r>
              <a:rPr lang="en-US" sz="750" dirty="0">
                <a:solidFill>
                  <a:srgbClr val="4ADE80"/>
                </a:solidFill>
                <a:latin typeface="Consolas" pitchFamily="34" charset="0"/>
              </a:rPr>
              <a:t> A"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, 2);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</a:rPr>
              <a:t>    // Assert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60A5FA"/>
                </a:solidFill>
                <a:latin typeface="Consolas" pitchFamily="34" charset="0"/>
              </a:rPr>
              <a:t>    </a:t>
            </a:r>
            <a:r>
              <a:rPr lang="en-US" sz="750" dirty="0" err="1">
                <a:solidFill>
                  <a:srgbClr val="60A5FA"/>
                </a:solidFill>
                <a:latin typeface="Consolas" pitchFamily="34" charset="0"/>
              </a:rPr>
              <a:t>Assert</a:t>
            </a:r>
            <a:r>
              <a:rPr lang="en-US" sz="750" dirty="0" err="1">
                <a:solidFill>
                  <a:srgbClr val="E2E8F0"/>
                </a:solidFill>
                <a:latin typeface="Consolas" pitchFamily="34" charset="0"/>
              </a:rPr>
              <a:t>.</a:t>
            </a:r>
            <a:r>
              <a:rPr lang="en-US" sz="750" dirty="0" err="1">
                <a:solidFill>
                  <a:srgbClr val="FBBF24"/>
                </a:solidFill>
                <a:latin typeface="Consolas" pitchFamily="34" charset="0"/>
              </a:rPr>
              <a:t>True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(ok);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  _</a:t>
            </a:r>
            <a:r>
              <a:rPr lang="en-US" sz="750" dirty="0" err="1">
                <a:solidFill>
                  <a:srgbClr val="E2E8F0"/>
                </a:solidFill>
                <a:latin typeface="Consolas" pitchFamily="34" charset="0"/>
              </a:rPr>
              <a:t>repoMock.</a:t>
            </a:r>
            <a:r>
              <a:rPr lang="en-US" sz="750" dirty="0" err="1">
                <a:solidFill>
                  <a:srgbClr val="FBBF24"/>
                </a:solidFill>
                <a:latin typeface="Consolas" pitchFamily="34" charset="0"/>
              </a:rPr>
              <a:t>Verify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(r =&gt;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    </a:t>
            </a:r>
            <a:r>
              <a:rPr lang="en-US" sz="750" dirty="0" err="1">
                <a:solidFill>
                  <a:srgbClr val="E2E8F0"/>
                </a:solidFill>
                <a:latin typeface="Consolas" pitchFamily="34" charset="0"/>
              </a:rPr>
              <a:t>r.</a:t>
            </a:r>
            <a:r>
              <a:rPr lang="en-US" sz="750" dirty="0" err="1">
                <a:solidFill>
                  <a:srgbClr val="FBBF24"/>
                </a:solidFill>
                <a:latin typeface="Consolas" pitchFamily="34" charset="0"/>
              </a:rPr>
              <a:t>Guardar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(</a:t>
            </a:r>
            <a:r>
              <a:rPr lang="en-US" sz="750" dirty="0" err="1">
                <a:solidFill>
                  <a:srgbClr val="60A5FA"/>
                </a:solidFill>
                <a:latin typeface="Consolas" pitchFamily="34" charset="0"/>
              </a:rPr>
              <a:t>It</a:t>
            </a:r>
            <a:r>
              <a:rPr lang="en-US" sz="750" dirty="0" err="1">
                <a:solidFill>
                  <a:srgbClr val="E2E8F0"/>
                </a:solidFill>
                <a:latin typeface="Consolas" pitchFamily="34" charset="0"/>
              </a:rPr>
              <a:t>.IsAny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&lt;</a:t>
            </a:r>
            <a:r>
              <a:rPr lang="en-US" sz="750" dirty="0" err="1">
                <a:solidFill>
                  <a:srgbClr val="60A5FA"/>
                </a:solidFill>
                <a:latin typeface="Consolas" pitchFamily="34" charset="0"/>
              </a:rPr>
              <a:t>Pedido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&gt;()),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60A5FA"/>
                </a:solidFill>
                <a:latin typeface="Consolas" pitchFamily="34" charset="0"/>
              </a:rPr>
              <a:t>      </a:t>
            </a:r>
            <a:r>
              <a:rPr lang="en-US" sz="750" dirty="0" err="1">
                <a:solidFill>
                  <a:srgbClr val="60A5FA"/>
                </a:solidFill>
                <a:latin typeface="Consolas" pitchFamily="34" charset="0"/>
              </a:rPr>
              <a:t>Times</a:t>
            </a:r>
            <a:r>
              <a:rPr lang="en-US" sz="750" dirty="0" err="1">
                <a:solidFill>
                  <a:srgbClr val="E2E8F0"/>
                </a:solidFill>
                <a:latin typeface="Consolas" pitchFamily="34" charset="0"/>
              </a:rPr>
              <a:t>.Once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}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}</a:t>
            </a:r>
          </a:p>
        </p:txBody>
      </p:sp>
      <p:sp>
        <p:nvSpPr>
          <p:cNvPr id="90" name="S9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1" name="T9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</a:rPr>
              <a:t>.NET Core 8.0 — Calidad y Pruebas: xUnit + Moq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1"/>
          <p:cNvSpPr/>
          <p:nvPr/>
        </p:nvSpPr>
        <p:spPr>
          <a:xfrm>
            <a:off x="274320" y="731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>
                <a:solidFill>
                  <a:srgbClr val="FFFFFF"/>
                </a:solidFill>
                <a:latin typeface="Calibri" pitchFamily="34" charset="0"/>
              </a:rPr>
              <a:t>xUnit — Theory y Datos Dinámicos</a:t>
            </a:r>
          </a:p>
        </p:txBody>
      </p:sp>
      <p:sp>
        <p:nvSpPr>
          <p:cNvPr id="4" name="T2"/>
          <p:cNvSpPr/>
          <p:nvPr/>
        </p:nvSpPr>
        <p:spPr>
          <a:xfrm>
            <a:off x="274320" y="393192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850">
                <a:solidFill>
                  <a:srgbClr val="B3E5FC"/>
                </a:solidFill>
                <a:latin typeface="Calibri Light" pitchFamily="34" charset="0"/>
              </a:rPr>
              <a:t>Pruebas parametrizadas avanzadas con MemberData, ClassData y manejo de excepciones en tests unitarios.</a:t>
            </a:r>
          </a:p>
        </p:txBody>
      </p:sp>
      <p:sp>
        <p:nvSpPr>
          <p:cNvPr id="5" name="T3"/>
          <p:cNvSpPr/>
          <p:nvPr/>
        </p:nvSpPr>
        <p:spPr>
          <a:xfrm>
            <a:off x="4937760" y="73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B3E5FC"/>
                </a:solidFill>
                <a:latin typeface="Consolas" pitchFamily="34" charset="0"/>
              </a:rPr>
              <a:t>ValidadorTests.cs</a:t>
            </a:r>
          </a:p>
        </p:txBody>
      </p:sp>
      <p:sp>
        <p:nvSpPr>
          <p:cNvPr id="100" name="C100"/>
          <p:cNvSpPr/>
          <p:nvPr/>
        </p:nvSpPr>
        <p:spPr>
          <a:xfrm>
            <a:off x="274320" y="1005840"/>
            <a:ext cx="3840480" cy="82296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1" name="T101"/>
          <p:cNvSpPr/>
          <p:nvPr/>
        </p:nvSpPr>
        <p:spPr>
          <a:xfrm>
            <a:off x="411480" y="10515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[Theory] con datos dinámicos</a:t>
            </a:r>
          </a:p>
        </p:txBody>
      </p:sp>
      <p:sp>
        <p:nvSpPr>
          <p:cNvPr id="102" name="T102"/>
          <p:cNvSpPr/>
          <p:nvPr/>
        </p:nvSpPr>
        <p:spPr>
          <a:xfrm>
            <a:off x="411480" y="1280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MemberData permite alimentar tests desde propiedades o métodos estáticos que retornan IEnumerable&lt;object[]&gt;. Ideal para conjuntos de datos grandes o generados.</a:t>
            </a:r>
          </a:p>
        </p:txBody>
      </p:sp>
      <p:sp>
        <p:nvSpPr>
          <p:cNvPr id="103" name="C103"/>
          <p:cNvSpPr/>
          <p:nvPr/>
        </p:nvSpPr>
        <p:spPr>
          <a:xfrm>
            <a:off x="274320" y="1920240"/>
            <a:ext cx="3840480" cy="8229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4" name="T104"/>
          <p:cNvSpPr/>
          <p:nvPr/>
        </p:nvSpPr>
        <p:spPr>
          <a:xfrm>
            <a:off x="411480" y="19659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ClassData</a:t>
            </a:r>
          </a:p>
        </p:txBody>
      </p:sp>
      <p:sp>
        <p:nvSpPr>
          <p:cNvPr id="105" name="T105"/>
          <p:cNvSpPr/>
          <p:nvPr/>
        </p:nvSpPr>
        <p:spPr>
          <a:xfrm>
            <a:off x="411480" y="21945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Encapsula datos de prueba en una clase dedicada que implementa IEnumerable&lt;object[]&gt;. Reutilizable entre múltiples clases de tests. Facilita el mantenimiento.</a:t>
            </a:r>
          </a:p>
        </p:txBody>
      </p:sp>
      <p:sp>
        <p:nvSpPr>
          <p:cNvPr id="106" name="C106"/>
          <p:cNvSpPr/>
          <p:nvPr/>
        </p:nvSpPr>
        <p:spPr>
          <a:xfrm>
            <a:off x="274320" y="2834640"/>
            <a:ext cx="3840480" cy="8229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7" name="T107"/>
          <p:cNvSpPr/>
          <p:nvPr/>
        </p:nvSpPr>
        <p:spPr>
          <a:xfrm>
            <a:off x="411480" y="2880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Async y excepciones</a:t>
            </a:r>
          </a:p>
        </p:txBody>
      </p:sp>
      <p:sp>
        <p:nvSpPr>
          <p:cNvPr id="108" name="T108"/>
          <p:cNvSpPr/>
          <p:nvPr/>
        </p:nvSpPr>
        <p:spPr>
          <a:xfrm>
            <a:off x="411480" y="31089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xUnit soporta tests asíncronos con async Task. Para verificar excepciones usar Assert.Throws&lt;T&gt;() o Assert.ThrowsAsync&lt;T&gt;() para métodos async.</a:t>
            </a:r>
          </a:p>
        </p:txBody>
      </p:sp>
      <p:sp>
        <p:nvSpPr>
          <p:cNvPr id="109" name="C109"/>
          <p:cNvSpPr/>
          <p:nvPr/>
        </p:nvSpPr>
        <p:spPr>
          <a:xfrm>
            <a:off x="274320" y="3749040"/>
            <a:ext cx="3840480" cy="8229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0" name="T110"/>
          <p:cNvSpPr/>
          <p:nvPr/>
        </p:nvSpPr>
        <p:spPr>
          <a:xfrm>
            <a:off x="411480" y="3794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Ejecución y cobertura</a:t>
            </a:r>
          </a:p>
        </p:txBody>
      </p:sp>
      <p:sp>
        <p:nvSpPr>
          <p:cNvPr id="111" name="T111"/>
          <p:cNvSpPr/>
          <p:nvPr/>
        </p:nvSpPr>
        <p:spPr>
          <a:xfrm>
            <a:off x="411480" y="40233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dotnet test ejecuta todos los tests. Agregar --collect:"XPlat Code Coverage" para generar reportes de cobertura. Integrar con coverlet para análisis detallado.</a:t>
            </a:r>
          </a:p>
        </p:txBody>
      </p:sp>
      <p:sp>
        <p:nvSpPr>
          <p:cNvPr id="30" name="S30"/>
          <p:cNvSpPr/>
          <p:nvPr/>
        </p:nvSpPr>
        <p:spPr>
          <a:xfrm>
            <a:off x="4389120" y="1005840"/>
            <a:ext cx="4480560" cy="379476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31"/>
          <p:cNvSpPr/>
          <p:nvPr/>
        </p:nvSpPr>
        <p:spPr>
          <a:xfrm>
            <a:off x="4389120" y="1005840"/>
            <a:ext cx="4480560" cy="274320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32"/>
          <p:cNvSpPr/>
          <p:nvPr/>
        </p:nvSpPr>
        <p:spPr>
          <a:xfrm>
            <a:off x="4526280" y="1005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ValidadorTests.cs</a:t>
            </a:r>
          </a:p>
        </p:txBody>
      </p:sp>
      <p:sp>
        <p:nvSpPr>
          <p:cNvPr id="33" name="T33"/>
          <p:cNvSpPr/>
          <p:nvPr/>
        </p:nvSpPr>
        <p:spPr>
          <a:xfrm>
            <a:off x="4526280" y="1325880"/>
            <a:ext cx="4206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 class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 ValidadorTests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 static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 IEnumerable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&lt;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object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[]&gt;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DatosEmail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=&gt;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new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[]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new object[] { "a@b.com",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true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},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new object[] { "invalido",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false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},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new object[] { "",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false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},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};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[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Theory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[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MemberData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nameof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(DatosEmail))]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 void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 ValidarEmail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string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email,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bool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expected)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var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result = 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Validador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.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EsEmailValido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(email);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    Assert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Equal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(expected, result);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}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[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Fact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 void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 Email_Nulo_Lanza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    Assert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Throws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&lt;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      ArgumentNullException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&gt;(() =&gt;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Validador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EsEmailValido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null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!));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}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}</a:t>
            </a:r>
          </a:p>
        </p:txBody>
      </p:sp>
      <p:sp>
        <p:nvSpPr>
          <p:cNvPr id="90" name="S9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1" name="T9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</a:rPr>
              <a:t>.NET Core 8.0 — Calidad y Pruebas: xUnit Avanzado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1"/>
          <p:cNvSpPr/>
          <p:nvPr/>
        </p:nvSpPr>
        <p:spPr>
          <a:xfrm>
            <a:off x="274320" y="731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>
                <a:solidFill>
                  <a:srgbClr val="FFFFFF"/>
                </a:solidFill>
                <a:latin typeface="Calibri" pitchFamily="34" charset="0"/>
              </a:rPr>
              <a:t>WebApplicationFactory — Configuración</a:t>
            </a:r>
          </a:p>
        </p:txBody>
      </p:sp>
      <p:sp>
        <p:nvSpPr>
          <p:cNvPr id="4" name="T2"/>
          <p:cNvSpPr/>
          <p:nvPr/>
        </p:nvSpPr>
        <p:spPr>
          <a:xfrm>
            <a:off x="274320" y="393192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850">
                <a:solidFill>
                  <a:srgbClr val="B3E5FC"/>
                </a:solidFill>
                <a:latin typeface="Calibri Light" pitchFamily="34" charset="0"/>
              </a:rPr>
              <a:t>Cómo personalizar el host de pruebas para reemplazar servicios reales por mocks y bases de datos en memoria.</a:t>
            </a:r>
          </a:p>
        </p:txBody>
      </p:sp>
      <p:sp>
        <p:nvSpPr>
          <p:cNvPr id="5" name="T3"/>
          <p:cNvSpPr/>
          <p:nvPr/>
        </p:nvSpPr>
        <p:spPr>
          <a:xfrm>
            <a:off x="4937760" y="73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B3E5FC"/>
                </a:solidFill>
                <a:latin typeface="Consolas" pitchFamily="34" charset="0"/>
              </a:rPr>
              <a:t>CustomFactory.cs</a:t>
            </a:r>
          </a:p>
        </p:txBody>
      </p:sp>
      <p:sp>
        <p:nvSpPr>
          <p:cNvPr id="100" name="C100"/>
          <p:cNvSpPr/>
          <p:nvPr/>
        </p:nvSpPr>
        <p:spPr>
          <a:xfrm>
            <a:off x="274320" y="1005840"/>
            <a:ext cx="3840480" cy="82296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1" name="T101"/>
          <p:cNvSpPr/>
          <p:nvPr/>
        </p:nvSpPr>
        <p:spPr>
          <a:xfrm>
            <a:off x="411480" y="10515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WebApplicationFactory&lt;T&gt;</a:t>
            </a:r>
          </a:p>
        </p:txBody>
      </p:sp>
      <p:sp>
        <p:nvSpPr>
          <p:cNvPr id="102" name="T102"/>
          <p:cNvSpPr/>
          <p:nvPr/>
        </p:nvSpPr>
        <p:spPr>
          <a:xfrm>
            <a:off x="411480" y="1280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Crea un servidor de pruebas en memoria que ejecuta el pipeline completo de ASP.NET Core: middleware, DI, routing, filtros. No requiere puertos de red.</a:t>
            </a:r>
          </a:p>
        </p:txBody>
      </p:sp>
      <p:sp>
        <p:nvSpPr>
          <p:cNvPr id="103" name="C103"/>
          <p:cNvSpPr/>
          <p:nvPr/>
        </p:nvSpPr>
        <p:spPr>
          <a:xfrm>
            <a:off x="274320" y="1920240"/>
            <a:ext cx="3840480" cy="8229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4" name="T104"/>
          <p:cNvSpPr/>
          <p:nvPr/>
        </p:nvSpPr>
        <p:spPr>
          <a:xfrm>
            <a:off x="411480" y="19659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Personalización del Host</a:t>
            </a:r>
          </a:p>
        </p:txBody>
      </p:sp>
      <p:sp>
        <p:nvSpPr>
          <p:cNvPr id="105" name="T105"/>
          <p:cNvSpPr/>
          <p:nvPr/>
        </p:nvSpPr>
        <p:spPr>
          <a:xfrm>
            <a:off x="411480" y="21945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WithWebHostBuilder() permite reemplazar servicios en DI: bases de datos en memoria (SQLite/InMemory), mocks de servicios externos, configuración de test.</a:t>
            </a:r>
          </a:p>
        </p:txBody>
      </p:sp>
      <p:sp>
        <p:nvSpPr>
          <p:cNvPr id="106" name="C106"/>
          <p:cNvSpPr/>
          <p:nvPr/>
        </p:nvSpPr>
        <p:spPr>
          <a:xfrm>
            <a:off x="274320" y="2834640"/>
            <a:ext cx="3840480" cy="8229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7" name="T107"/>
          <p:cNvSpPr/>
          <p:nvPr/>
        </p:nvSpPr>
        <p:spPr>
          <a:xfrm>
            <a:off x="411480" y="2880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Base de datos de prueba</a:t>
            </a:r>
          </a:p>
        </p:txBody>
      </p:sp>
      <p:sp>
        <p:nvSpPr>
          <p:cNvPr id="108" name="T108"/>
          <p:cNvSpPr/>
          <p:nvPr/>
        </p:nvSpPr>
        <p:spPr>
          <a:xfrm>
            <a:off x="411480" y="31089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Reemplazar el DbContext real por uno InMemory o SQLite en modo memoria. Cada test puede tener su BD aislada. Usar Respawn para limpiar entre tests.</a:t>
            </a:r>
          </a:p>
        </p:txBody>
      </p:sp>
      <p:sp>
        <p:nvSpPr>
          <p:cNvPr id="109" name="C109"/>
          <p:cNvSpPr/>
          <p:nvPr/>
        </p:nvSpPr>
        <p:spPr>
          <a:xfrm>
            <a:off x="274320" y="3749040"/>
            <a:ext cx="3840480" cy="8229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0" name="T110"/>
          <p:cNvSpPr/>
          <p:nvPr/>
        </p:nvSpPr>
        <p:spPr>
          <a:xfrm>
            <a:off x="411480" y="3794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HttpClient integrado</a:t>
            </a:r>
          </a:p>
        </p:txBody>
      </p:sp>
      <p:sp>
        <p:nvSpPr>
          <p:cNvPr id="111" name="T111"/>
          <p:cNvSpPr/>
          <p:nvPr/>
        </p:nvSpPr>
        <p:spPr>
          <a:xfrm>
            <a:off x="411480" y="40233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CreateClient() retorna un HttpClient preconfigurado que apunta al servidor en memoria. Soporta headers, cookies y autenticación de prueba.</a:t>
            </a:r>
          </a:p>
        </p:txBody>
      </p:sp>
      <p:sp>
        <p:nvSpPr>
          <p:cNvPr id="30" name="S30"/>
          <p:cNvSpPr/>
          <p:nvPr/>
        </p:nvSpPr>
        <p:spPr>
          <a:xfrm>
            <a:off x="4389120" y="1005840"/>
            <a:ext cx="4480560" cy="356616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31"/>
          <p:cNvSpPr/>
          <p:nvPr/>
        </p:nvSpPr>
        <p:spPr>
          <a:xfrm>
            <a:off x="4389120" y="1005840"/>
            <a:ext cx="4480560" cy="274320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32"/>
          <p:cNvSpPr/>
          <p:nvPr/>
        </p:nvSpPr>
        <p:spPr>
          <a:xfrm>
            <a:off x="4526280" y="1005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CustomFactory.cs</a:t>
            </a:r>
          </a:p>
        </p:txBody>
      </p:sp>
      <p:sp>
        <p:nvSpPr>
          <p:cNvPr id="33" name="T33"/>
          <p:cNvSpPr/>
          <p:nvPr/>
        </p:nvSpPr>
        <p:spPr>
          <a:xfrm>
            <a:off x="4526280" y="1325880"/>
            <a:ext cx="4206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 class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 CustomFactory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: 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WebApplicationFactory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&lt;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Program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&gt;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protected override void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ConfigureWebHost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IWebHostBuilder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builder)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builder.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ConfigureServices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(svc =&gt;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</a:t>
            </a: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Remover DbContext real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var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desc = svc.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SingleOrDefault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  d =&gt; d.ServiceType ==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typeof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DbContextOptions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&lt;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          AppDbContext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&gt;));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if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(desc !=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null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  svc.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Remove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(desc);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</a:t>
            </a: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Agregar BD en memoria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svc.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AddDbContext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&lt;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AppDbContext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&gt;(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  opt =&gt; opt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    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UseInMemoryDatabase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      </a:t>
            </a: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"TestDb"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));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});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}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}</a:t>
            </a:r>
          </a:p>
        </p:txBody>
      </p:sp>
      <p:sp>
        <p:nvSpPr>
          <p:cNvPr id="90" name="S9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1" name="T9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</a:rPr>
              <a:t>.NET Core 8.0 — Calidad y Pruebas: WebApplicationFactory Setup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1"/>
          <p:cNvSpPr/>
          <p:nvPr/>
        </p:nvSpPr>
        <p:spPr>
          <a:xfrm>
            <a:off x="274320" y="731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>
                <a:solidFill>
                  <a:srgbClr val="FFFFFF"/>
                </a:solidFill>
                <a:latin typeface="Calibri" pitchFamily="34" charset="0"/>
              </a:rPr>
              <a:t>MSTest — Pruebas de Integración en Acción</a:t>
            </a:r>
          </a:p>
        </p:txBody>
      </p:sp>
      <p:sp>
        <p:nvSpPr>
          <p:cNvPr id="4" name="T2"/>
          <p:cNvSpPr/>
          <p:nvPr/>
        </p:nvSpPr>
        <p:spPr>
          <a:xfrm>
            <a:off x="274320" y="393192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850">
                <a:solidFill>
                  <a:srgbClr val="B3E5FC"/>
                </a:solidFill>
                <a:latin typeface="Calibri Light" pitchFamily="34" charset="0"/>
              </a:rPr>
              <a:t>Ejemplo completo de test de integración que prueba un endpoint POST con validación de respuesta JSON.</a:t>
            </a:r>
          </a:p>
        </p:txBody>
      </p:sp>
      <p:sp>
        <p:nvSpPr>
          <p:cNvPr id="5" name="T3"/>
          <p:cNvSpPr/>
          <p:nvPr/>
        </p:nvSpPr>
        <p:spPr>
          <a:xfrm>
            <a:off x="4937760" y="73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B3E5FC"/>
                </a:solidFill>
                <a:latin typeface="Consolas" pitchFamily="34" charset="0"/>
              </a:rPr>
              <a:t>ProductosApiTests.cs</a:t>
            </a:r>
          </a:p>
        </p:txBody>
      </p:sp>
      <p:sp>
        <p:nvSpPr>
          <p:cNvPr id="100" name="C100"/>
          <p:cNvSpPr/>
          <p:nvPr/>
        </p:nvSpPr>
        <p:spPr>
          <a:xfrm>
            <a:off x="274320" y="1005840"/>
            <a:ext cx="3840480" cy="82296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1" name="T101"/>
          <p:cNvSpPr/>
          <p:nvPr/>
        </p:nvSpPr>
        <p:spPr>
          <a:xfrm>
            <a:off x="411480" y="10515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Test de API completo</a:t>
            </a:r>
          </a:p>
        </p:txBody>
      </p:sp>
      <p:sp>
        <p:nvSpPr>
          <p:cNvPr id="102" name="T102"/>
          <p:cNvSpPr/>
          <p:nvPr/>
        </p:nvSpPr>
        <p:spPr>
          <a:xfrm>
            <a:off x="411480" y="1280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Prueba el ciclo completo: HTTP request → routing → controller → servicio → base de datos → response. Valida status codes, headers y cuerpo JSON.</a:t>
            </a:r>
          </a:p>
        </p:txBody>
      </p:sp>
      <p:sp>
        <p:nvSpPr>
          <p:cNvPr id="103" name="C103"/>
          <p:cNvSpPr/>
          <p:nvPr/>
        </p:nvSpPr>
        <p:spPr>
          <a:xfrm>
            <a:off x="274320" y="1920240"/>
            <a:ext cx="3840480" cy="8229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4" name="T104"/>
          <p:cNvSpPr/>
          <p:nvPr/>
        </p:nvSpPr>
        <p:spPr>
          <a:xfrm>
            <a:off x="411480" y="19659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Autenticación de prueba</a:t>
            </a:r>
          </a:p>
        </p:txBody>
      </p:sp>
      <p:sp>
        <p:nvSpPr>
          <p:cNvPr id="105" name="T105"/>
          <p:cNvSpPr/>
          <p:nvPr/>
        </p:nvSpPr>
        <p:spPr>
          <a:xfrm>
            <a:off x="411480" y="21945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Agregar AddAuthentication("Test") y un TestAuthHandler para simular usuarios autenticados con claims personalizados sin Identity real.</a:t>
            </a:r>
          </a:p>
        </p:txBody>
      </p:sp>
      <p:sp>
        <p:nvSpPr>
          <p:cNvPr id="106" name="C106"/>
          <p:cNvSpPr/>
          <p:nvPr/>
        </p:nvSpPr>
        <p:spPr>
          <a:xfrm>
            <a:off x="274320" y="2834640"/>
            <a:ext cx="3840480" cy="8229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7" name="T107"/>
          <p:cNvSpPr/>
          <p:nvPr/>
        </p:nvSpPr>
        <p:spPr>
          <a:xfrm>
            <a:off x="411480" y="2880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Deserialización JSON</a:t>
            </a:r>
          </a:p>
        </p:txBody>
      </p:sp>
      <p:sp>
        <p:nvSpPr>
          <p:cNvPr id="108" name="T108"/>
          <p:cNvSpPr/>
          <p:nvPr/>
        </p:nvSpPr>
        <p:spPr>
          <a:xfrm>
            <a:off x="411480" y="31089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Usar System.Text.Json o Newtonsoft para deserializar responses. response.Content.ReadFromJsonAsync&lt;T&gt;() simplifica la lectura de payloads tipados.</a:t>
            </a:r>
          </a:p>
        </p:txBody>
      </p:sp>
      <p:sp>
        <p:nvSpPr>
          <p:cNvPr id="109" name="C109"/>
          <p:cNvSpPr/>
          <p:nvPr/>
        </p:nvSpPr>
        <p:spPr>
          <a:xfrm>
            <a:off x="274320" y="3749040"/>
            <a:ext cx="3840480" cy="8229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0" name="T110"/>
          <p:cNvSpPr/>
          <p:nvPr/>
        </p:nvSpPr>
        <p:spPr>
          <a:xfrm>
            <a:off x="411480" y="3794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Ejecución selectiva</a:t>
            </a:r>
          </a:p>
        </p:txBody>
      </p:sp>
      <p:sp>
        <p:nvSpPr>
          <p:cNvPr id="111" name="T111"/>
          <p:cNvSpPr/>
          <p:nvPr/>
        </p:nvSpPr>
        <p:spPr>
          <a:xfrm>
            <a:off x="411480" y="40233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dotnet test --filter "Category=Integration" ejecuta solo tests de integración. Usar [TestCategory] para clasificar. Separar en proyecto dedicado MiApp.IntegrationTests.</a:t>
            </a:r>
          </a:p>
        </p:txBody>
      </p:sp>
      <p:sp>
        <p:nvSpPr>
          <p:cNvPr id="30" name="S30"/>
          <p:cNvSpPr/>
          <p:nvPr/>
        </p:nvSpPr>
        <p:spPr>
          <a:xfrm>
            <a:off x="4389120" y="822951"/>
            <a:ext cx="4480560" cy="401466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31"/>
          <p:cNvSpPr/>
          <p:nvPr/>
        </p:nvSpPr>
        <p:spPr>
          <a:xfrm>
            <a:off x="4389120" y="849078"/>
            <a:ext cx="4480560" cy="274320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32"/>
          <p:cNvSpPr/>
          <p:nvPr/>
        </p:nvSpPr>
        <p:spPr>
          <a:xfrm>
            <a:off x="4526280" y="770697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E2E8F0"/>
                </a:solidFill>
                <a:latin typeface="Consolas" pitchFamily="34" charset="0"/>
              </a:rPr>
              <a:t>ProductosApiTests.cs</a:t>
            </a:r>
            <a:endParaRPr lang="en-US" sz="800" dirty="0">
              <a:solidFill>
                <a:srgbClr val="E2E8F0"/>
              </a:solidFill>
              <a:latin typeface="Consolas" pitchFamily="34" charset="0"/>
            </a:endParaRPr>
          </a:p>
        </p:txBody>
      </p:sp>
      <p:sp>
        <p:nvSpPr>
          <p:cNvPr id="33" name="T33"/>
          <p:cNvSpPr/>
          <p:nvPr/>
        </p:nvSpPr>
        <p:spPr>
          <a:xfrm>
            <a:off x="4526280" y="1012356"/>
            <a:ext cx="4206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[</a:t>
            </a:r>
            <a:r>
              <a:rPr lang="en-US" sz="750" dirty="0">
                <a:solidFill>
                  <a:srgbClr val="FBBF24"/>
                </a:solidFill>
                <a:latin typeface="Consolas" pitchFamily="34" charset="0"/>
              </a:rPr>
              <a:t>TestClass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C084FC"/>
                </a:solidFill>
                <a:latin typeface="Consolas" pitchFamily="34" charset="0"/>
              </a:rPr>
              <a:t>public class</a:t>
            </a:r>
            <a:r>
              <a:rPr lang="en-US" sz="750" dirty="0">
                <a:solidFill>
                  <a:srgbClr val="60A5FA"/>
                </a:solidFill>
                <a:latin typeface="Consolas" pitchFamily="34" charset="0"/>
              </a:rPr>
              <a:t> </a:t>
            </a:r>
            <a:r>
              <a:rPr lang="en-US" sz="750" dirty="0" err="1">
                <a:solidFill>
                  <a:srgbClr val="60A5FA"/>
                </a:solidFill>
                <a:latin typeface="Consolas" pitchFamily="34" charset="0"/>
              </a:rPr>
              <a:t>ProductosApiTests</a:t>
            </a:r>
            <a:endParaRPr lang="en-US" sz="750" dirty="0">
              <a:solidFill>
                <a:srgbClr val="60A5FA"/>
              </a:solidFill>
              <a:latin typeface="Consolas" pitchFamily="34" charset="0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 dirty="0">
                <a:solidFill>
                  <a:srgbClr val="C084FC"/>
                </a:solidFill>
                <a:latin typeface="Consolas" pitchFamily="34" charset="0"/>
              </a:rPr>
              <a:t>private </a:t>
            </a:r>
            <a:r>
              <a:rPr lang="en-US" sz="750" dirty="0" err="1">
                <a:solidFill>
                  <a:srgbClr val="C084FC"/>
                </a:solidFill>
                <a:latin typeface="Consolas" pitchFamily="34" charset="0"/>
              </a:rPr>
              <a:t>readonly</a:t>
            </a:r>
            <a:r>
              <a:rPr lang="en-US" sz="750" dirty="0">
                <a:solidFill>
                  <a:srgbClr val="60A5FA"/>
                </a:solidFill>
                <a:latin typeface="Consolas" pitchFamily="34" charset="0"/>
              </a:rPr>
              <a:t> </a:t>
            </a:r>
            <a:r>
              <a:rPr lang="en-US" sz="750" dirty="0" err="1">
                <a:solidFill>
                  <a:srgbClr val="60A5FA"/>
                </a:solidFill>
                <a:latin typeface="Consolas" pitchFamily="34" charset="0"/>
              </a:rPr>
              <a:t>HttpClient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_client;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 dirty="0">
                <a:solidFill>
                  <a:srgbClr val="C084FC"/>
                </a:solidFill>
                <a:latin typeface="Consolas" pitchFamily="34" charset="0"/>
              </a:rPr>
              <a:t>public</a:t>
            </a:r>
            <a:r>
              <a:rPr lang="en-US" sz="750" dirty="0">
                <a:solidFill>
                  <a:srgbClr val="FBBF24"/>
                </a:solidFill>
                <a:latin typeface="Consolas" pitchFamily="34" charset="0"/>
              </a:rPr>
              <a:t> </a:t>
            </a:r>
            <a:r>
              <a:rPr lang="en-US" sz="750" dirty="0" err="1">
                <a:solidFill>
                  <a:srgbClr val="FBBF24"/>
                </a:solidFill>
                <a:latin typeface="Consolas" pitchFamily="34" charset="0"/>
              </a:rPr>
              <a:t>ProductosApiTests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()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750" dirty="0">
                <a:solidFill>
                  <a:srgbClr val="C084FC"/>
                </a:solidFill>
                <a:latin typeface="Consolas" pitchFamily="34" charset="0"/>
              </a:rPr>
              <a:t>var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factory = </a:t>
            </a:r>
            <a:r>
              <a:rPr lang="en-US" sz="750" dirty="0">
                <a:solidFill>
                  <a:srgbClr val="C084FC"/>
                </a:solidFill>
                <a:latin typeface="Consolas" pitchFamily="34" charset="0"/>
              </a:rPr>
              <a:t>new</a:t>
            </a:r>
            <a:r>
              <a:rPr lang="en-US" sz="750" dirty="0">
                <a:solidFill>
                  <a:srgbClr val="60A5FA"/>
                </a:solidFill>
                <a:latin typeface="Consolas" pitchFamily="34" charset="0"/>
              </a:rPr>
              <a:t> </a:t>
            </a:r>
            <a:r>
              <a:rPr lang="en-US" sz="750" dirty="0" err="1">
                <a:solidFill>
                  <a:srgbClr val="60A5FA"/>
                </a:solidFill>
                <a:latin typeface="Consolas" pitchFamily="34" charset="0"/>
              </a:rPr>
              <a:t>CustomFactory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();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  _client = </a:t>
            </a:r>
            <a:r>
              <a:rPr lang="en-US" sz="750" dirty="0" err="1">
                <a:solidFill>
                  <a:srgbClr val="E2E8F0"/>
                </a:solidFill>
                <a:latin typeface="Consolas" pitchFamily="34" charset="0"/>
              </a:rPr>
              <a:t>factory.</a:t>
            </a:r>
            <a:r>
              <a:rPr lang="en-US" sz="750" dirty="0" err="1">
                <a:solidFill>
                  <a:srgbClr val="FBBF24"/>
                </a:solidFill>
                <a:latin typeface="Consolas" pitchFamily="34" charset="0"/>
              </a:rPr>
              <a:t>CreateClient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();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}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[</a:t>
            </a:r>
            <a:r>
              <a:rPr lang="en-US" sz="750" dirty="0" err="1">
                <a:solidFill>
                  <a:srgbClr val="FBBF24"/>
                </a:solidFill>
                <a:latin typeface="Consolas" pitchFamily="34" charset="0"/>
              </a:rPr>
              <a:t>TestMethod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 dirty="0">
                <a:solidFill>
                  <a:srgbClr val="C084FC"/>
                </a:solidFill>
                <a:latin typeface="Consolas" pitchFamily="34" charset="0"/>
              </a:rPr>
              <a:t>public async</a:t>
            </a:r>
            <a:r>
              <a:rPr lang="en-US" sz="750" dirty="0">
                <a:solidFill>
                  <a:srgbClr val="60A5FA"/>
                </a:solidFill>
                <a:latin typeface="Consolas" pitchFamily="34" charset="0"/>
              </a:rPr>
              <a:t> Task</a:t>
            </a:r>
            <a:r>
              <a:rPr lang="en-US" sz="750" dirty="0">
                <a:solidFill>
                  <a:srgbClr val="FBBF24"/>
                </a:solidFill>
                <a:latin typeface="Consolas" pitchFamily="34" charset="0"/>
              </a:rPr>
              <a:t> </a:t>
            </a:r>
            <a:r>
              <a:rPr lang="en-US" sz="750" dirty="0" err="1">
                <a:solidFill>
                  <a:srgbClr val="FBBF24"/>
                </a:solidFill>
                <a:latin typeface="Consolas" pitchFamily="34" charset="0"/>
              </a:rPr>
              <a:t>Post_Crea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()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750" dirty="0">
                <a:solidFill>
                  <a:srgbClr val="C084FC"/>
                </a:solidFill>
                <a:latin typeface="Consolas" pitchFamily="34" charset="0"/>
              </a:rPr>
              <a:t>var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</a:t>
            </a:r>
            <a:r>
              <a:rPr lang="en-US" sz="750" dirty="0" err="1">
                <a:solidFill>
                  <a:srgbClr val="E2E8F0"/>
                </a:solidFill>
                <a:latin typeface="Consolas" pitchFamily="34" charset="0"/>
              </a:rPr>
              <a:t>producto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= </a:t>
            </a:r>
            <a:r>
              <a:rPr lang="en-US" sz="750" dirty="0">
                <a:solidFill>
                  <a:srgbClr val="C084FC"/>
                </a:solidFill>
                <a:latin typeface="Consolas" pitchFamily="34" charset="0"/>
              </a:rPr>
              <a:t>new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    Nombre = </a:t>
            </a:r>
            <a:r>
              <a:rPr lang="en-US" sz="750" dirty="0">
                <a:solidFill>
                  <a:srgbClr val="4ADE80"/>
                </a:solidFill>
                <a:latin typeface="Consolas" pitchFamily="34" charset="0"/>
              </a:rPr>
              <a:t>"Laptop"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,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    </a:t>
            </a:r>
            <a:r>
              <a:rPr lang="en-US" sz="750" dirty="0" err="1">
                <a:solidFill>
                  <a:srgbClr val="E2E8F0"/>
                </a:solidFill>
                <a:latin typeface="Consolas" pitchFamily="34" charset="0"/>
              </a:rPr>
              <a:t>Precio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= 999.99 };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750" dirty="0">
                <a:solidFill>
                  <a:srgbClr val="C084FC"/>
                </a:solidFill>
                <a:latin typeface="Consolas" pitchFamily="34" charset="0"/>
              </a:rPr>
              <a:t>var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resp = </a:t>
            </a:r>
            <a:r>
              <a:rPr lang="en-US" sz="750" dirty="0">
                <a:solidFill>
                  <a:srgbClr val="C084FC"/>
                </a:solidFill>
                <a:latin typeface="Consolas" pitchFamily="34" charset="0"/>
              </a:rPr>
              <a:t>await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_client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    .</a:t>
            </a:r>
            <a:r>
              <a:rPr lang="en-US" sz="750" dirty="0" err="1">
                <a:solidFill>
                  <a:srgbClr val="FBBF24"/>
                </a:solidFill>
                <a:latin typeface="Consolas" pitchFamily="34" charset="0"/>
              </a:rPr>
              <a:t>PostAsJsonAsync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(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      </a:t>
            </a:r>
            <a:r>
              <a:rPr lang="en-US" sz="750" dirty="0">
                <a:solidFill>
                  <a:srgbClr val="4ADE80"/>
                </a:solidFill>
                <a:latin typeface="Consolas" pitchFamily="34" charset="0"/>
              </a:rPr>
              <a:t>"/</a:t>
            </a:r>
            <a:r>
              <a:rPr lang="en-US" sz="750" dirty="0" err="1">
                <a:solidFill>
                  <a:srgbClr val="4ADE80"/>
                </a:solidFill>
                <a:latin typeface="Consolas" pitchFamily="34" charset="0"/>
              </a:rPr>
              <a:t>api</a:t>
            </a:r>
            <a:r>
              <a:rPr lang="en-US" sz="750" dirty="0">
                <a:solidFill>
                  <a:srgbClr val="4ADE80"/>
                </a:solidFill>
                <a:latin typeface="Consolas" pitchFamily="34" charset="0"/>
              </a:rPr>
              <a:t>/</a:t>
            </a:r>
            <a:r>
              <a:rPr lang="en-US" sz="750" dirty="0" err="1">
                <a:solidFill>
                  <a:srgbClr val="4ADE80"/>
                </a:solidFill>
                <a:latin typeface="Consolas" pitchFamily="34" charset="0"/>
              </a:rPr>
              <a:t>productos</a:t>
            </a:r>
            <a:r>
              <a:rPr lang="en-US" sz="750" dirty="0">
                <a:solidFill>
                  <a:srgbClr val="4ADE80"/>
                </a:solidFill>
                <a:latin typeface="Consolas" pitchFamily="34" charset="0"/>
              </a:rPr>
              <a:t>"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, </a:t>
            </a:r>
            <a:r>
              <a:rPr lang="en-US" sz="750" dirty="0" err="1">
                <a:solidFill>
                  <a:srgbClr val="E2E8F0"/>
                </a:solidFill>
                <a:latin typeface="Consolas" pitchFamily="34" charset="0"/>
              </a:rPr>
              <a:t>producto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);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750" dirty="0" err="1">
                <a:solidFill>
                  <a:srgbClr val="E2E8F0"/>
                </a:solidFill>
                <a:latin typeface="Consolas" pitchFamily="34" charset="0"/>
              </a:rPr>
              <a:t>resp.</a:t>
            </a:r>
            <a:r>
              <a:rPr lang="en-US" sz="750" dirty="0" err="1">
                <a:solidFill>
                  <a:srgbClr val="FBBF24"/>
                </a:solidFill>
                <a:latin typeface="Consolas" pitchFamily="34" charset="0"/>
              </a:rPr>
              <a:t>EnsureSuccessStatusCode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();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750" dirty="0">
                <a:solidFill>
                  <a:srgbClr val="C084FC"/>
                </a:solidFill>
                <a:latin typeface="Consolas" pitchFamily="34" charset="0"/>
              </a:rPr>
              <a:t>var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created = </a:t>
            </a:r>
            <a:r>
              <a:rPr lang="en-US" sz="750" dirty="0">
                <a:solidFill>
                  <a:srgbClr val="C084FC"/>
                </a:solidFill>
                <a:latin typeface="Consolas" pitchFamily="34" charset="0"/>
              </a:rPr>
              <a:t>await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resp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    .</a:t>
            </a:r>
            <a:r>
              <a:rPr lang="en-US" sz="750" dirty="0" err="1">
                <a:solidFill>
                  <a:srgbClr val="E2E8F0"/>
                </a:solidFill>
                <a:latin typeface="Consolas" pitchFamily="34" charset="0"/>
              </a:rPr>
              <a:t>Content.</a:t>
            </a:r>
            <a:r>
              <a:rPr lang="en-US" sz="750" dirty="0" err="1">
                <a:solidFill>
                  <a:srgbClr val="FBBF24"/>
                </a:solidFill>
                <a:latin typeface="Consolas" pitchFamily="34" charset="0"/>
              </a:rPr>
              <a:t>ReadFromJsonAsync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&lt;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      </a:t>
            </a:r>
            <a:r>
              <a:rPr lang="en-US" sz="750" dirty="0" err="1">
                <a:solidFill>
                  <a:srgbClr val="60A5FA"/>
                </a:solidFill>
                <a:latin typeface="Consolas" pitchFamily="34" charset="0"/>
              </a:rPr>
              <a:t>Producto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&gt;();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60A5FA"/>
                </a:solidFill>
                <a:latin typeface="Consolas" pitchFamily="34" charset="0"/>
              </a:rPr>
              <a:t>    </a:t>
            </a:r>
            <a:r>
              <a:rPr lang="en-US" sz="750" dirty="0" err="1">
                <a:solidFill>
                  <a:srgbClr val="60A5FA"/>
                </a:solidFill>
                <a:latin typeface="Consolas" pitchFamily="34" charset="0"/>
              </a:rPr>
              <a:t>Assert</a:t>
            </a:r>
            <a:r>
              <a:rPr lang="en-US" sz="750" dirty="0" err="1">
                <a:solidFill>
                  <a:srgbClr val="E2E8F0"/>
                </a:solidFill>
                <a:latin typeface="Consolas" pitchFamily="34" charset="0"/>
              </a:rPr>
              <a:t>.</a:t>
            </a:r>
            <a:r>
              <a:rPr lang="en-US" sz="750" dirty="0" err="1">
                <a:solidFill>
                  <a:srgbClr val="FBBF24"/>
                </a:solidFill>
                <a:latin typeface="Consolas" pitchFamily="34" charset="0"/>
              </a:rPr>
              <a:t>IsNotNull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(created);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60A5FA"/>
                </a:solidFill>
                <a:latin typeface="Consolas" pitchFamily="34" charset="0"/>
              </a:rPr>
              <a:t>    </a:t>
            </a:r>
            <a:r>
              <a:rPr lang="en-US" sz="750" dirty="0" err="1">
                <a:solidFill>
                  <a:srgbClr val="60A5FA"/>
                </a:solidFill>
                <a:latin typeface="Consolas" pitchFamily="34" charset="0"/>
              </a:rPr>
              <a:t>Assert</a:t>
            </a:r>
            <a:r>
              <a:rPr lang="en-US" sz="750" dirty="0" err="1">
                <a:solidFill>
                  <a:srgbClr val="E2E8F0"/>
                </a:solidFill>
                <a:latin typeface="Consolas" pitchFamily="34" charset="0"/>
              </a:rPr>
              <a:t>.</a:t>
            </a:r>
            <a:r>
              <a:rPr lang="en-US" sz="750" dirty="0" err="1">
                <a:solidFill>
                  <a:srgbClr val="FBBF24"/>
                </a:solidFill>
                <a:latin typeface="Consolas" pitchFamily="34" charset="0"/>
              </a:rPr>
              <a:t>AreEqual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(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    </a:t>
            </a:r>
            <a:r>
              <a:rPr lang="en-US" sz="750" dirty="0">
                <a:solidFill>
                  <a:srgbClr val="4ADE80"/>
                </a:solidFill>
                <a:latin typeface="Consolas" pitchFamily="34" charset="0"/>
              </a:rPr>
              <a:t>"Laptop"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, </a:t>
            </a:r>
            <a:r>
              <a:rPr lang="en-US" sz="750" dirty="0" err="1">
                <a:solidFill>
                  <a:srgbClr val="E2E8F0"/>
                </a:solidFill>
                <a:latin typeface="Consolas" pitchFamily="34" charset="0"/>
              </a:rPr>
              <a:t>created.Nombre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  }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</a:rPr>
              <a:t>}</a:t>
            </a:r>
          </a:p>
        </p:txBody>
      </p:sp>
      <p:sp>
        <p:nvSpPr>
          <p:cNvPr id="90" name="S9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1" name="T9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</a:rPr>
              <a:t>.NET Core 8.0 — Calidad y Pruebas: MSTest Integración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1"/>
          <p:cNvSpPr/>
          <p:nvPr/>
        </p:nvSpPr>
        <p:spPr>
          <a:xfrm>
            <a:off x="274320" y="731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>
                <a:solidFill>
                  <a:srgbClr val="FFFFFF"/>
                </a:solidFill>
                <a:latin typeface="Calibri" pitchFamily="34" charset="0"/>
              </a:rPr>
              <a:t>xUnit — Atributos de Declaración</a:t>
            </a:r>
          </a:p>
        </p:txBody>
      </p:sp>
      <p:sp>
        <p:nvSpPr>
          <p:cNvPr id="4" name="T2"/>
          <p:cNvSpPr/>
          <p:nvPr/>
        </p:nvSpPr>
        <p:spPr>
          <a:xfrm>
            <a:off x="274320" y="393192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850">
                <a:solidFill>
                  <a:srgbClr val="B3E5FC"/>
                </a:solidFill>
                <a:latin typeface="Calibri Light" pitchFamily="34" charset="0"/>
              </a:rPr>
              <a:t>Atributos fundamentales para declarar y parametrizar tests: Fact, Theory, InlineData, MemberData y ClassData.</a:t>
            </a:r>
          </a:p>
        </p:txBody>
      </p:sp>
      <p:sp>
        <p:nvSpPr>
          <p:cNvPr id="5" name="T3"/>
          <p:cNvSpPr/>
          <p:nvPr/>
        </p:nvSpPr>
        <p:spPr>
          <a:xfrm>
            <a:off x="4937760" y="73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B3E5FC"/>
                </a:solidFill>
                <a:latin typeface="Consolas" pitchFamily="34" charset="0"/>
              </a:rPr>
              <a:t>DeclaracionTests.cs</a:t>
            </a:r>
          </a:p>
        </p:txBody>
      </p:sp>
      <p:sp>
        <p:nvSpPr>
          <p:cNvPr id="100" name="C100"/>
          <p:cNvSpPr/>
          <p:nvPr/>
        </p:nvSpPr>
        <p:spPr>
          <a:xfrm>
            <a:off x="274320" y="1005840"/>
            <a:ext cx="3840480" cy="82296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1" name="T101"/>
          <p:cNvSpPr/>
          <p:nvPr/>
        </p:nvSpPr>
        <p:spPr>
          <a:xfrm>
            <a:off x="411480" y="10515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[Fact]</a:t>
            </a:r>
          </a:p>
        </p:txBody>
      </p:sp>
      <p:sp>
        <p:nvSpPr>
          <p:cNvPr id="102" name="T102"/>
          <p:cNvSpPr/>
          <p:nvPr/>
        </p:nvSpPr>
        <p:spPr>
          <a:xfrm>
            <a:off x="411480" y="1280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Marca un método como test unitario sin parámetros. Se ejecuta una sola vez. Es el atributo más básico de xUnit. Equivale a [Test] en NUnit o [TestMethod] en MSTest.</a:t>
            </a:r>
          </a:p>
        </p:txBody>
      </p:sp>
      <p:sp>
        <p:nvSpPr>
          <p:cNvPr id="103" name="C103"/>
          <p:cNvSpPr/>
          <p:nvPr/>
        </p:nvSpPr>
        <p:spPr>
          <a:xfrm>
            <a:off x="274320" y="1920240"/>
            <a:ext cx="3840480" cy="8229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4" name="T104"/>
          <p:cNvSpPr/>
          <p:nvPr/>
        </p:nvSpPr>
        <p:spPr>
          <a:xfrm>
            <a:off x="411480" y="19659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[Theory] + [InlineData]</a:t>
            </a:r>
          </a:p>
        </p:txBody>
      </p:sp>
      <p:sp>
        <p:nvSpPr>
          <p:cNvPr id="105" name="T105"/>
          <p:cNvSpPr/>
          <p:nvPr/>
        </p:nvSpPr>
        <p:spPr>
          <a:xfrm>
            <a:off x="411480" y="21945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[Theory] declara un test parametrizado. [InlineData] provee valores directamente en el atributo. Se ejecuta una vez por cada conjunto de datos. Ideal para validaciones simples.</a:t>
            </a:r>
          </a:p>
        </p:txBody>
      </p:sp>
      <p:sp>
        <p:nvSpPr>
          <p:cNvPr id="106" name="C106"/>
          <p:cNvSpPr/>
          <p:nvPr/>
        </p:nvSpPr>
        <p:spPr>
          <a:xfrm>
            <a:off x="274320" y="2834640"/>
            <a:ext cx="3840480" cy="8229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7" name="T107"/>
          <p:cNvSpPr/>
          <p:nvPr/>
        </p:nvSpPr>
        <p:spPr>
          <a:xfrm>
            <a:off x="411480" y="2880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[MemberData]</a:t>
            </a:r>
          </a:p>
        </p:txBody>
      </p:sp>
      <p:sp>
        <p:nvSpPr>
          <p:cNvPr id="108" name="T108"/>
          <p:cNvSpPr/>
          <p:nvPr/>
        </p:nvSpPr>
        <p:spPr>
          <a:xfrm>
            <a:off x="411480" y="31089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Alimenta un [Theory] desde una propiedad o método estático que retorna IEnumerable&lt;object[]&gt;. Permite datos dinámicos, lectura de archivos o generación algorítmica.</a:t>
            </a:r>
          </a:p>
        </p:txBody>
      </p:sp>
      <p:sp>
        <p:nvSpPr>
          <p:cNvPr id="109" name="C109"/>
          <p:cNvSpPr/>
          <p:nvPr/>
        </p:nvSpPr>
        <p:spPr>
          <a:xfrm>
            <a:off x="274320" y="3749040"/>
            <a:ext cx="3840480" cy="8229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0" name="T110"/>
          <p:cNvSpPr/>
          <p:nvPr/>
        </p:nvSpPr>
        <p:spPr>
          <a:xfrm>
            <a:off x="411480" y="3794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[ClassData]</a:t>
            </a:r>
          </a:p>
        </p:txBody>
      </p:sp>
      <p:sp>
        <p:nvSpPr>
          <p:cNvPr id="111" name="T111"/>
          <p:cNvSpPr/>
          <p:nvPr/>
        </p:nvSpPr>
        <p:spPr>
          <a:xfrm>
            <a:off x="411480" y="40233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Similar a MemberData pero encapsula los datos en una clase dedicada que implementa IEnumerable&lt;object[]&gt;. Reutilizable entre múltiples clases de test.</a:t>
            </a:r>
          </a:p>
        </p:txBody>
      </p:sp>
      <p:sp>
        <p:nvSpPr>
          <p:cNvPr id="30" name="S30"/>
          <p:cNvSpPr/>
          <p:nvPr/>
        </p:nvSpPr>
        <p:spPr>
          <a:xfrm>
            <a:off x="4389120" y="1005840"/>
            <a:ext cx="4480560" cy="374904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31"/>
          <p:cNvSpPr/>
          <p:nvPr/>
        </p:nvSpPr>
        <p:spPr>
          <a:xfrm>
            <a:off x="4389120" y="1005840"/>
            <a:ext cx="4480560" cy="274320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32"/>
          <p:cNvSpPr/>
          <p:nvPr/>
        </p:nvSpPr>
        <p:spPr>
          <a:xfrm>
            <a:off x="4526280" y="1005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DeclaracionTests.cs</a:t>
            </a:r>
          </a:p>
        </p:txBody>
      </p:sp>
      <p:sp>
        <p:nvSpPr>
          <p:cNvPr id="33" name="T33"/>
          <p:cNvSpPr/>
          <p:nvPr/>
        </p:nvSpPr>
        <p:spPr>
          <a:xfrm>
            <a:off x="4526280" y="1325880"/>
            <a:ext cx="4206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[Fact] — Test sin parámetros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[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Fact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 void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 Suma_RetornaTotal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var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c =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new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 Calculadora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  Assert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Equal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(5, c.Sumar(2, 3));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}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[Theory] + [InlineData]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[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Theory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[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InlineData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(2, 3, 5)]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[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InlineData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(0, 0, 0)]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[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InlineData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(-1, 1, 0)]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 void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 Suma_Escenarios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int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a,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int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b,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int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esperado)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  =&gt; Assert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Equal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(esperado,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 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new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 Calculadora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().Sumar(a,b));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[MemberData] — Datos dinámicos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 static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 IEnumerable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&lt;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object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[]&gt;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Datos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=&gt;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new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[] 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new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[] { 10, 2, 5 },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new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[] { 9, 3, 3 } };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[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Theory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]  [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MemberData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nameof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(Datos))]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 void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 Dividir_OK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int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a,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int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b,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int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r)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  =&gt; Assert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Equal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(r,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new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 Calc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().Dividir(a,b));</a:t>
            </a:r>
          </a:p>
        </p:txBody>
      </p:sp>
      <p:sp>
        <p:nvSpPr>
          <p:cNvPr id="90" name="S9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1" name="T9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</a:rPr>
              <a:t>.NET Core 8.0 — Calidad y Pruebas: Referencia de Atributos xUnit (1/3)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1"/>
          <p:cNvSpPr/>
          <p:nvPr/>
        </p:nvSpPr>
        <p:spPr>
          <a:xfrm>
            <a:off x="274320" y="731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>
                <a:solidFill>
                  <a:srgbClr val="FFFFFF"/>
                </a:solidFill>
                <a:latin typeface="Calibri" pitchFamily="34" charset="0"/>
              </a:rPr>
              <a:t>xUnit — Organización y Metadata</a:t>
            </a:r>
          </a:p>
        </p:txBody>
      </p:sp>
      <p:sp>
        <p:nvSpPr>
          <p:cNvPr id="4" name="T2"/>
          <p:cNvSpPr/>
          <p:nvPr/>
        </p:nvSpPr>
        <p:spPr>
          <a:xfrm>
            <a:off x="274320" y="393192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850">
                <a:solidFill>
                  <a:srgbClr val="B3E5FC"/>
                </a:solidFill>
                <a:latin typeface="Calibri Light" pitchFamily="34" charset="0"/>
              </a:rPr>
              <a:t>Atributos para categorizar, filtrar, nombrar y controlar la ejecución paralela de tests.</a:t>
            </a:r>
          </a:p>
        </p:txBody>
      </p:sp>
      <p:sp>
        <p:nvSpPr>
          <p:cNvPr id="5" name="T3"/>
          <p:cNvSpPr/>
          <p:nvPr/>
        </p:nvSpPr>
        <p:spPr>
          <a:xfrm>
            <a:off x="4937760" y="73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B3E5FC"/>
                </a:solidFill>
                <a:latin typeface="Consolas" pitchFamily="34" charset="0"/>
              </a:rPr>
              <a:t>OrganizacionTests.cs</a:t>
            </a:r>
          </a:p>
        </p:txBody>
      </p:sp>
      <p:sp>
        <p:nvSpPr>
          <p:cNvPr id="100" name="C100"/>
          <p:cNvSpPr/>
          <p:nvPr/>
        </p:nvSpPr>
        <p:spPr>
          <a:xfrm>
            <a:off x="274320" y="1005840"/>
            <a:ext cx="3840480" cy="82296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1" name="T101"/>
          <p:cNvSpPr/>
          <p:nvPr/>
        </p:nvSpPr>
        <p:spPr>
          <a:xfrm>
            <a:off x="411480" y="10515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[Trait]</a:t>
            </a:r>
          </a:p>
        </p:txBody>
      </p:sp>
      <p:sp>
        <p:nvSpPr>
          <p:cNvPr id="102" name="T102"/>
          <p:cNvSpPr/>
          <p:nvPr/>
        </p:nvSpPr>
        <p:spPr>
          <a:xfrm>
            <a:off x="411480" y="1280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Agrega metadata clave-valor a un test para categorización. Permite filtrar ejecución por categoría: dotnet test --filter "Category=Integracion". Soporta múltiples traits por test.</a:t>
            </a:r>
          </a:p>
        </p:txBody>
      </p:sp>
      <p:sp>
        <p:nvSpPr>
          <p:cNvPr id="103" name="C103"/>
          <p:cNvSpPr/>
          <p:nvPr/>
        </p:nvSpPr>
        <p:spPr>
          <a:xfrm>
            <a:off x="274320" y="1920240"/>
            <a:ext cx="3840480" cy="8229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4" name="T104"/>
          <p:cNvSpPr/>
          <p:nvPr/>
        </p:nvSpPr>
        <p:spPr>
          <a:xfrm>
            <a:off x="411480" y="19659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Skip (parámetro)</a:t>
            </a:r>
          </a:p>
        </p:txBody>
      </p:sp>
      <p:sp>
        <p:nvSpPr>
          <p:cNvPr id="105" name="T105"/>
          <p:cNvSpPr/>
          <p:nvPr/>
        </p:nvSpPr>
        <p:spPr>
          <a:xfrm>
            <a:off x="411480" y="21945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Parámetro de [Fact] y [Theory] que desactiva un test temporalmente con un motivo. El test aparece como omitido en los resultados, no como fallido. Útil para tests en progreso.</a:t>
            </a:r>
          </a:p>
        </p:txBody>
      </p:sp>
      <p:sp>
        <p:nvSpPr>
          <p:cNvPr id="106" name="C106"/>
          <p:cNvSpPr/>
          <p:nvPr/>
        </p:nvSpPr>
        <p:spPr>
          <a:xfrm>
            <a:off x="274320" y="2834640"/>
            <a:ext cx="3840480" cy="8229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7" name="T107"/>
          <p:cNvSpPr/>
          <p:nvPr/>
        </p:nvSpPr>
        <p:spPr>
          <a:xfrm>
            <a:off x="411480" y="2880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[Collection] y [CollectionDefinition]</a:t>
            </a:r>
          </a:p>
        </p:txBody>
      </p:sp>
      <p:sp>
        <p:nvSpPr>
          <p:cNvPr id="108" name="T108"/>
          <p:cNvSpPr/>
          <p:nvPr/>
        </p:nvSpPr>
        <p:spPr>
          <a:xfrm>
            <a:off x="411480" y="31089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[CollectionDefinition] define una colección con nombre. [Collection] asigna clases de test a esa colección. Los tests de una misma colección NO se ejecutan en paralelo entre sí.</a:t>
            </a:r>
          </a:p>
        </p:txBody>
      </p:sp>
      <p:sp>
        <p:nvSpPr>
          <p:cNvPr id="109" name="C109"/>
          <p:cNvSpPr/>
          <p:nvPr/>
        </p:nvSpPr>
        <p:spPr>
          <a:xfrm>
            <a:off x="274320" y="3749040"/>
            <a:ext cx="3840480" cy="8229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0" name="T110"/>
          <p:cNvSpPr/>
          <p:nvPr/>
        </p:nvSpPr>
        <p:spPr>
          <a:xfrm>
            <a:off x="411480" y="3794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DisplayName (parámetro)</a:t>
            </a:r>
          </a:p>
        </p:txBody>
      </p:sp>
      <p:sp>
        <p:nvSpPr>
          <p:cNvPr id="111" name="T111"/>
          <p:cNvSpPr/>
          <p:nvPr/>
        </p:nvSpPr>
        <p:spPr>
          <a:xfrm>
            <a:off x="411480" y="40233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Parámetro de [Fact] y [Theory] que establece un nombre legible para el test en los reportes. Mejora la lectura de resultados sin afectar el nombre del método en código.</a:t>
            </a:r>
          </a:p>
        </p:txBody>
      </p:sp>
      <p:sp>
        <p:nvSpPr>
          <p:cNvPr id="30" name="S30"/>
          <p:cNvSpPr/>
          <p:nvPr/>
        </p:nvSpPr>
        <p:spPr>
          <a:xfrm>
            <a:off x="4389120" y="796824"/>
            <a:ext cx="4480560" cy="3953484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31"/>
          <p:cNvSpPr/>
          <p:nvPr/>
        </p:nvSpPr>
        <p:spPr>
          <a:xfrm>
            <a:off x="4389120" y="796824"/>
            <a:ext cx="4480560" cy="274320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32"/>
          <p:cNvSpPr/>
          <p:nvPr/>
        </p:nvSpPr>
        <p:spPr>
          <a:xfrm>
            <a:off x="4526280" y="7968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OrganizacionTests.cs</a:t>
            </a:r>
          </a:p>
        </p:txBody>
      </p:sp>
      <p:sp>
        <p:nvSpPr>
          <p:cNvPr id="33" name="T33"/>
          <p:cNvSpPr/>
          <p:nvPr/>
        </p:nvSpPr>
        <p:spPr>
          <a:xfrm>
            <a:off x="4526280" y="1116864"/>
            <a:ext cx="4206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[Trait] — Categorización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[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Fact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[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Trait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</a:t>
            </a: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"Category"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, </a:t>
            </a: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"Unitaria"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)]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[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Trait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</a:t>
            </a: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"Prioridad"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, </a:t>
            </a: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"Alta"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)]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 void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 CrearUsuario_OK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var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u =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new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 Usuario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("Ana");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  Assert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Equal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("Ana", u.Nombre);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}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Skip — Omitir test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[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Fact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(Skip = </a:t>
            </a: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"Pendiente de API"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)]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 void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 Sync_Externo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  =&gt; Assert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True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false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);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DisplayName — Nombre legible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[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Fact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(DisplayName =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"Email no sea nulo"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)]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 void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 Test_001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  =&gt; Assert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Throws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&lt;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ArgumentNullException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&gt;(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() =&gt; 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Validador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Email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null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!));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[Collection] — Paralelismo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[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CollectionDefinition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</a:t>
            </a: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"DB"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)]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 class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 DbCol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{ }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[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Collection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</a:t>
            </a:r>
            <a:r>
              <a:rPr lang="en-US" sz="750">
                <a:solidFill>
                  <a:srgbClr val="4ADE80"/>
                </a:solidFill>
                <a:latin typeface="Consolas" pitchFamily="34" charset="0"/>
              </a:rPr>
              <a:t>"DB"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)]  </a:t>
            </a: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mismo grupo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 class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 PedidoDbTests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{ }</a:t>
            </a:r>
          </a:p>
        </p:txBody>
      </p:sp>
      <p:sp>
        <p:nvSpPr>
          <p:cNvPr id="90" name="S9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1" name="T9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</a:rPr>
              <a:t>.NET Core 8.0 — Calidad y Pruebas: Referencia de Atributos xUnit (2/3)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1"/>
          <p:cNvSpPr/>
          <p:nvPr/>
        </p:nvSpPr>
        <p:spPr>
          <a:xfrm>
            <a:off x="274320" y="731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>
                <a:solidFill>
                  <a:srgbClr val="FFFFFF"/>
                </a:solidFill>
                <a:latin typeface="Calibri" pitchFamily="34" charset="0"/>
              </a:rPr>
              <a:t>xUnit — Ciclo de Vida y Fixtures</a:t>
            </a:r>
          </a:p>
        </p:txBody>
      </p:sp>
      <p:sp>
        <p:nvSpPr>
          <p:cNvPr id="4" name="T2"/>
          <p:cNvSpPr/>
          <p:nvPr/>
        </p:nvSpPr>
        <p:spPr>
          <a:xfrm>
            <a:off x="274320" y="393192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850">
                <a:solidFill>
                  <a:srgbClr val="B3E5FC"/>
                </a:solidFill>
                <a:latin typeface="Calibri Light" pitchFamily="34" charset="0"/>
              </a:rPr>
              <a:t>Interfaces para compartir contexto, inicialización asíncrona y limpieza de recursos entre tests.</a:t>
            </a:r>
          </a:p>
        </p:txBody>
      </p:sp>
      <p:sp>
        <p:nvSpPr>
          <p:cNvPr id="5" name="T3"/>
          <p:cNvSpPr/>
          <p:nvPr/>
        </p:nvSpPr>
        <p:spPr>
          <a:xfrm>
            <a:off x="4937760" y="73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B3E5FC"/>
                </a:solidFill>
                <a:latin typeface="Consolas" pitchFamily="34" charset="0"/>
              </a:rPr>
              <a:t>FixtureTests.cs</a:t>
            </a:r>
          </a:p>
        </p:txBody>
      </p:sp>
      <p:sp>
        <p:nvSpPr>
          <p:cNvPr id="100" name="C100"/>
          <p:cNvSpPr/>
          <p:nvPr/>
        </p:nvSpPr>
        <p:spPr>
          <a:xfrm>
            <a:off x="274320" y="1005840"/>
            <a:ext cx="3840480" cy="82296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1" name="T101"/>
          <p:cNvSpPr/>
          <p:nvPr/>
        </p:nvSpPr>
        <p:spPr>
          <a:xfrm>
            <a:off x="411480" y="10515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IClassFixture&lt;T&gt;</a:t>
            </a:r>
          </a:p>
        </p:txBody>
      </p:sp>
      <p:sp>
        <p:nvSpPr>
          <p:cNvPr id="102" name="T102"/>
          <p:cNvSpPr/>
          <p:nvPr/>
        </p:nvSpPr>
        <p:spPr>
          <a:xfrm>
            <a:off x="411480" y="1280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Comparte una instancia de T entre todos los tests de una clase. El fixture se crea antes del primer test y se destruye después del último. Ideal para recursos costosos (BD, config).</a:t>
            </a:r>
          </a:p>
        </p:txBody>
      </p:sp>
      <p:sp>
        <p:nvSpPr>
          <p:cNvPr id="103" name="C103"/>
          <p:cNvSpPr/>
          <p:nvPr/>
        </p:nvSpPr>
        <p:spPr>
          <a:xfrm>
            <a:off x="274320" y="1920240"/>
            <a:ext cx="3840480" cy="8229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4" name="T104"/>
          <p:cNvSpPr/>
          <p:nvPr/>
        </p:nvSpPr>
        <p:spPr>
          <a:xfrm>
            <a:off x="411480" y="19659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ICollectionFixture&lt;T&gt;</a:t>
            </a:r>
          </a:p>
        </p:txBody>
      </p:sp>
      <p:sp>
        <p:nvSpPr>
          <p:cNvPr id="105" name="T105"/>
          <p:cNvSpPr/>
          <p:nvPr/>
        </p:nvSpPr>
        <p:spPr>
          <a:xfrm>
            <a:off x="411480" y="21945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Igual que IClassFixture pero compartido entre todas las clases de una [Collection]. Permite compartir recursos entre múltiples clases de test sin duplicar inicialización.</a:t>
            </a:r>
          </a:p>
        </p:txBody>
      </p:sp>
      <p:sp>
        <p:nvSpPr>
          <p:cNvPr id="106" name="C106"/>
          <p:cNvSpPr/>
          <p:nvPr/>
        </p:nvSpPr>
        <p:spPr>
          <a:xfrm>
            <a:off x="274320" y="2834640"/>
            <a:ext cx="3840480" cy="8229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7" name="T107"/>
          <p:cNvSpPr/>
          <p:nvPr/>
        </p:nvSpPr>
        <p:spPr>
          <a:xfrm>
            <a:off x="411480" y="2880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IAsyncLifetime</a:t>
            </a:r>
          </a:p>
        </p:txBody>
      </p:sp>
      <p:sp>
        <p:nvSpPr>
          <p:cNvPr id="108" name="T108"/>
          <p:cNvSpPr/>
          <p:nvPr/>
        </p:nvSpPr>
        <p:spPr>
          <a:xfrm>
            <a:off x="411480" y="31089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Interfaz que un test o fixture implementa para setup/teardown asíncrono. Define InitializeAsync() y DisposeAsync(). Reemplaza al constructor cuando se necesita await.</a:t>
            </a:r>
          </a:p>
        </p:txBody>
      </p:sp>
      <p:sp>
        <p:nvSpPr>
          <p:cNvPr id="109" name="C109"/>
          <p:cNvSpPr/>
          <p:nvPr/>
        </p:nvSpPr>
        <p:spPr>
          <a:xfrm>
            <a:off x="274320" y="3749040"/>
            <a:ext cx="3840480" cy="8229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0" name="T110"/>
          <p:cNvSpPr/>
          <p:nvPr/>
        </p:nvSpPr>
        <p:spPr>
          <a:xfrm>
            <a:off x="411480" y="3794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>
                <a:solidFill>
                  <a:srgbClr val="0D47A1"/>
                </a:solidFill>
                <a:latin typeface="Calibri" pitchFamily="34" charset="0"/>
              </a:rPr>
              <a:t>IDisposable (teardown)</a:t>
            </a:r>
          </a:p>
        </p:txBody>
      </p:sp>
      <p:sp>
        <p:nvSpPr>
          <p:cNvPr id="111" name="T111"/>
          <p:cNvSpPr/>
          <p:nvPr/>
        </p:nvSpPr>
        <p:spPr>
          <a:xfrm>
            <a:off x="411480" y="40233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ES" sz="850">
                <a:solidFill>
                  <a:srgbClr val="424242"/>
                </a:solidFill>
                <a:latin typeface="Calibri Light" pitchFamily="34" charset="0"/>
              </a:rPr>
              <a:t>xUnit llama a Dispose() después de cada test si la clase implementa IDisposable. Útil para limpiar recursos: cerrar conexiones, eliminar archivos temporales, restaurar estado.</a:t>
            </a:r>
          </a:p>
        </p:txBody>
      </p:sp>
      <p:sp>
        <p:nvSpPr>
          <p:cNvPr id="30" name="S30"/>
          <p:cNvSpPr/>
          <p:nvPr/>
        </p:nvSpPr>
        <p:spPr>
          <a:xfrm>
            <a:off x="4389120" y="1005840"/>
            <a:ext cx="4480560" cy="374904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31"/>
          <p:cNvSpPr/>
          <p:nvPr/>
        </p:nvSpPr>
        <p:spPr>
          <a:xfrm>
            <a:off x="4389120" y="1005840"/>
            <a:ext cx="4480560" cy="274320"/>
          </a:xfrm>
          <a:prstGeom prst="rect">
            <a:avLst/>
          </a:prstGeom>
          <a:solidFill>
            <a:srgbClr val="1520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32"/>
          <p:cNvSpPr/>
          <p:nvPr/>
        </p:nvSpPr>
        <p:spPr>
          <a:xfrm>
            <a:off x="4526280" y="1005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E2E8F0"/>
                </a:solidFill>
                <a:latin typeface="Consolas" pitchFamily="34" charset="0"/>
              </a:rPr>
              <a:t>FixtureTests.cs</a:t>
            </a:r>
          </a:p>
        </p:txBody>
      </p:sp>
      <p:sp>
        <p:nvSpPr>
          <p:cNvPr id="33" name="T33"/>
          <p:cNvSpPr/>
          <p:nvPr/>
        </p:nvSpPr>
        <p:spPr>
          <a:xfrm>
            <a:off x="4526280" y="1325880"/>
            <a:ext cx="4206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Fixture con IAsyncLifetime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 class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 DbFixture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: 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IAsyncLifetime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 AppDbContext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Db {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get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; }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 async Task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 InitializeAsync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() 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Db =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new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 AppDbContext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(opts);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await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Db.Database.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EnsureCreatedAsync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}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 async Task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 DisposeAsync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()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=&gt;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await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Db.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DisposeAsync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}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4748B"/>
                </a:solidFill>
                <a:latin typeface="Consolas" pitchFamily="34" charset="0"/>
              </a:rPr>
              <a:t>// Test con IClassFixture + IDisposable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 class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 ProductoTests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: 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IClassFixture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&lt;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DbFixture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&gt;, 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IDisposable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readonly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 DbFixture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_f;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 ProductoTests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DbFixture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f) =&gt; _f = f;</a:t>
            </a:r>
          </a:p>
          <a:p>
            <a:pPr marL="0" indent="0">
              <a:lnSpc>
                <a:spcPct val="108000"/>
              </a:lnSpc>
              <a:buNone/>
            </a:pPr>
            <a:endParaRPr lang="en-US" sz="750"/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[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Fact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]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 async Task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 Crear_OK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() {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_f.Db.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Add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new</a:t>
            </a: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 Producto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());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await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_f.Db.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SaveChangesAsync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60A5FA"/>
                </a:solidFill>
                <a:latin typeface="Consolas" pitchFamily="34" charset="0"/>
              </a:rPr>
              <a:t>    Assert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Equal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(1, _f.Db.Productos.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Count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());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}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</a:t>
            </a:r>
            <a:r>
              <a:rPr lang="en-US" sz="750">
                <a:solidFill>
                  <a:srgbClr val="C084FC"/>
                </a:solidFill>
                <a:latin typeface="Consolas" pitchFamily="34" charset="0"/>
              </a:rPr>
              <a:t>public void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 Dispose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() =&gt;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    _f.Db.Productos.</a:t>
            </a:r>
            <a:r>
              <a:rPr lang="en-US" sz="750">
                <a:solidFill>
                  <a:srgbClr val="FBBF24"/>
                </a:solidFill>
                <a:latin typeface="Consolas" pitchFamily="34" charset="0"/>
              </a:rPr>
              <a:t>RemoveRange</a:t>
            </a: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(_f.Db.Productos);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750">
                <a:solidFill>
                  <a:srgbClr val="E2E8F0"/>
                </a:solidFill>
                <a:latin typeface="Consolas" pitchFamily="34" charset="0"/>
              </a:rPr>
              <a:t>}</a:t>
            </a:r>
          </a:p>
        </p:txBody>
      </p:sp>
      <p:sp>
        <p:nvSpPr>
          <p:cNvPr id="90" name="S9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1" name="T91"/>
          <p:cNvSpPr/>
          <p:nvPr/>
        </p:nvSpPr>
        <p:spPr>
          <a:xfrm>
            <a:off x="54864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>
                <a:solidFill>
                  <a:srgbClr val="FFFFFF"/>
                </a:solidFill>
                <a:latin typeface="Calibri Light" pitchFamily="34" charset="0"/>
              </a:rPr>
              <a:t>.NET Core 8.0 — Calidad y Pruebas: Referencia de Atributos xUnit (3/3)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9242</TotalTime>
  <Words>18706</Words>
  <Application>Microsoft Office PowerPoint</Application>
  <PresentationFormat>Presentación en pantalla (16:9)</PresentationFormat>
  <Paragraphs>3100</Paragraphs>
  <Slides>81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81</vt:i4>
      </vt:variant>
    </vt:vector>
  </HeadingPairs>
  <TitlesOfParts>
    <vt:vector size="86" baseType="lpstr">
      <vt:lpstr>Arial</vt:lpstr>
      <vt:lpstr>Calibri</vt:lpstr>
      <vt:lpstr>Calibri Light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Manuel  Alonso</dc:creator>
  <cp:lastModifiedBy>Jose Manuel  Alonso</cp:lastModifiedBy>
  <cp:revision>20</cp:revision>
  <dcterms:created xsi:type="dcterms:W3CDTF">2026-06-08T14:26:28Z</dcterms:created>
  <dcterms:modified xsi:type="dcterms:W3CDTF">2026-06-16T10:05:37Z</dcterms:modified>
</cp:coreProperties>
</file>